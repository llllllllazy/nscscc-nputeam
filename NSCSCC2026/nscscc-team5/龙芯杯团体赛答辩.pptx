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496" r:id="rId3"/>
    <p:sldId id="472" r:id="rId4"/>
    <p:sldId id="495" r:id="rId5"/>
    <p:sldId id="270" r:id="rId6"/>
    <p:sldId id="271" r:id="rId7"/>
    <p:sldId id="265" r:id="rId8"/>
    <p:sldId id="268" r:id="rId9"/>
    <p:sldId id="480" r:id="rId10"/>
    <p:sldId id="491" r:id="rId11"/>
    <p:sldId id="488" r:id="rId12"/>
    <p:sldId id="493" r:id="rId13"/>
    <p:sldId id="470" r:id="rId14"/>
    <p:sldId id="259" r:id="rId15"/>
    <p:sldId id="262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B59"/>
    <a:srgbClr val="EAEEF2"/>
    <a:srgbClr val="034A9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648" autoAdjust="0"/>
  </p:normalViewPr>
  <p:slideViewPr>
    <p:cSldViewPr snapToGrid="0">
      <p:cViewPr varScale="1">
        <p:scale>
          <a:sx n="82" d="100"/>
          <a:sy n="82" d="100"/>
        </p:scale>
        <p:origin x="6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A9A60-BDAA-4DF9-83EF-B34E0EBAC8CD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C5E803-7683-4D25-8B8B-92FD45B4C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B3534-C864-C9B4-E738-25E649D1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32B942-FF5D-DEB5-1F95-D094000D1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9A96BF-EB20-650A-43AC-79BC5525B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3AF077-1B0C-7666-E630-F5B8F04B0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89247-7E6D-40B4-9848-6A52CBD56A0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391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89247-7E6D-40B4-9848-6A52CBD56A0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445F1-F23D-0F0E-1FA4-69EE3E414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93D718-0D1D-1E8D-6DFE-DA8F5CCB5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1FD3A0-0332-7379-2275-7E8263069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44759E-A279-FB72-3622-63016F6F7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89247-7E6D-40B4-9848-6A52CBD56A0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982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5E803-7683-4D25-8B8B-92FD45B4C92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699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5E803-7683-4D25-8B8B-92FD45B4C92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819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5E803-7683-4D25-8B8B-92FD45B4C92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861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5E803-7683-4D25-8B8B-92FD45B4C92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513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5C3C0-498B-E13B-EC00-E9BA4AD2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0041A5-6433-4F5E-8001-896F58040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2093AD-A072-4F82-B96D-73918D7BA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取指或访存触发的TLB/页保护异常，并不会立即响应，而是将异常状态作为标签随指令流推进到WB级；在指令精确退休时，硬件自动把异常现场（EPC/BADV/ESTAT等）原子地写入CSR，并根据异常类型将PC重定向到TLBRENTRY或EENTRY入口，同时冲刷流水线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这种“延迟提交、统一现场”的设计，让操作系统始终在指令边界看到精确的异常状态，而TLBR异常时硬件自动切换CRMD.DA=1,PG=0，进一步让Refill处理程序无需担心递归缺页。</a:t>
            </a:r>
          </a:p>
          <a:p>
            <a:br>
              <a:rPr lang="zh-CN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7EA5A2-5C77-EC8D-96C8-F1F0541A3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89247-7E6D-40B4-9848-6A52CBD56A0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032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1D57D-060E-1A4F-B058-971687BAC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3C2F46-AC56-EA39-4FE7-01B6069CA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750030-BF68-1FCC-1928-2F48FD7FF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7A5D3F-5731-0099-46EC-FD1A6F4B8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89247-7E6D-40B4-9848-6A52CBD56A0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206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5E803-7683-4D25-8B8B-92FD45B4C92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977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0B88B-D8CB-58CA-2BCE-10FB39EC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37B1FF-3166-95BE-32BD-D1DD860CF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ED8448-B48F-349E-4248-D85AC7073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F181A9-947E-7FB2-7C99-C88F59B05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89247-7E6D-40B4-9848-6A52CBD56A0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118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89247-7E6D-40B4-9848-6A52CBD56A0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rgbClr val="034A90"/>
            </a:gs>
            <a:gs pos="73000">
              <a:schemeClr val="accent1">
                <a:lumMod val="75000"/>
              </a:schemeClr>
            </a:gs>
            <a:gs pos="100000">
              <a:schemeClr val="accent1">
                <a:lumMod val="50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8CAAA-8B1D-4C03-AA32-B76AA9D4855B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F573-79EE-44B5-90D4-B6FF57FBCF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8CAAA-8B1D-4C03-AA32-B76AA9D4855B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F573-79EE-44B5-90D4-B6FF57FBCF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8CAAA-8B1D-4C03-AA32-B76AA9D4855B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F573-79EE-44B5-90D4-B6FF57FBCF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8CAAA-8B1D-4C03-AA32-B76AA9D4855B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F573-79EE-44B5-90D4-B6FF57FBCF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8CAAA-8B1D-4C03-AA32-B76AA9D4855B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F573-79EE-44B5-90D4-B6FF57FBCF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8CAAA-8B1D-4C03-AA32-B76AA9D4855B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F573-79EE-44B5-90D4-B6FF57FBCF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8CAAA-8B1D-4C03-AA32-B76AA9D4855B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F573-79EE-44B5-90D4-B6FF57FBCF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8CAAA-8B1D-4C03-AA32-B76AA9D4855B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F573-79EE-44B5-90D4-B6FF57FBCFD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8CAAA-8B1D-4C03-AA32-B76AA9D4855B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F573-79EE-44B5-90D4-B6FF57FBCF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8CAAA-8B1D-4C03-AA32-B76AA9D4855B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F573-79EE-44B5-90D4-B6FF57FBCF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443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8CAAA-8B1D-4C03-AA32-B76AA9D4855B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7F573-79EE-44B5-90D4-B6FF57FBCF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video" Target="../media/media1.mp4"/><Relationship Id="rId7" Type="http://schemas.openxmlformats.org/officeDocument/2006/relationships/image" Target="../media/image1.png"/><Relationship Id="rId2" Type="http://schemas.microsoft.com/office/2007/relationships/media" Target="../media/media1.mp4"/><Relationship Id="rId1" Type="http://schemas.openxmlformats.org/officeDocument/2006/relationships/tags" Target="../tags/tag16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2e599000a3fa8b6c2475c2de7587a8"/>
          <p:cNvPicPr>
            <a:picLocks noChangeAspect="1"/>
          </p:cNvPicPr>
          <p:nvPr/>
        </p:nvPicPr>
        <p:blipFill>
          <a:blip r:embed="rId3" cstate="hqprint"/>
          <a:srcRect/>
          <a:stretch>
            <a:fillRect/>
          </a:stretch>
        </p:blipFill>
        <p:spPr>
          <a:xfrm>
            <a:off x="0" y="1476375"/>
            <a:ext cx="12192000" cy="375158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1466215"/>
            <a:ext cx="12192000" cy="3765550"/>
          </a:xfrm>
          <a:prstGeom prst="rect">
            <a:avLst/>
          </a:prstGeom>
          <a:solidFill>
            <a:srgbClr val="034A90">
              <a:alpha val="7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itle 25"/>
          <p:cNvSpPr txBox="1"/>
          <p:nvPr/>
        </p:nvSpPr>
        <p:spPr>
          <a:xfrm>
            <a:off x="838200" y="2585200"/>
            <a:ext cx="10515600" cy="93824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团体赛决赛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作品汇报展示</a:t>
            </a:r>
          </a:p>
        </p:txBody>
      </p:sp>
      <p:sp>
        <p:nvSpPr>
          <p:cNvPr id="9" name="Text Placeholder 27"/>
          <p:cNvSpPr txBox="1"/>
          <p:nvPr/>
        </p:nvSpPr>
        <p:spPr>
          <a:xfrm>
            <a:off x="3548697" y="5450671"/>
            <a:ext cx="5253355" cy="7454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参赛队伍：西北工业大学</a:t>
            </a:r>
            <a:r>
              <a:rPr lang="en-US" altLang="zh-CN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</a:t>
            </a:r>
          </a:p>
          <a:p>
            <a:pPr algn="ctr"/>
            <a:r>
              <a:rPr lang="zh-CN" altLang="en-US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参赛成员：王浩企，李捷，陆彤，王振名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-14605" y="5626735"/>
            <a:ext cx="4562475" cy="0"/>
          </a:xfrm>
          <a:prstGeom prst="line">
            <a:avLst/>
          </a:prstGeom>
          <a:ln w="38100">
            <a:solidFill>
              <a:srgbClr val="034A9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7752080" y="5626735"/>
            <a:ext cx="4562475" cy="0"/>
          </a:xfrm>
          <a:prstGeom prst="line">
            <a:avLst/>
          </a:prstGeom>
          <a:ln w="38100">
            <a:solidFill>
              <a:srgbClr val="034A9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44265" y="322580"/>
            <a:ext cx="4562475" cy="8451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75375" y="3816350"/>
            <a:ext cx="6017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——</a:t>
            </a:r>
            <a:r>
              <a:rPr lang="zh-CN" altLang="en-US">
                <a:solidFill>
                  <a:schemeClr val="bg1"/>
                </a:solidFill>
              </a:rPr>
              <a:t>第十届</a:t>
            </a:r>
            <a:r>
              <a:rPr lang="en-US" altLang="zh-CN">
                <a:solidFill>
                  <a:schemeClr val="bg1"/>
                </a:solidFill>
              </a:rPr>
              <a:t>“</a:t>
            </a:r>
            <a:r>
              <a:rPr lang="zh-CN" altLang="en-US">
                <a:solidFill>
                  <a:schemeClr val="bg1"/>
                </a:solidFill>
              </a:rPr>
              <a:t>龙芯杯</a:t>
            </a:r>
            <a:r>
              <a:rPr lang="en-US" altLang="zh-CN">
                <a:solidFill>
                  <a:schemeClr val="bg1"/>
                </a:solidFill>
              </a:rPr>
              <a:t>”</a:t>
            </a:r>
            <a:r>
              <a:rPr lang="zh-CN" altLang="en-US">
                <a:solidFill>
                  <a:schemeClr val="bg1"/>
                </a:solidFill>
              </a:rPr>
              <a:t>全国大学生计算机系统能力培养大赛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D2349-1E30-D8F6-5553-A16BCDC8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6EC1A723-090A-43B6-F8D2-546D9FC32A9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597104" y="6047735"/>
            <a:ext cx="997792" cy="73599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C88ABE5-CFD4-C993-486D-AE4BCC02309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97766B7-7191-F2BD-EA0B-FA66621AB717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25994CC-60A6-448B-AA01-839E0A23886E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A5440FD-E07F-58A3-E1C5-593E5B462268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6" name="TextBox 19">
            <a:extLst>
              <a:ext uri="{FF2B5EF4-FFF2-40B4-BE49-F238E27FC236}">
                <a16:creationId xmlns:a16="http://schemas.microsoft.com/office/drawing/2014/main" id="{E8BEFD9B-0043-DF1D-9408-E6737AC26AFD}"/>
              </a:ext>
            </a:extLst>
          </p:cNvPr>
          <p:cNvSpPr txBox="1"/>
          <p:nvPr/>
        </p:nvSpPr>
        <p:spPr>
          <a:xfrm>
            <a:off x="1393831" y="223657"/>
            <a:ext cx="2071888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zh-CN" altLang="en-US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流水线架构</a:t>
            </a:r>
            <a:endParaRPr lang="en-US" sz="24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C528F4F1-E0DD-53BC-F519-71C01EE59B99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8" name="梯形 7">
            <a:extLst>
              <a:ext uri="{FF2B5EF4-FFF2-40B4-BE49-F238E27FC236}">
                <a16:creationId xmlns:a16="http://schemas.microsoft.com/office/drawing/2014/main" id="{0F4C89B2-3B49-8EEA-4DA0-B438CB338788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79BF2DA-EA7F-7278-A80C-AF3DF7443E08}"/>
              </a:ext>
            </a:extLst>
          </p:cNvPr>
          <p:cNvSpPr txBox="1"/>
          <p:nvPr/>
        </p:nvSpPr>
        <p:spPr>
          <a:xfrm>
            <a:off x="1488707" y="2823688"/>
            <a:ext cx="87525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本设计是一款七级顺序单发射处理器</a:t>
            </a:r>
            <a:r>
              <a:rPr lang="zh-CN" altLang="en-US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前端采用 </a:t>
            </a:r>
            <a:r>
              <a:rPr lang="en-US" altLang="zh-CN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项指令队列</a:t>
            </a:r>
            <a:r>
              <a:rPr lang="zh-CN" altLang="zh-CN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IFQ</a:t>
            </a:r>
            <a:r>
              <a:rPr lang="zh-CN" altLang="en-US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实现非阻塞取指机制</a:t>
            </a:r>
            <a:r>
              <a:rPr lang="zh-CN" altLang="zh-CN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，后端采用 Load Queue、Store Buffer 和四项顺序退休队列 WBQ 解耦访存与提交。</a:t>
            </a:r>
            <a:endParaRPr lang="en-US" altLang="zh-CN" sz="1920" b="1" dirty="0">
              <a:solidFill>
                <a:srgbClr val="17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允许在老 load 等待期间有限地提前完成，但所有架构状态均从 WBQ 队首顺序更新，从而保证精确异常。</a:t>
            </a:r>
            <a:endParaRPr lang="zh-CN" altLang="en-US" sz="1920" b="1" dirty="0">
              <a:solidFill>
                <a:srgbClr val="17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5929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597104" y="6047735"/>
            <a:ext cx="997792" cy="73599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77DC806-CCD8-CAB9-540C-3B7BA360896F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6496ED1-E744-69AD-C4F7-31DE3DE51AA2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1FE445-7EAB-D3D1-A873-6E1E224EE68B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6" name="TextBox 19">
            <a:extLst>
              <a:ext uri="{FF2B5EF4-FFF2-40B4-BE49-F238E27FC236}">
                <a16:creationId xmlns:a16="http://schemas.microsoft.com/office/drawing/2014/main" id="{2C9F34F7-AC1C-AEA4-74A4-85D73E52F594}"/>
              </a:ext>
            </a:extLst>
          </p:cNvPr>
          <p:cNvSpPr txBox="1"/>
          <p:nvPr/>
        </p:nvSpPr>
        <p:spPr>
          <a:xfrm>
            <a:off x="1398063" y="223657"/>
            <a:ext cx="2071888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zh-CN" altLang="en-US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流水线架构</a:t>
            </a:r>
            <a:endParaRPr lang="en-US" sz="24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E1D97AC2-A7C6-A180-CF4E-B58F71D0F544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8" name="梯形 7">
            <a:extLst>
              <a:ext uri="{FF2B5EF4-FFF2-40B4-BE49-F238E27FC236}">
                <a16:creationId xmlns:a16="http://schemas.microsoft.com/office/drawing/2014/main" id="{971B705A-9270-8E25-4D29-0138900A4AC4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6009558-DEE6-1964-43C4-CD5B9982A600}"/>
              </a:ext>
            </a:extLst>
          </p:cNvPr>
          <p:cNvGrpSpPr/>
          <p:nvPr/>
        </p:nvGrpSpPr>
        <p:grpSpPr>
          <a:xfrm>
            <a:off x="319588" y="789327"/>
            <a:ext cx="11640523" cy="6051307"/>
            <a:chOff x="359344" y="420033"/>
            <a:chExt cx="11640523" cy="605130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B34FC56-9E8F-1CAF-7F10-81DAE1A23E72}"/>
                </a:ext>
              </a:extLst>
            </p:cNvPr>
            <p:cNvSpPr/>
            <p:nvPr/>
          </p:nvSpPr>
          <p:spPr>
            <a:xfrm>
              <a:off x="359344" y="610535"/>
              <a:ext cx="2593541" cy="1985883"/>
            </a:xfrm>
            <a:prstGeom prst="rect">
              <a:avLst/>
            </a:prstGeom>
            <a:solidFill>
              <a:srgbClr val="EAEEF2"/>
            </a:solidFill>
            <a:ln w="38100">
              <a:solidFill>
                <a:srgbClr val="000000"/>
              </a:solidFill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1280" dirty="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3FEF2771-140B-FE19-57F2-AECEE5EA5F32}"/>
                </a:ext>
              </a:extLst>
            </p:cNvPr>
            <p:cNvSpPr/>
            <p:nvPr/>
          </p:nvSpPr>
          <p:spPr>
            <a:xfrm>
              <a:off x="1258507" y="706193"/>
              <a:ext cx="784897" cy="24120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FQ</a:t>
              </a:r>
              <a:endParaRPr lang="en-US" sz="1493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4DD6484-ACC6-A246-E5C8-3ACF1FA94C30}"/>
                </a:ext>
              </a:extLst>
            </p:cNvPr>
            <p:cNvSpPr/>
            <p:nvPr/>
          </p:nvSpPr>
          <p:spPr>
            <a:xfrm>
              <a:off x="580377" y="1794931"/>
              <a:ext cx="1874086" cy="516656"/>
            </a:xfrm>
            <a:prstGeom prst="rect">
              <a:avLst/>
            </a:prstGeom>
            <a:solidFill>
              <a:srgbClr val="F6F8F9">
                <a:lumMod val="50000"/>
              </a:srgbClr>
            </a:solidFill>
            <a:ln>
              <a:solidFill>
                <a:srgbClr val="638495"/>
              </a:solidFill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1493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DA1BE2A-CAA6-7FDC-0D02-164E1DB3BC0B}"/>
                </a:ext>
              </a:extLst>
            </p:cNvPr>
            <p:cNvSpPr txBox="1"/>
            <p:nvPr/>
          </p:nvSpPr>
          <p:spPr>
            <a:xfrm>
              <a:off x="886327" y="1770862"/>
              <a:ext cx="1441253" cy="3220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defTabSz="487650">
                <a:defRPr/>
              </a:pPr>
              <a:r>
                <a:rPr lang="en-US" altLang="zh-CN" sz="1493" b="1" i="1" dirty="0" err="1">
                  <a:solidFill>
                    <a:prstClr val="white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Branch_pattern</a:t>
              </a:r>
              <a:endParaRPr lang="zh-CN" altLang="en-US" sz="1920" b="1" i="1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788F8CE-441A-162C-16D1-F1C773DBF0FE}"/>
                </a:ext>
              </a:extLst>
            </p:cNvPr>
            <p:cNvSpPr/>
            <p:nvPr/>
          </p:nvSpPr>
          <p:spPr>
            <a:xfrm>
              <a:off x="471330" y="1006898"/>
              <a:ext cx="1286719" cy="620674"/>
            </a:xfrm>
            <a:prstGeom prst="rect">
              <a:avLst/>
            </a:prstGeom>
            <a:solidFill>
              <a:srgbClr val="F6F8F9">
                <a:lumMod val="50000"/>
              </a:srgbClr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1707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AFE3EB4-4F68-BBF2-095F-BB46FE7F2D8D}"/>
                </a:ext>
              </a:extLst>
            </p:cNvPr>
            <p:cNvSpPr txBox="1"/>
            <p:nvPr/>
          </p:nvSpPr>
          <p:spPr>
            <a:xfrm>
              <a:off x="496600" y="1086377"/>
              <a:ext cx="1236178" cy="486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defTabSz="487650">
                <a:defRPr/>
              </a:pPr>
              <a:r>
                <a:rPr lang="en-US" altLang="zh-CN" sz="1280" b="1" dirty="0">
                  <a:solidFill>
                    <a:prstClr val="white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128 </a:t>
              </a:r>
              <a:r>
                <a:rPr lang="zh-CN" altLang="en-US" sz="1280" b="1" dirty="0">
                  <a:solidFill>
                    <a:prstClr val="white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项直接映射</a:t>
              </a:r>
              <a:endParaRPr lang="en-US" altLang="zh-CN" sz="1280" b="1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77D5C52-003C-0A34-19DA-5726ABEC0B11}"/>
                </a:ext>
              </a:extLst>
            </p:cNvPr>
            <p:cNvSpPr txBox="1"/>
            <p:nvPr/>
          </p:nvSpPr>
          <p:spPr>
            <a:xfrm>
              <a:off x="775118" y="1302074"/>
              <a:ext cx="781808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defTabSz="487650">
                <a:defRPr/>
              </a:pPr>
              <a:r>
                <a:rPr lang="en-US" altLang="zh-CN" sz="1280" b="1" i="1" dirty="0">
                  <a:solidFill>
                    <a:prstClr val="white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BTB</a:t>
              </a:r>
              <a:endParaRPr lang="zh-CN" altLang="en-US" sz="1280" b="1" i="1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FCB8F85-E3EB-A406-3961-552F35096070}"/>
                </a:ext>
              </a:extLst>
            </p:cNvPr>
            <p:cNvSpPr/>
            <p:nvPr/>
          </p:nvSpPr>
          <p:spPr>
            <a:xfrm>
              <a:off x="705349" y="2030273"/>
              <a:ext cx="592554" cy="225145"/>
            </a:xfrm>
            <a:prstGeom prst="rect">
              <a:avLst/>
            </a:prstGeom>
            <a:solidFill>
              <a:srgbClr val="97B9CB"/>
            </a:solidFill>
            <a:ln>
              <a:solidFill>
                <a:srgbClr val="97B9CB"/>
              </a:solidFill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1493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B91580C-6F6F-E2A0-4B70-F82BEDD37C42}"/>
                </a:ext>
              </a:extLst>
            </p:cNvPr>
            <p:cNvSpPr txBox="1"/>
            <p:nvPr/>
          </p:nvSpPr>
          <p:spPr>
            <a:xfrm>
              <a:off x="759902" y="2017801"/>
              <a:ext cx="579590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defTabSz="487650">
                <a:defRPr/>
              </a:pPr>
              <a:r>
                <a:rPr lang="en-US" altLang="zh-CN" sz="1280" b="1" i="1" dirty="0">
                  <a:solidFill>
                    <a:prstClr val="white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BHT</a:t>
              </a:r>
              <a:endParaRPr lang="zh-CN" altLang="en-US" sz="1707" b="1" i="1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EF909CF-F1DC-CA8E-7670-13A5762A6C89}"/>
                </a:ext>
              </a:extLst>
            </p:cNvPr>
            <p:cNvSpPr/>
            <p:nvPr/>
          </p:nvSpPr>
          <p:spPr>
            <a:xfrm>
              <a:off x="1437819" y="2037827"/>
              <a:ext cx="919409" cy="228163"/>
            </a:xfrm>
            <a:prstGeom prst="rect">
              <a:avLst/>
            </a:prstGeom>
            <a:solidFill>
              <a:srgbClr val="97B9CB"/>
            </a:solidFill>
            <a:ln>
              <a:solidFill>
                <a:srgbClr val="97B9CB"/>
              </a:solidFill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1493" dirty="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BD97ED7-FE79-DEC1-4128-FF50DBE75FF0}"/>
                </a:ext>
              </a:extLst>
            </p:cNvPr>
            <p:cNvSpPr txBox="1"/>
            <p:nvPr/>
          </p:nvSpPr>
          <p:spPr>
            <a:xfrm>
              <a:off x="1556926" y="1988990"/>
              <a:ext cx="515477" cy="5520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defTabSz="487650">
                <a:defRPr/>
              </a:pPr>
              <a:r>
                <a:rPr lang="en-US" altLang="zh-CN" sz="1280" b="1" i="1" dirty="0">
                  <a:solidFill>
                    <a:prstClr val="white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PHT</a:t>
              </a:r>
            </a:p>
            <a:p>
              <a:pPr defTabSz="487650">
                <a:defRPr/>
              </a:pPr>
              <a:endParaRPr lang="zh-CN" altLang="en-US" sz="1707" b="1" i="1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27EF1C49-D25D-F27C-6E8F-DFFE58786B85}"/>
                </a:ext>
              </a:extLst>
            </p:cNvPr>
            <p:cNvGrpSpPr/>
            <p:nvPr/>
          </p:nvGrpSpPr>
          <p:grpSpPr>
            <a:xfrm>
              <a:off x="1905353" y="800240"/>
              <a:ext cx="764012" cy="855285"/>
              <a:chOff x="4412905" y="947281"/>
              <a:chExt cx="1206884" cy="1386635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2BF43CE6-A8B9-9F37-72B0-47304133E59A}"/>
                  </a:ext>
                </a:extLst>
              </p:cNvPr>
              <p:cNvGrpSpPr/>
              <p:nvPr/>
            </p:nvGrpSpPr>
            <p:grpSpPr>
              <a:xfrm>
                <a:off x="4412905" y="947281"/>
                <a:ext cx="1147119" cy="1386635"/>
                <a:chOff x="2959679" y="1831506"/>
                <a:chExt cx="630556" cy="3506464"/>
              </a:xfrm>
            </p:grpSpPr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A8741CD3-1E88-2385-17AA-EF3E52C0DAC6}"/>
                    </a:ext>
                  </a:extLst>
                </p:cNvPr>
                <p:cNvSpPr/>
                <p:nvPr/>
              </p:nvSpPr>
              <p:spPr>
                <a:xfrm>
                  <a:off x="2959679" y="1831506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CED3330B-82C8-B6C2-AC07-2B7B4DB0D30D}"/>
                    </a:ext>
                  </a:extLst>
                </p:cNvPr>
                <p:cNvSpPr/>
                <p:nvPr/>
              </p:nvSpPr>
              <p:spPr>
                <a:xfrm>
                  <a:off x="2959679" y="2052962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F8C5472B-A8BF-2015-19EE-43855562E87D}"/>
                    </a:ext>
                  </a:extLst>
                </p:cNvPr>
                <p:cNvSpPr/>
                <p:nvPr/>
              </p:nvSpPr>
              <p:spPr>
                <a:xfrm>
                  <a:off x="2959679" y="2274418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2BB5A474-2D3C-6466-5276-90230BFCCF30}"/>
                    </a:ext>
                  </a:extLst>
                </p:cNvPr>
                <p:cNvSpPr/>
                <p:nvPr/>
              </p:nvSpPr>
              <p:spPr>
                <a:xfrm>
                  <a:off x="2959679" y="2495874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0ADB1761-ED08-D40B-A780-AF1593D741F4}"/>
                    </a:ext>
                  </a:extLst>
                </p:cNvPr>
                <p:cNvSpPr/>
                <p:nvPr/>
              </p:nvSpPr>
              <p:spPr>
                <a:xfrm>
                  <a:off x="2959679" y="2717330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306EED13-7388-7104-CBD3-560872B1C9DF}"/>
                    </a:ext>
                  </a:extLst>
                </p:cNvPr>
                <p:cNvSpPr/>
                <p:nvPr/>
              </p:nvSpPr>
              <p:spPr>
                <a:xfrm>
                  <a:off x="2959679" y="2938786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10B81748-258E-352E-477A-D097B2051178}"/>
                    </a:ext>
                  </a:extLst>
                </p:cNvPr>
                <p:cNvSpPr/>
                <p:nvPr/>
              </p:nvSpPr>
              <p:spPr>
                <a:xfrm>
                  <a:off x="2959679" y="3160242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022C1E6E-F543-892F-AA99-A0D9E03C85E0}"/>
                    </a:ext>
                  </a:extLst>
                </p:cNvPr>
                <p:cNvSpPr/>
                <p:nvPr/>
              </p:nvSpPr>
              <p:spPr>
                <a:xfrm>
                  <a:off x="2959680" y="3381697"/>
                  <a:ext cx="630555" cy="182881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3A2FF17A-03F5-7548-DB3E-13CAF34B54FF}"/>
                    </a:ext>
                  </a:extLst>
                </p:cNvPr>
                <p:cNvSpPr/>
                <p:nvPr/>
              </p:nvSpPr>
              <p:spPr>
                <a:xfrm>
                  <a:off x="2959679" y="3604898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805F8AF1-DD3A-7C46-9A54-2162CF74DD66}"/>
                    </a:ext>
                  </a:extLst>
                </p:cNvPr>
                <p:cNvSpPr/>
                <p:nvPr/>
              </p:nvSpPr>
              <p:spPr>
                <a:xfrm>
                  <a:off x="2959679" y="3826354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94815EDA-5F41-CF12-4876-D9239955A00D}"/>
                    </a:ext>
                  </a:extLst>
                </p:cNvPr>
                <p:cNvSpPr/>
                <p:nvPr/>
              </p:nvSpPr>
              <p:spPr>
                <a:xfrm>
                  <a:off x="2959679" y="4047810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C3D24CE7-7392-3872-B3BF-C058B9010D76}"/>
                    </a:ext>
                  </a:extLst>
                </p:cNvPr>
                <p:cNvSpPr/>
                <p:nvPr/>
              </p:nvSpPr>
              <p:spPr>
                <a:xfrm>
                  <a:off x="2959679" y="4269266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8ABEAE45-B418-5147-D5FF-71E9C66803D1}"/>
                    </a:ext>
                  </a:extLst>
                </p:cNvPr>
                <p:cNvSpPr/>
                <p:nvPr/>
              </p:nvSpPr>
              <p:spPr>
                <a:xfrm>
                  <a:off x="2959679" y="4490722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D8E2B254-EE8B-0DAE-27FD-96EF776F256A}"/>
                    </a:ext>
                  </a:extLst>
                </p:cNvPr>
                <p:cNvSpPr/>
                <p:nvPr/>
              </p:nvSpPr>
              <p:spPr>
                <a:xfrm>
                  <a:off x="2959679" y="4712178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6D38FE79-2B9E-9130-C1E7-CAA705A53A98}"/>
                    </a:ext>
                  </a:extLst>
                </p:cNvPr>
                <p:cNvSpPr/>
                <p:nvPr/>
              </p:nvSpPr>
              <p:spPr>
                <a:xfrm>
                  <a:off x="2959679" y="4933634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8B0C8414-3418-F4EC-5446-6F0E97FF8746}"/>
                    </a:ext>
                  </a:extLst>
                </p:cNvPr>
                <p:cNvSpPr/>
                <p:nvPr/>
              </p:nvSpPr>
              <p:spPr>
                <a:xfrm>
                  <a:off x="2959679" y="5155090"/>
                  <a:ext cx="630555" cy="182880"/>
                </a:xfrm>
                <a:prstGeom prst="rect">
                  <a:avLst/>
                </a:prstGeom>
                <a:solidFill>
                  <a:srgbClr val="94ACBC">
                    <a:lumMod val="60000"/>
                    <a:lumOff val="40000"/>
                  </a:srgbClr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533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02BC722-FDEE-664E-CF0D-29517E22CECF}"/>
                  </a:ext>
                </a:extLst>
              </p:cNvPr>
              <p:cNvSpPr txBox="1"/>
              <p:nvPr/>
            </p:nvSpPr>
            <p:spPr>
              <a:xfrm>
                <a:off x="4539773" y="1232653"/>
                <a:ext cx="1080016" cy="1001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defTabSz="487650">
                  <a:defRPr/>
                </a:pPr>
                <a:r>
                  <a:rPr lang="en-US" altLang="zh-CN" sz="1493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16</a:t>
                </a:r>
                <a:r>
                  <a:rPr lang="zh-CN" altLang="en-US" sz="1493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项</a:t>
                </a:r>
                <a:endParaRPr lang="en-US" altLang="zh-CN" sz="1493" b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  <a:p>
                <a:pPr defTabSz="487650">
                  <a:defRPr/>
                </a:pPr>
                <a:r>
                  <a:rPr lang="en-US" altLang="zh-CN" sz="192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RAS</a:t>
                </a:r>
                <a:endParaRPr lang="zh-CN" altLang="en-US" sz="1707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DCB6A3D8-3467-AF43-B1FF-AFC3CA497D3B}"/>
                </a:ext>
              </a:extLst>
            </p:cNvPr>
            <p:cNvSpPr/>
            <p:nvPr/>
          </p:nvSpPr>
          <p:spPr>
            <a:xfrm>
              <a:off x="1393844" y="2341366"/>
              <a:ext cx="784897" cy="24120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预测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Shape 29">
              <a:extLst>
                <a:ext uri="{FF2B5EF4-FFF2-40B4-BE49-F238E27FC236}">
                  <a16:creationId xmlns:a16="http://schemas.microsoft.com/office/drawing/2014/main" id="{7CB50C2D-E0C4-593E-DD81-6FA2400437DB}"/>
                </a:ext>
              </a:extLst>
            </p:cNvPr>
            <p:cNvSpPr/>
            <p:nvPr/>
          </p:nvSpPr>
          <p:spPr>
            <a:xfrm>
              <a:off x="3134461" y="420033"/>
              <a:ext cx="224673" cy="2075963"/>
            </a:xfrm>
            <a:prstGeom prst="roundRect">
              <a:avLst>
                <a:gd name="adj" fmla="val 4000"/>
              </a:avLst>
            </a:prstGeom>
            <a:solidFill>
              <a:srgbClr val="273B59"/>
            </a:solidFill>
            <a:ln w="19050">
              <a:solidFill>
                <a:srgbClr val="17263E"/>
              </a:solidFill>
              <a:prstDash val="solid"/>
            </a:ln>
          </p:spPr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30AFE153-F58D-FEC7-39F7-CBEBF63856D0}"/>
                </a:ext>
              </a:extLst>
            </p:cNvPr>
            <p:cNvSpPr/>
            <p:nvPr/>
          </p:nvSpPr>
          <p:spPr>
            <a:xfrm>
              <a:off x="3604461" y="608832"/>
              <a:ext cx="849259" cy="1717132"/>
            </a:xfrm>
            <a:prstGeom prst="rect">
              <a:avLst/>
            </a:prstGeom>
            <a:solidFill>
              <a:srgbClr val="EAEEF2"/>
            </a:solidFill>
            <a:ln w="38100">
              <a:solidFill>
                <a:srgbClr val="000000"/>
              </a:solidFill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 dirty="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F02BFA71-0C8A-CF71-829D-B635E0E93E72}"/>
                </a:ext>
              </a:extLst>
            </p:cNvPr>
            <p:cNvSpPr/>
            <p:nvPr/>
          </p:nvSpPr>
          <p:spPr>
            <a:xfrm>
              <a:off x="2616808" y="2660028"/>
              <a:ext cx="1184343" cy="1336578"/>
            </a:xfrm>
            <a:prstGeom prst="rect">
              <a:avLst/>
            </a:prstGeom>
            <a:solidFill>
              <a:srgbClr val="98B4D2"/>
            </a:solidFill>
            <a:ln w="38100">
              <a:noFill/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92" name="Text 10">
              <a:extLst>
                <a:ext uri="{FF2B5EF4-FFF2-40B4-BE49-F238E27FC236}">
                  <a16:creationId xmlns:a16="http://schemas.microsoft.com/office/drawing/2014/main" id="{4ACE6186-4BB6-A68B-D1FA-6F4A14CD5337}"/>
                </a:ext>
              </a:extLst>
            </p:cNvPr>
            <p:cNvSpPr/>
            <p:nvPr/>
          </p:nvSpPr>
          <p:spPr>
            <a:xfrm>
              <a:off x="2938329" y="2724075"/>
              <a:ext cx="661267" cy="20856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TLB</a:t>
              </a:r>
              <a:endParaRPr lang="en-US" sz="1280" dirty="0"/>
            </a:p>
          </p:txBody>
        </p:sp>
        <p:sp>
          <p:nvSpPr>
            <p:cNvPr id="94" name="Shape 29">
              <a:extLst>
                <a:ext uri="{FF2B5EF4-FFF2-40B4-BE49-F238E27FC236}">
                  <a16:creationId xmlns:a16="http://schemas.microsoft.com/office/drawing/2014/main" id="{B152E13C-578A-279F-F229-8C10DD6703EF}"/>
                </a:ext>
              </a:extLst>
            </p:cNvPr>
            <p:cNvSpPr/>
            <p:nvPr/>
          </p:nvSpPr>
          <p:spPr>
            <a:xfrm>
              <a:off x="3237627" y="2902161"/>
              <a:ext cx="78259" cy="984191"/>
            </a:xfrm>
            <a:prstGeom prst="roundRect">
              <a:avLst>
                <a:gd name="adj" fmla="val 4000"/>
              </a:avLst>
            </a:prstGeom>
            <a:solidFill>
              <a:srgbClr val="273B59"/>
            </a:solidFill>
            <a:ln w="19050">
              <a:solidFill>
                <a:srgbClr val="17263E"/>
              </a:solidFill>
              <a:prstDash val="solid"/>
            </a:ln>
          </p:spPr>
        </p:sp>
        <p:cxnSp>
          <p:nvCxnSpPr>
            <p:cNvPr id="96" name="连接符: 肘形 95">
              <a:extLst>
                <a:ext uri="{FF2B5EF4-FFF2-40B4-BE49-F238E27FC236}">
                  <a16:creationId xmlns:a16="http://schemas.microsoft.com/office/drawing/2014/main" id="{02CD7EBC-CAF8-2517-3443-316FE8F6E47D}"/>
                </a:ext>
              </a:extLst>
            </p:cNvPr>
            <p:cNvCxnSpPr>
              <a:cxnSpLocks/>
              <a:stCxn id="49" idx="2"/>
              <a:endCxn id="90" idx="1"/>
            </p:cNvCxnSpPr>
            <p:nvPr/>
          </p:nvCxnSpPr>
          <p:spPr>
            <a:xfrm rot="16200000" flipH="1">
              <a:off x="1828678" y="2540187"/>
              <a:ext cx="745745" cy="830515"/>
            </a:xfrm>
            <a:prstGeom prst="bentConnector2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338A15D1-3D74-8DA3-D877-1957DC4BB3CC}"/>
                </a:ext>
              </a:extLst>
            </p:cNvPr>
            <p:cNvSpPr txBox="1"/>
            <p:nvPr/>
          </p:nvSpPr>
          <p:spPr>
            <a:xfrm rot="16200000">
              <a:off x="2648349" y="2983164"/>
              <a:ext cx="701338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defTabSz="487650">
                <a:defRPr/>
              </a:pPr>
              <a:r>
                <a:rPr lang="en-US" altLang="zh-CN" sz="1280" b="1" i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s0_*_q</a:t>
              </a:r>
              <a:endParaRPr lang="zh-CN" altLang="en-US" sz="1707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3ABFBEEE-A9ED-765D-3016-EEFE240E94BD}"/>
                </a:ext>
              </a:extLst>
            </p:cNvPr>
            <p:cNvSpPr txBox="1"/>
            <p:nvPr/>
          </p:nvSpPr>
          <p:spPr>
            <a:xfrm>
              <a:off x="2669923" y="3570170"/>
              <a:ext cx="661267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defTabSz="487650">
                <a:defRPr/>
              </a:pPr>
              <a:r>
                <a:rPr lang="zh-CN" altLang="en-US" sz="96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查询锁存一拍</a:t>
              </a:r>
              <a:endParaRPr lang="zh-CN" altLang="en-US" sz="128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1" name="连接符: 肘形 100">
              <a:extLst>
                <a:ext uri="{FF2B5EF4-FFF2-40B4-BE49-F238E27FC236}">
                  <a16:creationId xmlns:a16="http://schemas.microsoft.com/office/drawing/2014/main" id="{6F281D01-B095-D4CA-EB8F-89BE375286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4939" y="1458013"/>
              <a:ext cx="659521" cy="2"/>
            </a:xfrm>
            <a:prstGeom prst="bentConnector3">
              <a:avLst>
                <a:gd name="adj1" fmla="val 50000"/>
              </a:avLst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连接符: 肘形 109">
              <a:extLst>
                <a:ext uri="{FF2B5EF4-FFF2-40B4-BE49-F238E27FC236}">
                  <a16:creationId xmlns:a16="http://schemas.microsoft.com/office/drawing/2014/main" id="{6B2AE2E4-D846-A556-1BBD-362BD9B58A3B}"/>
                </a:ext>
              </a:extLst>
            </p:cNvPr>
            <p:cNvCxnSpPr>
              <a:stCxn id="90" idx="3"/>
            </p:cNvCxnSpPr>
            <p:nvPr/>
          </p:nvCxnSpPr>
          <p:spPr>
            <a:xfrm flipV="1">
              <a:off x="3801151" y="2315695"/>
              <a:ext cx="182880" cy="1012622"/>
            </a:xfrm>
            <a:prstGeom prst="bentConnector2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 10">
              <a:extLst>
                <a:ext uri="{FF2B5EF4-FFF2-40B4-BE49-F238E27FC236}">
                  <a16:creationId xmlns:a16="http://schemas.microsoft.com/office/drawing/2014/main" id="{12264D9E-7FD0-38BC-6910-8CFE5670C0A6}"/>
                </a:ext>
              </a:extLst>
            </p:cNvPr>
            <p:cNvSpPr/>
            <p:nvPr/>
          </p:nvSpPr>
          <p:spPr>
            <a:xfrm>
              <a:off x="3717145" y="711985"/>
              <a:ext cx="661267" cy="20856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 lnSpcReduction="10000"/>
            </a:bodyPr>
            <a:lstStyle/>
            <a:p>
              <a:pPr algn="ctr"/>
              <a:r>
                <a:rPr lang="en-US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r>
                <a:rPr lang="en-US" altLang="zh-CN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lang="en-US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Text 10">
              <a:extLst>
                <a:ext uri="{FF2B5EF4-FFF2-40B4-BE49-F238E27FC236}">
                  <a16:creationId xmlns:a16="http://schemas.microsoft.com/office/drawing/2014/main" id="{02A67D12-5C2F-E6B2-F3A7-AE79127BD734}"/>
                </a:ext>
              </a:extLst>
            </p:cNvPr>
            <p:cNvSpPr/>
            <p:nvPr/>
          </p:nvSpPr>
          <p:spPr>
            <a:xfrm>
              <a:off x="3707299" y="1986142"/>
              <a:ext cx="661267" cy="20856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地址翻译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A54595DA-519D-BF2E-7C74-D596591ACD2E}"/>
                </a:ext>
              </a:extLst>
            </p:cNvPr>
            <p:cNvSpPr/>
            <p:nvPr/>
          </p:nvSpPr>
          <p:spPr>
            <a:xfrm>
              <a:off x="5118492" y="608832"/>
              <a:ext cx="1298803" cy="1634489"/>
            </a:xfrm>
            <a:prstGeom prst="rect">
              <a:avLst/>
            </a:prstGeom>
            <a:solidFill>
              <a:srgbClr val="EAEEF2"/>
            </a:solidFill>
            <a:ln w="38100">
              <a:solidFill>
                <a:srgbClr val="000000"/>
              </a:solidFill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 dirty="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20" name="Text 10">
              <a:extLst>
                <a:ext uri="{FF2B5EF4-FFF2-40B4-BE49-F238E27FC236}">
                  <a16:creationId xmlns:a16="http://schemas.microsoft.com/office/drawing/2014/main" id="{A9DF0993-9AC0-9E0B-629B-35FDF13F0DA1}"/>
                </a:ext>
              </a:extLst>
            </p:cNvPr>
            <p:cNvSpPr/>
            <p:nvPr/>
          </p:nvSpPr>
          <p:spPr>
            <a:xfrm>
              <a:off x="5395268" y="720186"/>
              <a:ext cx="693689" cy="3501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r>
                <a:rPr lang="en-US" altLang="zh-CN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lang="en-US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Text 10">
              <a:extLst>
                <a:ext uri="{FF2B5EF4-FFF2-40B4-BE49-F238E27FC236}">
                  <a16:creationId xmlns:a16="http://schemas.microsoft.com/office/drawing/2014/main" id="{F12431B3-3641-EE39-3DB2-233CC356E23D}"/>
                </a:ext>
              </a:extLst>
            </p:cNvPr>
            <p:cNvSpPr/>
            <p:nvPr/>
          </p:nvSpPr>
          <p:spPr>
            <a:xfrm>
              <a:off x="5431886" y="1972887"/>
              <a:ext cx="557256" cy="19852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发射取指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06D25C2A-A2EB-BD24-62D5-D2FD25FCDEA9}"/>
                </a:ext>
              </a:extLst>
            </p:cNvPr>
            <p:cNvCxnSpPr>
              <a:cxnSpLocks/>
              <a:stCxn id="85" idx="3"/>
              <a:endCxn id="118" idx="1"/>
            </p:cNvCxnSpPr>
            <p:nvPr/>
          </p:nvCxnSpPr>
          <p:spPr>
            <a:xfrm flipV="1">
              <a:off x="4453720" y="1426077"/>
              <a:ext cx="664772" cy="41322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7ED46691-E370-233E-4E62-9B3B883B4A03}"/>
                </a:ext>
              </a:extLst>
            </p:cNvPr>
            <p:cNvSpPr/>
            <p:nvPr/>
          </p:nvSpPr>
          <p:spPr>
            <a:xfrm>
              <a:off x="4548039" y="2561308"/>
              <a:ext cx="554003" cy="544270"/>
            </a:xfrm>
            <a:prstGeom prst="rect">
              <a:avLst/>
            </a:prstGeom>
            <a:solidFill>
              <a:srgbClr val="98B4D2"/>
            </a:solidFill>
            <a:ln w="38100">
              <a:noFill/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33" name="Text 10">
              <a:extLst>
                <a:ext uri="{FF2B5EF4-FFF2-40B4-BE49-F238E27FC236}">
                  <a16:creationId xmlns:a16="http://schemas.microsoft.com/office/drawing/2014/main" id="{140AEF8B-F09B-EC4E-CB4E-5FA077023A12}"/>
                </a:ext>
              </a:extLst>
            </p:cNvPr>
            <p:cNvSpPr/>
            <p:nvPr/>
          </p:nvSpPr>
          <p:spPr>
            <a:xfrm>
              <a:off x="4561237" y="2685555"/>
              <a:ext cx="518400" cy="75002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96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后端阻塞</a:t>
              </a:r>
              <a:endParaRPr lang="en-US" altLang="zh-CN" sz="96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96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时寄存</a:t>
              </a:r>
              <a:endParaRPr lang="en-US" altLang="zh-CN" sz="96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sz="96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CD1CA64B-C2FC-6318-E103-4C3AE1B499B9}"/>
                </a:ext>
              </a:extLst>
            </p:cNvPr>
            <p:cNvCxnSpPr>
              <a:cxnSpLocks/>
              <a:endCxn id="131" idx="0"/>
            </p:cNvCxnSpPr>
            <p:nvPr/>
          </p:nvCxnSpPr>
          <p:spPr>
            <a:xfrm>
              <a:off x="4697200" y="1441360"/>
              <a:ext cx="127841" cy="1119947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连接符: 肘形 138">
              <a:extLst>
                <a:ext uri="{FF2B5EF4-FFF2-40B4-BE49-F238E27FC236}">
                  <a16:creationId xmlns:a16="http://schemas.microsoft.com/office/drawing/2014/main" id="{7431AC8E-ED70-4A1C-8484-17FD7219BF6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957032" y="2389951"/>
              <a:ext cx="612941" cy="322923"/>
            </a:xfrm>
            <a:prstGeom prst="bentConnector3">
              <a:avLst>
                <a:gd name="adj1" fmla="val 1088"/>
              </a:avLst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1E328DC3-466A-4228-8640-16D42F69C0D8}"/>
                </a:ext>
              </a:extLst>
            </p:cNvPr>
            <p:cNvSpPr/>
            <p:nvPr/>
          </p:nvSpPr>
          <p:spPr>
            <a:xfrm>
              <a:off x="5066834" y="3499737"/>
              <a:ext cx="1318657" cy="425236"/>
            </a:xfrm>
            <a:prstGeom prst="rect">
              <a:avLst/>
            </a:prstGeom>
            <a:solidFill>
              <a:srgbClr val="F6F8F9">
                <a:lumMod val="50000"/>
              </a:srgbClr>
            </a:solidFill>
            <a:ln>
              <a:solidFill>
                <a:srgbClr val="638495"/>
              </a:solidFill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51" name="Text 10">
              <a:extLst>
                <a:ext uri="{FF2B5EF4-FFF2-40B4-BE49-F238E27FC236}">
                  <a16:creationId xmlns:a16="http://schemas.microsoft.com/office/drawing/2014/main" id="{C6FF8271-46B7-F45D-4787-56919A54FABD}"/>
                </a:ext>
              </a:extLst>
            </p:cNvPr>
            <p:cNvSpPr/>
            <p:nvPr/>
          </p:nvSpPr>
          <p:spPr>
            <a:xfrm>
              <a:off x="5315130" y="3614652"/>
              <a:ext cx="773826" cy="19540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 fontScale="92500" lnSpcReduction="10000"/>
            </a:bodyPr>
            <a:lstStyle/>
            <a:p>
              <a:pPr algn="ctr"/>
              <a:r>
                <a:rPr lang="zh-CN" altLang="en-US" sz="1493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指令类</a:t>
              </a:r>
              <a:r>
                <a:rPr lang="en-US" altLang="zh-CN" sz="1493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sram</a:t>
              </a:r>
              <a:endParaRPr lang="en-US" sz="1493" dirty="0">
                <a:solidFill>
                  <a:schemeClr val="bg1"/>
                </a:solidFill>
              </a:endParaRPr>
            </a:p>
          </p:txBody>
        </p: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74FCECE7-3667-227F-CEA8-3A79CB75DB5E}"/>
                </a:ext>
              </a:extLst>
            </p:cNvPr>
            <p:cNvCxnSpPr>
              <a:cxnSpLocks/>
            </p:cNvCxnSpPr>
            <p:nvPr/>
          </p:nvCxnSpPr>
          <p:spPr>
            <a:xfrm>
              <a:off x="5833127" y="2239301"/>
              <a:ext cx="1129" cy="1253388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433BAFF6-286E-B728-082E-DAB097E2F4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1921" y="2239301"/>
              <a:ext cx="0" cy="1253388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CD5016B0-FA3C-C3B9-1808-E719788543F4}"/>
                </a:ext>
              </a:extLst>
            </p:cNvPr>
            <p:cNvSpPr/>
            <p:nvPr/>
          </p:nvSpPr>
          <p:spPr>
            <a:xfrm>
              <a:off x="5993422" y="2339076"/>
              <a:ext cx="679999" cy="444463"/>
            </a:xfrm>
            <a:prstGeom prst="rect">
              <a:avLst/>
            </a:prstGeom>
            <a:solidFill>
              <a:srgbClr val="98B4D2"/>
            </a:solidFill>
            <a:ln w="38100">
              <a:noFill/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61" name="Text 10">
              <a:extLst>
                <a:ext uri="{FF2B5EF4-FFF2-40B4-BE49-F238E27FC236}">
                  <a16:creationId xmlns:a16="http://schemas.microsoft.com/office/drawing/2014/main" id="{9E8ED23F-7FBB-81A4-C2C1-732DAD1AC014}"/>
                </a:ext>
              </a:extLst>
            </p:cNvPr>
            <p:cNvSpPr/>
            <p:nvPr/>
          </p:nvSpPr>
          <p:spPr>
            <a:xfrm>
              <a:off x="6063894" y="2437661"/>
              <a:ext cx="518400" cy="26536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 lnSpcReduction="10000"/>
            </a:bodyPr>
            <a:lstStyle/>
            <a:p>
              <a:pPr algn="ctr"/>
              <a:r>
                <a:rPr lang="zh-CN" altLang="en-US" sz="96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当拍没握手</a:t>
              </a:r>
              <a:endParaRPr lang="en-US" altLang="zh-CN" sz="96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96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时寄存</a:t>
              </a:r>
              <a:endParaRPr lang="en-US" sz="96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5677E27A-4F38-81EE-A91E-DF1A109963CF}"/>
                </a:ext>
              </a:extLst>
            </p:cNvPr>
            <p:cNvSpPr/>
            <p:nvPr/>
          </p:nvSpPr>
          <p:spPr>
            <a:xfrm>
              <a:off x="6095167" y="2987165"/>
              <a:ext cx="930397" cy="444463"/>
            </a:xfrm>
            <a:prstGeom prst="rect">
              <a:avLst/>
            </a:prstGeom>
            <a:solidFill>
              <a:srgbClr val="927B68"/>
            </a:solidFill>
            <a:ln w="38100">
              <a:noFill/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67" name="Text 10">
              <a:extLst>
                <a:ext uri="{FF2B5EF4-FFF2-40B4-BE49-F238E27FC236}">
                  <a16:creationId xmlns:a16="http://schemas.microsoft.com/office/drawing/2014/main" id="{9C988686-7EBA-9FCA-717B-B1572B1B71D5}"/>
                </a:ext>
              </a:extLst>
            </p:cNvPr>
            <p:cNvSpPr/>
            <p:nvPr/>
          </p:nvSpPr>
          <p:spPr>
            <a:xfrm>
              <a:off x="6208223" y="3073687"/>
              <a:ext cx="724399" cy="36189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96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If_req_fire</a:t>
              </a:r>
              <a:br>
                <a:rPr lang="en-US" altLang="zh-CN" sz="96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96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握手信号</a:t>
              </a:r>
              <a:endParaRPr lang="en-US" sz="96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73" name="连接符: 曲线 172">
              <a:extLst>
                <a:ext uri="{FF2B5EF4-FFF2-40B4-BE49-F238E27FC236}">
                  <a16:creationId xmlns:a16="http://schemas.microsoft.com/office/drawing/2014/main" id="{A4E03558-9BAC-B625-13AF-0B8136FC9EC3}"/>
                </a:ext>
              </a:extLst>
            </p:cNvPr>
            <p:cNvCxnSpPr>
              <a:cxnSpLocks/>
              <a:endCxn id="159" idx="1"/>
            </p:cNvCxnSpPr>
            <p:nvPr/>
          </p:nvCxnSpPr>
          <p:spPr>
            <a:xfrm rot="16200000" flipH="1">
              <a:off x="5780975" y="2348861"/>
              <a:ext cx="264597" cy="160297"/>
            </a:xfrm>
            <a:prstGeom prst="curvedConnector2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7" name="组合 236">
              <a:extLst>
                <a:ext uri="{FF2B5EF4-FFF2-40B4-BE49-F238E27FC236}">
                  <a16:creationId xmlns:a16="http://schemas.microsoft.com/office/drawing/2014/main" id="{ECFD9A2B-756F-6563-F97D-D8ECA1A8A8B5}"/>
                </a:ext>
              </a:extLst>
            </p:cNvPr>
            <p:cNvGrpSpPr/>
            <p:nvPr/>
          </p:nvGrpSpPr>
          <p:grpSpPr>
            <a:xfrm>
              <a:off x="7375458" y="1416726"/>
              <a:ext cx="1802472" cy="2075963"/>
              <a:chOff x="13975223" y="827071"/>
              <a:chExt cx="3379635" cy="3892431"/>
            </a:xfrm>
          </p:grpSpPr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1530DB0C-C396-FB1A-2EF0-51548F421ACE}"/>
                  </a:ext>
                </a:extLst>
              </p:cNvPr>
              <p:cNvSpPr/>
              <p:nvPr/>
            </p:nvSpPr>
            <p:spPr>
              <a:xfrm>
                <a:off x="13975223" y="827071"/>
                <a:ext cx="3272274" cy="3892431"/>
              </a:xfrm>
              <a:prstGeom prst="rect">
                <a:avLst/>
              </a:prstGeom>
              <a:solidFill>
                <a:srgbClr val="5C7885">
                  <a:lumMod val="20000"/>
                  <a:lumOff val="80000"/>
                </a:srgbClr>
              </a:solidFill>
              <a:ln w="38100">
                <a:noFill/>
                <a:prstDash val="dash"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960">
                  <a:solidFill>
                    <a:prstClr val="white"/>
                  </a:solidFill>
                  <a:ea typeface="等线" panose="02010600030101010101" charset="-122"/>
                </a:endParaRPr>
              </a:p>
            </p:txBody>
          </p:sp>
          <p:grpSp>
            <p:nvGrpSpPr>
              <p:cNvPr id="207" name="组合 206">
                <a:extLst>
                  <a:ext uri="{FF2B5EF4-FFF2-40B4-BE49-F238E27FC236}">
                    <a16:creationId xmlns:a16="http://schemas.microsoft.com/office/drawing/2014/main" id="{153BA9AC-6189-9AAE-D2B2-EABB6FCA47A2}"/>
                  </a:ext>
                </a:extLst>
              </p:cNvPr>
              <p:cNvGrpSpPr/>
              <p:nvPr/>
            </p:nvGrpSpPr>
            <p:grpSpPr>
              <a:xfrm>
                <a:off x="14249366" y="1204126"/>
                <a:ext cx="2712535" cy="1370638"/>
                <a:chOff x="2774884" y="3668301"/>
                <a:chExt cx="2449442" cy="2312234"/>
              </a:xfrm>
            </p:grpSpPr>
            <p:sp>
              <p:nvSpPr>
                <p:cNvPr id="208" name="矩形 207">
                  <a:extLst>
                    <a:ext uri="{FF2B5EF4-FFF2-40B4-BE49-F238E27FC236}">
                      <a16:creationId xmlns:a16="http://schemas.microsoft.com/office/drawing/2014/main" id="{383A842B-D57D-48A9-A4BF-06BDFD795E8E}"/>
                    </a:ext>
                  </a:extLst>
                </p:cNvPr>
                <p:cNvSpPr/>
                <p:nvPr/>
              </p:nvSpPr>
              <p:spPr>
                <a:xfrm>
                  <a:off x="2774884" y="3668301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9" name="矩形 208">
                  <a:extLst>
                    <a:ext uri="{FF2B5EF4-FFF2-40B4-BE49-F238E27FC236}">
                      <a16:creationId xmlns:a16="http://schemas.microsoft.com/office/drawing/2014/main" id="{BF932A53-55FE-BF63-3403-604DFAF122D9}"/>
                    </a:ext>
                  </a:extLst>
                </p:cNvPr>
                <p:cNvSpPr/>
                <p:nvPr/>
              </p:nvSpPr>
              <p:spPr>
                <a:xfrm>
                  <a:off x="2774884" y="3963764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0" name="矩形 209">
                  <a:extLst>
                    <a:ext uri="{FF2B5EF4-FFF2-40B4-BE49-F238E27FC236}">
                      <a16:creationId xmlns:a16="http://schemas.microsoft.com/office/drawing/2014/main" id="{65636F09-3A0C-F917-0BEE-964F184577E3}"/>
                    </a:ext>
                  </a:extLst>
                </p:cNvPr>
                <p:cNvSpPr/>
                <p:nvPr/>
              </p:nvSpPr>
              <p:spPr>
                <a:xfrm>
                  <a:off x="2774884" y="4259226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1" name="矩形 210">
                  <a:extLst>
                    <a:ext uri="{FF2B5EF4-FFF2-40B4-BE49-F238E27FC236}">
                      <a16:creationId xmlns:a16="http://schemas.microsoft.com/office/drawing/2014/main" id="{35AFC62D-EF72-AD19-5DC1-627249CE5D17}"/>
                    </a:ext>
                  </a:extLst>
                </p:cNvPr>
                <p:cNvSpPr/>
                <p:nvPr/>
              </p:nvSpPr>
              <p:spPr>
                <a:xfrm>
                  <a:off x="2774884" y="4554689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2" name="矩形 211">
                  <a:extLst>
                    <a:ext uri="{FF2B5EF4-FFF2-40B4-BE49-F238E27FC236}">
                      <a16:creationId xmlns:a16="http://schemas.microsoft.com/office/drawing/2014/main" id="{01399BEE-DF8C-D7C5-D2CF-0BC6F6FDCB2E}"/>
                    </a:ext>
                  </a:extLst>
                </p:cNvPr>
                <p:cNvSpPr/>
                <p:nvPr/>
              </p:nvSpPr>
              <p:spPr>
                <a:xfrm>
                  <a:off x="2774884" y="4850152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3" name="矩形 212">
                  <a:extLst>
                    <a:ext uri="{FF2B5EF4-FFF2-40B4-BE49-F238E27FC236}">
                      <a16:creationId xmlns:a16="http://schemas.microsoft.com/office/drawing/2014/main" id="{24764123-A14D-DBD5-DCD7-6C0BE8E1732E}"/>
                    </a:ext>
                  </a:extLst>
                </p:cNvPr>
                <p:cNvSpPr/>
                <p:nvPr/>
              </p:nvSpPr>
              <p:spPr>
                <a:xfrm>
                  <a:off x="2774884" y="5145614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4" name="矩形 213">
                  <a:extLst>
                    <a:ext uri="{FF2B5EF4-FFF2-40B4-BE49-F238E27FC236}">
                      <a16:creationId xmlns:a16="http://schemas.microsoft.com/office/drawing/2014/main" id="{C244C8D7-F0A0-84AA-FD7F-1C02671D512A}"/>
                    </a:ext>
                  </a:extLst>
                </p:cNvPr>
                <p:cNvSpPr/>
                <p:nvPr/>
              </p:nvSpPr>
              <p:spPr>
                <a:xfrm>
                  <a:off x="2774884" y="5441077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5" name="矩形 214">
                  <a:extLst>
                    <a:ext uri="{FF2B5EF4-FFF2-40B4-BE49-F238E27FC236}">
                      <a16:creationId xmlns:a16="http://schemas.microsoft.com/office/drawing/2014/main" id="{0E77A6E7-6EFF-04B9-082B-FC2CC4A2DFB7}"/>
                    </a:ext>
                  </a:extLst>
                </p:cNvPr>
                <p:cNvSpPr/>
                <p:nvPr/>
              </p:nvSpPr>
              <p:spPr>
                <a:xfrm>
                  <a:off x="2774884" y="5736540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F64ACBF0-5992-06AC-6C28-BFB59C9A5E0A}"/>
                  </a:ext>
                </a:extLst>
              </p:cNvPr>
              <p:cNvSpPr txBox="1"/>
              <p:nvPr/>
            </p:nvSpPr>
            <p:spPr>
              <a:xfrm>
                <a:off x="14027787" y="1190829"/>
                <a:ext cx="3327071" cy="1034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r>
                  <a:rPr lang="en-US" altLang="zh-CN" sz="1493" b="1" i="1" dirty="0">
                    <a:solidFill>
                      <a:schemeClr val="tx2">
                        <a:lumMod val="50000"/>
                      </a:schemeClr>
                    </a:solidFill>
                    <a:highlight>
                      <a:srgbClr val="EAEEF2"/>
                    </a:highlight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8</a:t>
                </a:r>
                <a:r>
                  <a:rPr lang="zh-CN" altLang="en-US" sz="1493" b="1" i="1" dirty="0">
                    <a:solidFill>
                      <a:schemeClr val="tx2">
                        <a:lumMod val="50000"/>
                      </a:schemeClr>
                    </a:solidFill>
                    <a:highlight>
                      <a:srgbClr val="EAEEF2"/>
                    </a:highlight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项</a:t>
                </a:r>
                <a:br>
                  <a:rPr lang="en-US" altLang="zh-CN" sz="1493" b="1" i="1" dirty="0">
                    <a:solidFill>
                      <a:schemeClr val="tx2">
                        <a:lumMod val="50000"/>
                      </a:schemeClr>
                    </a:solidFill>
                    <a:highlight>
                      <a:srgbClr val="EAEEF2"/>
                    </a:highlight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</a:br>
                <a:r>
                  <a:rPr lang="en-US" altLang="zh-CN" sz="1493" b="1" i="1" dirty="0">
                    <a:solidFill>
                      <a:schemeClr val="tx2">
                        <a:lumMod val="50000"/>
                      </a:schemeClr>
                    </a:solidFill>
                    <a:highlight>
                      <a:srgbClr val="EAEEF2"/>
                    </a:highlight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IF memory FIFO</a:t>
                </a:r>
                <a:endParaRPr lang="zh-CN" altLang="en-US" sz="1493" b="1" i="1" dirty="0">
                  <a:solidFill>
                    <a:schemeClr val="tx2">
                      <a:lumMod val="50000"/>
                    </a:schemeClr>
                  </a:solidFill>
                  <a:highlight>
                    <a:srgbClr val="EAEEF2"/>
                  </a:highlight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5F7745E6-3CAF-98D2-4939-F2F71E545D8E}"/>
                  </a:ext>
                </a:extLst>
              </p:cNvPr>
              <p:cNvSpPr txBox="1"/>
              <p:nvPr/>
            </p:nvSpPr>
            <p:spPr>
              <a:xfrm>
                <a:off x="14191954" y="2090257"/>
                <a:ext cx="2846150" cy="542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2400" b="1" i="1" u="none" strike="noStrike" cap="none" spc="0" normalizeH="0" baseline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highlight>
                      <a:srgbClr val="EAEEF2"/>
                    </a:highlight>
                    <a:uLnTx/>
                    <a:uFillTx/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defRPr>
                </a:lvl1pPr>
                <a:lvl2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2pPr>
                <a:lvl3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3pPr>
                <a:lvl4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4pPr>
                <a:lvl5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5pPr>
                <a:lvl6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6pPr>
                <a:lvl7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7pPr>
                <a:lvl8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8pPr>
                <a:lvl9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9pPr>
              </a:lstStyle>
              <a:p>
                <a:r>
                  <a:rPr lang="zh-CN" altLang="en-US" sz="1280" dirty="0"/>
                  <a:t>真实取指指令</a:t>
                </a:r>
              </a:p>
            </p:txBody>
          </p:sp>
          <p:grpSp>
            <p:nvGrpSpPr>
              <p:cNvPr id="225" name="组合 224">
                <a:extLst>
                  <a:ext uri="{FF2B5EF4-FFF2-40B4-BE49-F238E27FC236}">
                    <a16:creationId xmlns:a16="http://schemas.microsoft.com/office/drawing/2014/main" id="{DFF7C4FF-1AE8-3F61-80A0-100A8F2101EE}"/>
                  </a:ext>
                </a:extLst>
              </p:cNvPr>
              <p:cNvGrpSpPr/>
              <p:nvPr/>
            </p:nvGrpSpPr>
            <p:grpSpPr>
              <a:xfrm>
                <a:off x="14217612" y="3002329"/>
                <a:ext cx="2850332" cy="1603296"/>
                <a:chOff x="15339435" y="5136300"/>
                <a:chExt cx="2784478" cy="1804123"/>
              </a:xfrm>
            </p:grpSpPr>
            <p:grpSp>
              <p:nvGrpSpPr>
                <p:cNvPr id="198" name="组合 197">
                  <a:extLst>
                    <a:ext uri="{FF2B5EF4-FFF2-40B4-BE49-F238E27FC236}">
                      <a16:creationId xmlns:a16="http://schemas.microsoft.com/office/drawing/2014/main" id="{502D5110-61BE-0D54-B6F5-40B2D5CC6C0E}"/>
                    </a:ext>
                  </a:extLst>
                </p:cNvPr>
                <p:cNvGrpSpPr/>
                <p:nvPr/>
              </p:nvGrpSpPr>
              <p:grpSpPr>
                <a:xfrm>
                  <a:off x="15343521" y="5136300"/>
                  <a:ext cx="2772222" cy="1760637"/>
                  <a:chOff x="2774884" y="3668301"/>
                  <a:chExt cx="2449442" cy="2312234"/>
                </a:xfrm>
              </p:grpSpPr>
              <p:sp>
                <p:nvSpPr>
                  <p:cNvPr id="199" name="矩形 198">
                    <a:extLst>
                      <a:ext uri="{FF2B5EF4-FFF2-40B4-BE49-F238E27FC236}">
                        <a16:creationId xmlns:a16="http://schemas.microsoft.com/office/drawing/2014/main" id="{56CBC2F8-15EC-6799-8A54-3006DC707CDB}"/>
                      </a:ext>
                    </a:extLst>
                  </p:cNvPr>
                  <p:cNvSpPr/>
                  <p:nvPr/>
                </p:nvSpPr>
                <p:spPr>
                  <a:xfrm>
                    <a:off x="2774884" y="3668301"/>
                    <a:ext cx="2449442" cy="243995"/>
                  </a:xfrm>
                  <a:prstGeom prst="rect">
                    <a:avLst/>
                  </a:prstGeom>
                  <a:solidFill>
                    <a:srgbClr val="657E9A"/>
                  </a:solidFill>
                  <a:ln>
                    <a:noFill/>
                  </a:ln>
                </p:spPr>
                <p:style>
                  <a:lnRef idx="2">
                    <a:srgbClr val="2B4663">
                      <a:shade val="50000"/>
                    </a:srgbClr>
                  </a:lnRef>
                  <a:fillRef idx="1">
                    <a:srgbClr val="2B4663"/>
                  </a:fillRef>
                  <a:effectRef idx="0">
                    <a:srgbClr val="2B4663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9pPr>
                  </a:lstStyle>
                  <a:p>
                    <a:pPr algn="ctr" defTabSz="487650">
                      <a:defRPr/>
                    </a:pPr>
                    <a:endParaRPr lang="zh-CN" altLang="en-US" sz="427" b="1" i="1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0" name="矩形 199">
                    <a:extLst>
                      <a:ext uri="{FF2B5EF4-FFF2-40B4-BE49-F238E27FC236}">
                        <a16:creationId xmlns:a16="http://schemas.microsoft.com/office/drawing/2014/main" id="{EBB67CAF-2058-90BE-0DA6-4D25912F8A1B}"/>
                      </a:ext>
                    </a:extLst>
                  </p:cNvPr>
                  <p:cNvSpPr/>
                  <p:nvPr/>
                </p:nvSpPr>
                <p:spPr>
                  <a:xfrm>
                    <a:off x="2774884" y="3963764"/>
                    <a:ext cx="2449442" cy="243995"/>
                  </a:xfrm>
                  <a:prstGeom prst="rect">
                    <a:avLst/>
                  </a:prstGeom>
                  <a:solidFill>
                    <a:srgbClr val="657E9A"/>
                  </a:solidFill>
                  <a:ln>
                    <a:noFill/>
                  </a:ln>
                </p:spPr>
                <p:style>
                  <a:lnRef idx="2">
                    <a:srgbClr val="2B4663">
                      <a:shade val="50000"/>
                    </a:srgbClr>
                  </a:lnRef>
                  <a:fillRef idx="1">
                    <a:srgbClr val="2B4663"/>
                  </a:fillRef>
                  <a:effectRef idx="0">
                    <a:srgbClr val="2B4663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9pPr>
                  </a:lstStyle>
                  <a:p>
                    <a:pPr algn="ctr" defTabSz="487650">
                      <a:defRPr/>
                    </a:pPr>
                    <a:endParaRPr lang="zh-CN" altLang="en-US" sz="427" b="1" i="1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1" name="矩形 200">
                    <a:extLst>
                      <a:ext uri="{FF2B5EF4-FFF2-40B4-BE49-F238E27FC236}">
                        <a16:creationId xmlns:a16="http://schemas.microsoft.com/office/drawing/2014/main" id="{E69A9DB1-0698-1A66-39F4-4E2BA99907D1}"/>
                      </a:ext>
                    </a:extLst>
                  </p:cNvPr>
                  <p:cNvSpPr/>
                  <p:nvPr/>
                </p:nvSpPr>
                <p:spPr>
                  <a:xfrm>
                    <a:off x="2774884" y="4259226"/>
                    <a:ext cx="2449442" cy="243995"/>
                  </a:xfrm>
                  <a:prstGeom prst="rect">
                    <a:avLst/>
                  </a:prstGeom>
                  <a:solidFill>
                    <a:srgbClr val="657E9A"/>
                  </a:solidFill>
                  <a:ln>
                    <a:noFill/>
                  </a:ln>
                </p:spPr>
                <p:style>
                  <a:lnRef idx="2">
                    <a:srgbClr val="2B4663">
                      <a:shade val="50000"/>
                    </a:srgbClr>
                  </a:lnRef>
                  <a:fillRef idx="1">
                    <a:srgbClr val="2B4663"/>
                  </a:fillRef>
                  <a:effectRef idx="0">
                    <a:srgbClr val="2B4663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9pPr>
                  </a:lstStyle>
                  <a:p>
                    <a:pPr algn="ctr" defTabSz="487650">
                      <a:defRPr/>
                    </a:pPr>
                    <a:endParaRPr lang="zh-CN" altLang="en-US" sz="427" b="1" i="1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2" name="矩形 201">
                    <a:extLst>
                      <a:ext uri="{FF2B5EF4-FFF2-40B4-BE49-F238E27FC236}">
                        <a16:creationId xmlns:a16="http://schemas.microsoft.com/office/drawing/2014/main" id="{E21E1E34-C1A0-1F8C-2A47-94712E9A35EE}"/>
                      </a:ext>
                    </a:extLst>
                  </p:cNvPr>
                  <p:cNvSpPr/>
                  <p:nvPr/>
                </p:nvSpPr>
                <p:spPr>
                  <a:xfrm>
                    <a:off x="2774884" y="4554689"/>
                    <a:ext cx="2449442" cy="243995"/>
                  </a:xfrm>
                  <a:prstGeom prst="rect">
                    <a:avLst/>
                  </a:prstGeom>
                  <a:solidFill>
                    <a:srgbClr val="657E9A"/>
                  </a:solidFill>
                  <a:ln>
                    <a:noFill/>
                  </a:ln>
                </p:spPr>
                <p:style>
                  <a:lnRef idx="2">
                    <a:srgbClr val="2B4663">
                      <a:shade val="50000"/>
                    </a:srgbClr>
                  </a:lnRef>
                  <a:fillRef idx="1">
                    <a:srgbClr val="2B4663"/>
                  </a:fillRef>
                  <a:effectRef idx="0">
                    <a:srgbClr val="2B4663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9pPr>
                  </a:lstStyle>
                  <a:p>
                    <a:pPr algn="ctr" defTabSz="487650">
                      <a:defRPr/>
                    </a:pPr>
                    <a:endParaRPr lang="zh-CN" altLang="en-US" sz="427" b="1" i="1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3" name="矩形 202">
                    <a:extLst>
                      <a:ext uri="{FF2B5EF4-FFF2-40B4-BE49-F238E27FC236}">
                        <a16:creationId xmlns:a16="http://schemas.microsoft.com/office/drawing/2014/main" id="{9075D886-7932-86D2-B381-3721A990FA67}"/>
                      </a:ext>
                    </a:extLst>
                  </p:cNvPr>
                  <p:cNvSpPr/>
                  <p:nvPr/>
                </p:nvSpPr>
                <p:spPr>
                  <a:xfrm>
                    <a:off x="2774884" y="4850152"/>
                    <a:ext cx="2449442" cy="243995"/>
                  </a:xfrm>
                  <a:prstGeom prst="rect">
                    <a:avLst/>
                  </a:prstGeom>
                  <a:solidFill>
                    <a:srgbClr val="657E9A"/>
                  </a:solidFill>
                  <a:ln>
                    <a:noFill/>
                  </a:ln>
                </p:spPr>
                <p:style>
                  <a:lnRef idx="2">
                    <a:srgbClr val="2B4663">
                      <a:shade val="50000"/>
                    </a:srgbClr>
                  </a:lnRef>
                  <a:fillRef idx="1">
                    <a:srgbClr val="2B4663"/>
                  </a:fillRef>
                  <a:effectRef idx="0">
                    <a:srgbClr val="2B4663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9pPr>
                  </a:lstStyle>
                  <a:p>
                    <a:pPr algn="ctr" defTabSz="487650">
                      <a:defRPr/>
                    </a:pPr>
                    <a:endParaRPr lang="zh-CN" altLang="en-US" sz="427" b="1" i="1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4" name="矩形 203">
                    <a:extLst>
                      <a:ext uri="{FF2B5EF4-FFF2-40B4-BE49-F238E27FC236}">
                        <a16:creationId xmlns:a16="http://schemas.microsoft.com/office/drawing/2014/main" id="{B86C8FAB-FF7E-8BA9-0A0F-2CB522D0348A}"/>
                      </a:ext>
                    </a:extLst>
                  </p:cNvPr>
                  <p:cNvSpPr/>
                  <p:nvPr/>
                </p:nvSpPr>
                <p:spPr>
                  <a:xfrm>
                    <a:off x="2774884" y="5145614"/>
                    <a:ext cx="2449442" cy="243995"/>
                  </a:xfrm>
                  <a:prstGeom prst="rect">
                    <a:avLst/>
                  </a:prstGeom>
                  <a:solidFill>
                    <a:srgbClr val="657E9A"/>
                  </a:solidFill>
                  <a:ln>
                    <a:noFill/>
                  </a:ln>
                </p:spPr>
                <p:style>
                  <a:lnRef idx="2">
                    <a:srgbClr val="2B4663">
                      <a:shade val="50000"/>
                    </a:srgbClr>
                  </a:lnRef>
                  <a:fillRef idx="1">
                    <a:srgbClr val="2B4663"/>
                  </a:fillRef>
                  <a:effectRef idx="0">
                    <a:srgbClr val="2B4663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9pPr>
                  </a:lstStyle>
                  <a:p>
                    <a:pPr algn="ctr" defTabSz="487650">
                      <a:defRPr/>
                    </a:pPr>
                    <a:endParaRPr lang="zh-CN" altLang="en-US" sz="427" b="1" i="1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" name="矩形 204">
                    <a:extLst>
                      <a:ext uri="{FF2B5EF4-FFF2-40B4-BE49-F238E27FC236}">
                        <a16:creationId xmlns:a16="http://schemas.microsoft.com/office/drawing/2014/main" id="{0C315081-56EE-3631-1A99-019C902CA531}"/>
                      </a:ext>
                    </a:extLst>
                  </p:cNvPr>
                  <p:cNvSpPr/>
                  <p:nvPr/>
                </p:nvSpPr>
                <p:spPr>
                  <a:xfrm>
                    <a:off x="2774884" y="5441077"/>
                    <a:ext cx="2449442" cy="243995"/>
                  </a:xfrm>
                  <a:prstGeom prst="rect">
                    <a:avLst/>
                  </a:prstGeom>
                  <a:solidFill>
                    <a:srgbClr val="657E9A"/>
                  </a:solidFill>
                  <a:ln>
                    <a:noFill/>
                  </a:ln>
                </p:spPr>
                <p:style>
                  <a:lnRef idx="2">
                    <a:srgbClr val="2B4663">
                      <a:shade val="50000"/>
                    </a:srgbClr>
                  </a:lnRef>
                  <a:fillRef idx="1">
                    <a:srgbClr val="2B4663"/>
                  </a:fillRef>
                  <a:effectRef idx="0">
                    <a:srgbClr val="2B4663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9pPr>
                  </a:lstStyle>
                  <a:p>
                    <a:pPr algn="ctr" defTabSz="487650">
                      <a:defRPr/>
                    </a:pPr>
                    <a:endParaRPr lang="zh-CN" altLang="en-US" sz="427" b="1" i="1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6" name="矩形 205">
                    <a:extLst>
                      <a:ext uri="{FF2B5EF4-FFF2-40B4-BE49-F238E27FC236}">
                        <a16:creationId xmlns:a16="http://schemas.microsoft.com/office/drawing/2014/main" id="{3EA05C68-A881-AB93-E98B-B64CF2581F77}"/>
                      </a:ext>
                    </a:extLst>
                  </p:cNvPr>
                  <p:cNvSpPr/>
                  <p:nvPr/>
                </p:nvSpPr>
                <p:spPr>
                  <a:xfrm>
                    <a:off x="2774884" y="5736540"/>
                    <a:ext cx="2449442" cy="243995"/>
                  </a:xfrm>
                  <a:prstGeom prst="rect">
                    <a:avLst/>
                  </a:prstGeom>
                  <a:solidFill>
                    <a:srgbClr val="657E9A"/>
                  </a:solidFill>
                  <a:ln>
                    <a:noFill/>
                  </a:ln>
                </p:spPr>
                <p:style>
                  <a:lnRef idx="2">
                    <a:srgbClr val="2B4663">
                      <a:shade val="50000"/>
                    </a:srgbClr>
                  </a:lnRef>
                  <a:fillRef idx="1">
                    <a:srgbClr val="2B4663"/>
                  </a:fillRef>
                  <a:effectRef idx="0">
                    <a:srgbClr val="2B4663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rgbClr val="FFFFFF"/>
                        </a:solidFill>
                        <a:latin typeface="等线" panose="02010600030101010101" charset="-122"/>
                        <a:ea typeface="+mn-ea"/>
                        <a:cs typeface="+mn-ea"/>
                      </a:defRPr>
                    </a:lvl9pPr>
                  </a:lstStyle>
                  <a:p>
                    <a:pPr algn="ctr" defTabSz="487650">
                      <a:defRPr/>
                    </a:pPr>
                    <a:endParaRPr lang="zh-CN" altLang="en-US" sz="427" b="1" i="1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05E46110-D0F1-F6A6-868B-C72A959ED64C}"/>
                    </a:ext>
                  </a:extLst>
                </p:cNvPr>
                <p:cNvSpPr txBox="1"/>
                <p:nvPr/>
              </p:nvSpPr>
              <p:spPr>
                <a:xfrm>
                  <a:off x="15339435" y="5258583"/>
                  <a:ext cx="2780392" cy="11642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kumimoji="0" sz="2400" b="1" i="1" u="none" strike="noStrike" cap="none" spc="0" normalizeH="0" baseline="0">
                      <a:ln>
                        <a:noFill/>
                      </a:ln>
                      <a:solidFill>
                        <a:schemeClr val="tx2">
                          <a:lumMod val="50000"/>
                        </a:schemeClr>
                      </a:solidFill>
                      <a:effectLst/>
                      <a:highlight>
                        <a:srgbClr val="EAEEF2"/>
                      </a:highlight>
                      <a:uLnTx/>
                      <a:uFillTx/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defRPr>
                  </a:lvl1pPr>
                  <a:lvl2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2pPr>
                  <a:lvl3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3pPr>
                  <a:lvl4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4pPr>
                  <a:lvl5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5pPr>
                  <a:lvl6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6pPr>
                  <a:lvl7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7pPr>
                  <a:lvl8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8pPr>
                  <a:lvl9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9pPr>
                </a:lstStyle>
                <a:p>
                  <a:r>
                    <a:rPr lang="en-US" altLang="zh-CN" sz="1493" dirty="0"/>
                    <a:t>8</a:t>
                  </a:r>
                  <a:r>
                    <a:rPr lang="zh-CN" altLang="en-US" sz="1493" dirty="0"/>
                    <a:t>项</a:t>
                  </a:r>
                  <a:br>
                    <a:rPr lang="en-US" altLang="zh-CN" sz="1493" dirty="0"/>
                  </a:br>
                  <a:r>
                    <a:rPr lang="en-US" altLang="zh-CN" sz="1493" dirty="0"/>
                    <a:t>IFQ</a:t>
                  </a:r>
                  <a:endParaRPr lang="zh-CN" altLang="en-US" sz="1493" dirty="0"/>
                </a:p>
              </p:txBody>
            </p:sp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12049FF5-999A-5958-2AEB-5ED496125929}"/>
                    </a:ext>
                  </a:extLst>
                </p:cNvPr>
                <p:cNvSpPr txBox="1"/>
                <p:nvPr/>
              </p:nvSpPr>
              <p:spPr>
                <a:xfrm>
                  <a:off x="15343521" y="6330019"/>
                  <a:ext cx="2780392" cy="6104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kumimoji="0" sz="2400" b="1" i="1" u="none" strike="noStrike" cap="none" spc="0" normalizeH="0" baseline="0">
                      <a:ln>
                        <a:noFill/>
                      </a:ln>
                      <a:solidFill>
                        <a:schemeClr val="tx2">
                          <a:lumMod val="50000"/>
                        </a:schemeClr>
                      </a:solidFill>
                      <a:effectLst/>
                      <a:highlight>
                        <a:srgbClr val="EAEEF2"/>
                      </a:highlight>
                      <a:uLnTx/>
                      <a:uFillTx/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defRPr>
                  </a:lvl1pPr>
                  <a:lvl2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2pPr>
                  <a:lvl3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3pPr>
                  <a:lvl4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4pPr>
                  <a:lvl5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5pPr>
                  <a:lvl6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6pPr>
                  <a:lvl7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7pPr>
                  <a:lvl8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8pPr>
                  <a:lvl9pPr>
                    <a:defRPr>
                      <a:solidFill>
                        <a:srgbClr val="000000"/>
                      </a:solidFill>
                      <a:latin typeface="等线" panose="02010600030101010101" charset="-122"/>
                      <a:cs typeface="+mn-ea"/>
                    </a:defRPr>
                  </a:lvl9pPr>
                </a:lstStyle>
                <a:p>
                  <a:r>
                    <a:rPr lang="zh-CN" altLang="en-US" sz="1280" dirty="0"/>
                    <a:t>所有指令</a:t>
                  </a:r>
                </a:p>
              </p:txBody>
            </p:sp>
          </p:grpSp>
        </p:grpSp>
        <p:sp>
          <p:nvSpPr>
            <p:cNvPr id="228" name="Shape 29">
              <a:extLst>
                <a:ext uri="{FF2B5EF4-FFF2-40B4-BE49-F238E27FC236}">
                  <a16:creationId xmlns:a16="http://schemas.microsoft.com/office/drawing/2014/main" id="{715AFAE1-5AA5-EEAC-C497-8CCD7757CB35}"/>
                </a:ext>
              </a:extLst>
            </p:cNvPr>
            <p:cNvSpPr/>
            <p:nvPr/>
          </p:nvSpPr>
          <p:spPr>
            <a:xfrm>
              <a:off x="9491447" y="462524"/>
              <a:ext cx="224673" cy="2075963"/>
            </a:xfrm>
            <a:prstGeom prst="roundRect">
              <a:avLst>
                <a:gd name="adj" fmla="val 4000"/>
              </a:avLst>
            </a:prstGeom>
            <a:solidFill>
              <a:srgbClr val="273B59"/>
            </a:solidFill>
            <a:ln w="19050">
              <a:solidFill>
                <a:srgbClr val="17263E"/>
              </a:solidFill>
              <a:prstDash val="solid"/>
            </a:ln>
          </p:spPr>
        </p:sp>
        <p:cxnSp>
          <p:nvCxnSpPr>
            <p:cNvPr id="240" name="连接符: 曲线 239">
              <a:extLst>
                <a:ext uri="{FF2B5EF4-FFF2-40B4-BE49-F238E27FC236}">
                  <a16:creationId xmlns:a16="http://schemas.microsoft.com/office/drawing/2014/main" id="{CF49072E-565C-1097-9957-72CCE09A7CA3}"/>
                </a:ext>
              </a:extLst>
            </p:cNvPr>
            <p:cNvCxnSpPr>
              <a:cxnSpLocks/>
              <a:endCxn id="165" idx="1"/>
            </p:cNvCxnSpPr>
            <p:nvPr/>
          </p:nvCxnSpPr>
          <p:spPr>
            <a:xfrm rot="16200000" flipH="1">
              <a:off x="5848839" y="2963068"/>
              <a:ext cx="252626" cy="240031"/>
            </a:xfrm>
            <a:prstGeom prst="curvedConnector2">
              <a:avLst/>
            </a:prstGeom>
            <a:ln w="34925">
              <a:solidFill>
                <a:srgbClr val="927B68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连接符: 肘形 244">
              <a:extLst>
                <a:ext uri="{FF2B5EF4-FFF2-40B4-BE49-F238E27FC236}">
                  <a16:creationId xmlns:a16="http://schemas.microsoft.com/office/drawing/2014/main" id="{1958492E-7175-099F-86C3-E7C95D9AD573}"/>
                </a:ext>
              </a:extLst>
            </p:cNvPr>
            <p:cNvCxnSpPr>
              <a:endCxn id="187" idx="1"/>
            </p:cNvCxnSpPr>
            <p:nvPr/>
          </p:nvCxnSpPr>
          <p:spPr>
            <a:xfrm rot="5400000" flipH="1" flipV="1">
              <a:off x="6790304" y="2475412"/>
              <a:ext cx="605859" cy="564451"/>
            </a:xfrm>
            <a:prstGeom prst="bentConnector2">
              <a:avLst/>
            </a:prstGeom>
            <a:ln w="34925">
              <a:solidFill>
                <a:srgbClr val="927B68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连接符: 肘形 246">
              <a:extLst>
                <a:ext uri="{FF2B5EF4-FFF2-40B4-BE49-F238E27FC236}">
                  <a16:creationId xmlns:a16="http://schemas.microsoft.com/office/drawing/2014/main" id="{16F948EE-B2B1-2448-15F8-BFB3221220BF}"/>
                </a:ext>
              </a:extLst>
            </p:cNvPr>
            <p:cNvCxnSpPr>
              <a:cxnSpLocks/>
              <a:stCxn id="206" idx="2"/>
              <a:endCxn id="228" idx="1"/>
            </p:cNvCxnSpPr>
            <p:nvPr/>
          </p:nvCxnSpPr>
          <p:spPr>
            <a:xfrm rot="5400000" flipH="1" flipV="1">
              <a:off x="7922158" y="1842055"/>
              <a:ext cx="1910838" cy="1227740"/>
            </a:xfrm>
            <a:prstGeom prst="bentConnector4">
              <a:avLst>
                <a:gd name="adj1" fmla="val -14356"/>
                <a:gd name="adj2" fmla="val 80819"/>
              </a:avLst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1D8D2C01-B89E-3254-54C8-A191C5C55ED8}"/>
                </a:ext>
              </a:extLst>
            </p:cNvPr>
            <p:cNvSpPr/>
            <p:nvPr/>
          </p:nvSpPr>
          <p:spPr>
            <a:xfrm>
              <a:off x="9921057" y="608832"/>
              <a:ext cx="734660" cy="1634489"/>
            </a:xfrm>
            <a:prstGeom prst="rect">
              <a:avLst/>
            </a:prstGeom>
            <a:solidFill>
              <a:srgbClr val="EAEEF2"/>
            </a:solidFill>
            <a:ln w="38100">
              <a:solidFill>
                <a:srgbClr val="000000"/>
              </a:solidFill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 dirty="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254" name="Text 10">
              <a:extLst>
                <a:ext uri="{FF2B5EF4-FFF2-40B4-BE49-F238E27FC236}">
                  <a16:creationId xmlns:a16="http://schemas.microsoft.com/office/drawing/2014/main" id="{E6B19794-3330-ACAB-9199-BB053ADF01D5}"/>
                </a:ext>
              </a:extLst>
            </p:cNvPr>
            <p:cNvSpPr/>
            <p:nvPr/>
          </p:nvSpPr>
          <p:spPr>
            <a:xfrm>
              <a:off x="10084426" y="729049"/>
              <a:ext cx="407923" cy="19852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 fontScale="92500" lnSpcReduction="10000"/>
            </a:bodyPr>
            <a:lstStyle/>
            <a:p>
              <a:pPr algn="ctr"/>
              <a:r>
                <a:rPr lang="en-US" altLang="zh-CN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ID</a:t>
              </a:r>
              <a:endParaRPr lang="en-US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Shape 29">
              <a:extLst>
                <a:ext uri="{FF2B5EF4-FFF2-40B4-BE49-F238E27FC236}">
                  <a16:creationId xmlns:a16="http://schemas.microsoft.com/office/drawing/2014/main" id="{2734DE3D-A361-A50E-A882-DCC89E899CC0}"/>
                </a:ext>
              </a:extLst>
            </p:cNvPr>
            <p:cNvSpPr/>
            <p:nvPr/>
          </p:nvSpPr>
          <p:spPr>
            <a:xfrm>
              <a:off x="10802196" y="472879"/>
              <a:ext cx="224673" cy="2075963"/>
            </a:xfrm>
            <a:prstGeom prst="roundRect">
              <a:avLst>
                <a:gd name="adj" fmla="val 4000"/>
              </a:avLst>
            </a:prstGeom>
            <a:solidFill>
              <a:srgbClr val="273B59"/>
            </a:solidFill>
            <a:ln w="19050">
              <a:solidFill>
                <a:srgbClr val="17263E"/>
              </a:solidFill>
              <a:prstDash val="solid"/>
            </a:ln>
          </p:spPr>
          <p:txBody>
            <a:bodyPr/>
            <a:lstStyle/>
            <a:p>
              <a:endParaRPr lang="zh-CN" altLang="en-US" sz="960" dirty="0"/>
            </a:p>
          </p:txBody>
        </p:sp>
        <p:sp>
          <p:nvSpPr>
            <p:cNvPr id="269" name="Text 10">
              <a:extLst>
                <a:ext uri="{FF2B5EF4-FFF2-40B4-BE49-F238E27FC236}">
                  <a16:creationId xmlns:a16="http://schemas.microsoft.com/office/drawing/2014/main" id="{FB64CB6F-5C44-ACE6-7893-D999358A630E}"/>
                </a:ext>
              </a:extLst>
            </p:cNvPr>
            <p:cNvSpPr/>
            <p:nvPr/>
          </p:nvSpPr>
          <p:spPr>
            <a:xfrm>
              <a:off x="9987511" y="1963196"/>
              <a:ext cx="557256" cy="19852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BAB9DF6C-4CF2-F1D6-2A23-7E0E2E8996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562" y="4102769"/>
              <a:ext cx="11316524" cy="51335"/>
            </a:xfrm>
            <a:prstGeom prst="line">
              <a:avLst/>
            </a:prstGeom>
            <a:ln w="31750">
              <a:solidFill>
                <a:srgbClr val="657E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矩形 286">
              <a:extLst>
                <a:ext uri="{FF2B5EF4-FFF2-40B4-BE49-F238E27FC236}">
                  <a16:creationId xmlns:a16="http://schemas.microsoft.com/office/drawing/2014/main" id="{B3FE4D2C-BA60-2A5D-2D7F-874058E771DF}"/>
                </a:ext>
              </a:extLst>
            </p:cNvPr>
            <p:cNvSpPr/>
            <p:nvPr/>
          </p:nvSpPr>
          <p:spPr>
            <a:xfrm>
              <a:off x="817838" y="4531330"/>
              <a:ext cx="1123708" cy="1634489"/>
            </a:xfrm>
            <a:prstGeom prst="rect">
              <a:avLst/>
            </a:prstGeom>
            <a:solidFill>
              <a:srgbClr val="EAEEF2"/>
            </a:solidFill>
            <a:ln w="38100">
              <a:solidFill>
                <a:srgbClr val="000000"/>
              </a:solidFill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 dirty="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289" name="Text 10">
              <a:extLst>
                <a:ext uri="{FF2B5EF4-FFF2-40B4-BE49-F238E27FC236}">
                  <a16:creationId xmlns:a16="http://schemas.microsoft.com/office/drawing/2014/main" id="{0F33EC82-45EB-9F1C-FA61-19A30D36C31C}"/>
                </a:ext>
              </a:extLst>
            </p:cNvPr>
            <p:cNvSpPr/>
            <p:nvPr/>
          </p:nvSpPr>
          <p:spPr>
            <a:xfrm>
              <a:off x="1076870" y="4671441"/>
              <a:ext cx="482590" cy="25711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EX1</a:t>
              </a:r>
              <a:endParaRPr lang="en-US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Shape 29">
              <a:extLst>
                <a:ext uri="{FF2B5EF4-FFF2-40B4-BE49-F238E27FC236}">
                  <a16:creationId xmlns:a16="http://schemas.microsoft.com/office/drawing/2014/main" id="{5003D517-3942-822E-AE40-B23DDAC3F038}"/>
                </a:ext>
              </a:extLst>
            </p:cNvPr>
            <p:cNvSpPr/>
            <p:nvPr/>
          </p:nvSpPr>
          <p:spPr>
            <a:xfrm>
              <a:off x="2126305" y="4395377"/>
              <a:ext cx="224673" cy="2075963"/>
            </a:xfrm>
            <a:prstGeom prst="roundRect">
              <a:avLst>
                <a:gd name="adj" fmla="val 4000"/>
              </a:avLst>
            </a:prstGeom>
            <a:solidFill>
              <a:srgbClr val="273B59"/>
            </a:solidFill>
            <a:ln w="19050">
              <a:solidFill>
                <a:srgbClr val="17263E"/>
              </a:solidFill>
              <a:prstDash val="solid"/>
            </a:ln>
          </p:spPr>
          <p:txBody>
            <a:bodyPr/>
            <a:lstStyle/>
            <a:p>
              <a:endParaRPr lang="zh-CN" altLang="en-US" sz="960" dirty="0"/>
            </a:p>
          </p:txBody>
        </p:sp>
        <p:sp>
          <p:nvSpPr>
            <p:cNvPr id="293" name="Text 10">
              <a:extLst>
                <a:ext uri="{FF2B5EF4-FFF2-40B4-BE49-F238E27FC236}">
                  <a16:creationId xmlns:a16="http://schemas.microsoft.com/office/drawing/2014/main" id="{0745EF51-8600-71BB-0258-AA474A529B67}"/>
                </a:ext>
              </a:extLst>
            </p:cNvPr>
            <p:cNvSpPr/>
            <p:nvPr/>
          </p:nvSpPr>
          <p:spPr>
            <a:xfrm>
              <a:off x="1076870" y="5438616"/>
              <a:ext cx="557256" cy="19852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操作数选择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5" name="Text 10">
              <a:extLst>
                <a:ext uri="{FF2B5EF4-FFF2-40B4-BE49-F238E27FC236}">
                  <a16:creationId xmlns:a16="http://schemas.microsoft.com/office/drawing/2014/main" id="{A07A5B3E-B564-F3B9-CD11-3F55217F0B4B}"/>
                </a:ext>
              </a:extLst>
            </p:cNvPr>
            <p:cNvSpPr/>
            <p:nvPr/>
          </p:nvSpPr>
          <p:spPr>
            <a:xfrm>
              <a:off x="868372" y="5724930"/>
              <a:ext cx="1027757" cy="4205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条件指令跳转</a:t>
              </a:r>
              <a:endParaRPr lang="en-US" altLang="zh-CN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预测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矩形 296">
              <a:extLst>
                <a:ext uri="{FF2B5EF4-FFF2-40B4-BE49-F238E27FC236}">
                  <a16:creationId xmlns:a16="http://schemas.microsoft.com/office/drawing/2014/main" id="{323C6FC0-0B6E-E396-2784-B4D49524501F}"/>
                </a:ext>
              </a:extLst>
            </p:cNvPr>
            <p:cNvSpPr/>
            <p:nvPr/>
          </p:nvSpPr>
          <p:spPr>
            <a:xfrm>
              <a:off x="2647235" y="4548210"/>
              <a:ext cx="747210" cy="1634489"/>
            </a:xfrm>
            <a:prstGeom prst="rect">
              <a:avLst/>
            </a:prstGeom>
            <a:solidFill>
              <a:srgbClr val="EAEEF2"/>
            </a:solidFill>
            <a:ln w="38100">
              <a:solidFill>
                <a:srgbClr val="000000"/>
              </a:solidFill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 dirty="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299" name="Text 10">
              <a:extLst>
                <a:ext uri="{FF2B5EF4-FFF2-40B4-BE49-F238E27FC236}">
                  <a16:creationId xmlns:a16="http://schemas.microsoft.com/office/drawing/2014/main" id="{8EC1F163-CB8A-2625-477F-E9CDD944CDF2}"/>
                </a:ext>
              </a:extLst>
            </p:cNvPr>
            <p:cNvSpPr/>
            <p:nvPr/>
          </p:nvSpPr>
          <p:spPr>
            <a:xfrm>
              <a:off x="2799510" y="4706435"/>
              <a:ext cx="407923" cy="19852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 fontScale="92500" lnSpcReduction="10000"/>
            </a:bodyPr>
            <a:lstStyle/>
            <a:p>
              <a:pPr algn="ctr"/>
              <a:r>
                <a:rPr lang="en-US" altLang="zh-CN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EX2</a:t>
              </a:r>
              <a:endParaRPr lang="en-US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3" name="Text 10">
              <a:extLst>
                <a:ext uri="{FF2B5EF4-FFF2-40B4-BE49-F238E27FC236}">
                  <a16:creationId xmlns:a16="http://schemas.microsoft.com/office/drawing/2014/main" id="{CDFA722F-C7E3-CCDD-3564-3D353B3D6AF6}"/>
                </a:ext>
              </a:extLst>
            </p:cNvPr>
            <p:cNvSpPr/>
            <p:nvPr/>
          </p:nvSpPr>
          <p:spPr>
            <a:xfrm>
              <a:off x="2736492" y="5479914"/>
              <a:ext cx="557256" cy="19852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Shape 29">
              <a:extLst>
                <a:ext uri="{FF2B5EF4-FFF2-40B4-BE49-F238E27FC236}">
                  <a16:creationId xmlns:a16="http://schemas.microsoft.com/office/drawing/2014/main" id="{8B91143C-5D86-B8D3-46F4-D682B7FD2BE9}"/>
                </a:ext>
              </a:extLst>
            </p:cNvPr>
            <p:cNvSpPr/>
            <p:nvPr/>
          </p:nvSpPr>
          <p:spPr>
            <a:xfrm>
              <a:off x="3738504" y="4375290"/>
              <a:ext cx="224673" cy="2075963"/>
            </a:xfrm>
            <a:prstGeom prst="roundRect">
              <a:avLst>
                <a:gd name="adj" fmla="val 4000"/>
              </a:avLst>
            </a:prstGeom>
            <a:solidFill>
              <a:srgbClr val="273B59"/>
            </a:solidFill>
            <a:ln w="19050">
              <a:solidFill>
                <a:srgbClr val="17263E"/>
              </a:solidFill>
              <a:prstDash val="solid"/>
            </a:ln>
          </p:spPr>
          <p:txBody>
            <a:bodyPr/>
            <a:lstStyle/>
            <a:p>
              <a:endParaRPr lang="zh-CN" altLang="en-US" sz="960" dirty="0"/>
            </a:p>
          </p:txBody>
        </p:sp>
        <p:sp>
          <p:nvSpPr>
            <p:cNvPr id="307" name="矩形 306">
              <a:extLst>
                <a:ext uri="{FF2B5EF4-FFF2-40B4-BE49-F238E27FC236}">
                  <a16:creationId xmlns:a16="http://schemas.microsoft.com/office/drawing/2014/main" id="{06A623F8-0467-EA55-8D65-C41C2F445B69}"/>
                </a:ext>
              </a:extLst>
            </p:cNvPr>
            <p:cNvSpPr/>
            <p:nvPr/>
          </p:nvSpPr>
          <p:spPr>
            <a:xfrm>
              <a:off x="4240697" y="4439063"/>
              <a:ext cx="2937343" cy="1770198"/>
            </a:xfrm>
            <a:prstGeom prst="rect">
              <a:avLst/>
            </a:prstGeom>
            <a:solidFill>
              <a:srgbClr val="EAEEF2"/>
            </a:solidFill>
            <a:ln w="38100">
              <a:solidFill>
                <a:srgbClr val="000000"/>
              </a:solidFill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 dirty="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309" name="Text 10">
              <a:extLst>
                <a:ext uri="{FF2B5EF4-FFF2-40B4-BE49-F238E27FC236}">
                  <a16:creationId xmlns:a16="http://schemas.microsoft.com/office/drawing/2014/main" id="{023DE297-E02A-7C2C-066E-7F57623DB156}"/>
                </a:ext>
              </a:extLst>
            </p:cNvPr>
            <p:cNvSpPr/>
            <p:nvPr/>
          </p:nvSpPr>
          <p:spPr>
            <a:xfrm>
              <a:off x="5338939" y="4499252"/>
              <a:ext cx="605982" cy="19852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 fontScale="92500" lnSpcReduction="10000"/>
            </a:bodyPr>
            <a:lstStyle/>
            <a:p>
              <a:pPr algn="ctr"/>
              <a:r>
                <a:rPr lang="en-US" altLang="zh-CN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MEM</a:t>
              </a:r>
              <a:endParaRPr lang="en-US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5C7959F4-6EBE-76C4-7293-751F5343B7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1062" y="5066621"/>
              <a:ext cx="2646331" cy="5258"/>
            </a:xfrm>
            <a:prstGeom prst="line">
              <a:avLst/>
            </a:prstGeom>
            <a:ln w="31750">
              <a:solidFill>
                <a:srgbClr val="657E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Text 10">
              <a:extLst>
                <a:ext uri="{FF2B5EF4-FFF2-40B4-BE49-F238E27FC236}">
                  <a16:creationId xmlns:a16="http://schemas.microsoft.com/office/drawing/2014/main" id="{A27CA354-57DD-C41E-4E77-B5020792D402}"/>
                </a:ext>
              </a:extLst>
            </p:cNvPr>
            <p:cNvSpPr/>
            <p:nvPr/>
          </p:nvSpPr>
          <p:spPr>
            <a:xfrm>
              <a:off x="4415456" y="4771878"/>
              <a:ext cx="835596" cy="22976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非访存类指令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9" name="Text 10">
              <a:extLst>
                <a:ext uri="{FF2B5EF4-FFF2-40B4-BE49-F238E27FC236}">
                  <a16:creationId xmlns:a16="http://schemas.microsoft.com/office/drawing/2014/main" id="{78E239C0-DFE4-D870-4648-7FB97BB5D804}"/>
                </a:ext>
              </a:extLst>
            </p:cNvPr>
            <p:cNvSpPr/>
            <p:nvPr/>
          </p:nvSpPr>
          <p:spPr>
            <a:xfrm>
              <a:off x="4352347" y="5194685"/>
              <a:ext cx="835596" cy="22976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访存类指令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矩形 329">
              <a:extLst>
                <a:ext uri="{FF2B5EF4-FFF2-40B4-BE49-F238E27FC236}">
                  <a16:creationId xmlns:a16="http://schemas.microsoft.com/office/drawing/2014/main" id="{7EA3A6A4-D3E6-FBE4-3D2A-3A498ABD9612}"/>
                </a:ext>
              </a:extLst>
            </p:cNvPr>
            <p:cNvSpPr/>
            <p:nvPr/>
          </p:nvSpPr>
          <p:spPr>
            <a:xfrm>
              <a:off x="4819524" y="5537880"/>
              <a:ext cx="835596" cy="580454"/>
            </a:xfrm>
            <a:prstGeom prst="rect">
              <a:avLst/>
            </a:prstGeom>
            <a:solidFill>
              <a:srgbClr val="98B4D2"/>
            </a:solidFill>
            <a:ln w="38100">
              <a:noFill/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332" name="Shape 29">
              <a:extLst>
                <a:ext uri="{FF2B5EF4-FFF2-40B4-BE49-F238E27FC236}">
                  <a16:creationId xmlns:a16="http://schemas.microsoft.com/office/drawing/2014/main" id="{8E2DDB05-0C5C-E0B8-2054-14BB3605341D}"/>
                </a:ext>
              </a:extLst>
            </p:cNvPr>
            <p:cNvSpPr/>
            <p:nvPr/>
          </p:nvSpPr>
          <p:spPr>
            <a:xfrm>
              <a:off x="5196525" y="5736674"/>
              <a:ext cx="78259" cy="320268"/>
            </a:xfrm>
            <a:prstGeom prst="roundRect">
              <a:avLst>
                <a:gd name="adj" fmla="val 4000"/>
              </a:avLst>
            </a:prstGeom>
            <a:solidFill>
              <a:srgbClr val="273B59"/>
            </a:solidFill>
            <a:ln w="19050">
              <a:solidFill>
                <a:srgbClr val="17263E"/>
              </a:solidFill>
              <a:prstDash val="solid"/>
            </a:ln>
          </p:spPr>
        </p:sp>
        <p:sp>
          <p:nvSpPr>
            <p:cNvPr id="334" name="Text 10">
              <a:extLst>
                <a:ext uri="{FF2B5EF4-FFF2-40B4-BE49-F238E27FC236}">
                  <a16:creationId xmlns:a16="http://schemas.microsoft.com/office/drawing/2014/main" id="{3DABB916-0C93-5399-BE51-C282D38BA7BF}"/>
                </a:ext>
              </a:extLst>
            </p:cNvPr>
            <p:cNvSpPr/>
            <p:nvPr/>
          </p:nvSpPr>
          <p:spPr>
            <a:xfrm>
              <a:off x="4920418" y="5571000"/>
              <a:ext cx="661267" cy="20856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1144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TLB</a:t>
              </a:r>
              <a:endParaRPr lang="en-US" sz="1144" dirty="0"/>
            </a:p>
          </p:txBody>
        </p:sp>
        <p:grpSp>
          <p:nvGrpSpPr>
            <p:cNvPr id="346" name="组合 345">
              <a:extLst>
                <a:ext uri="{FF2B5EF4-FFF2-40B4-BE49-F238E27FC236}">
                  <a16:creationId xmlns:a16="http://schemas.microsoft.com/office/drawing/2014/main" id="{136C9A4E-6DAA-26A2-523B-B5C729DB461F}"/>
                </a:ext>
              </a:extLst>
            </p:cNvPr>
            <p:cNvGrpSpPr/>
            <p:nvPr/>
          </p:nvGrpSpPr>
          <p:grpSpPr>
            <a:xfrm>
              <a:off x="8910923" y="4671441"/>
              <a:ext cx="1459049" cy="899558"/>
              <a:chOff x="2797182" y="8077258"/>
              <a:chExt cx="2449442" cy="1130383"/>
            </a:xfrm>
          </p:grpSpPr>
          <p:sp>
            <p:nvSpPr>
              <p:cNvPr id="347" name="矩形 346">
                <a:extLst>
                  <a:ext uri="{FF2B5EF4-FFF2-40B4-BE49-F238E27FC236}">
                    <a16:creationId xmlns:a16="http://schemas.microsoft.com/office/drawing/2014/main" id="{46BFE012-C1CA-F3B8-77F0-42F218475C60}"/>
                  </a:ext>
                </a:extLst>
              </p:cNvPr>
              <p:cNvSpPr/>
              <p:nvPr/>
            </p:nvSpPr>
            <p:spPr>
              <a:xfrm>
                <a:off x="2797182" y="8077258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" name="矩形 347">
                <a:extLst>
                  <a:ext uri="{FF2B5EF4-FFF2-40B4-BE49-F238E27FC236}">
                    <a16:creationId xmlns:a16="http://schemas.microsoft.com/office/drawing/2014/main" id="{9FC0F91B-2CAC-222E-7C98-88AAB5D7051C}"/>
                  </a:ext>
                </a:extLst>
              </p:cNvPr>
              <p:cNvSpPr/>
              <p:nvPr/>
            </p:nvSpPr>
            <p:spPr>
              <a:xfrm>
                <a:off x="2797182" y="8372720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9" name="矩形 348">
                <a:extLst>
                  <a:ext uri="{FF2B5EF4-FFF2-40B4-BE49-F238E27FC236}">
                    <a16:creationId xmlns:a16="http://schemas.microsoft.com/office/drawing/2014/main" id="{BA90F44F-1498-5E6F-9940-B87ABB6811C9}"/>
                  </a:ext>
                </a:extLst>
              </p:cNvPr>
              <p:cNvSpPr/>
              <p:nvPr/>
            </p:nvSpPr>
            <p:spPr>
              <a:xfrm>
                <a:off x="2797182" y="8668183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0" name="矩形 349">
                <a:extLst>
                  <a:ext uri="{FF2B5EF4-FFF2-40B4-BE49-F238E27FC236}">
                    <a16:creationId xmlns:a16="http://schemas.microsoft.com/office/drawing/2014/main" id="{5079E27E-5CB4-5A58-24D6-C5C95200F913}"/>
                  </a:ext>
                </a:extLst>
              </p:cNvPr>
              <p:cNvSpPr/>
              <p:nvPr/>
            </p:nvSpPr>
            <p:spPr>
              <a:xfrm>
                <a:off x="2797182" y="8963646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1" name="组合 350">
              <a:extLst>
                <a:ext uri="{FF2B5EF4-FFF2-40B4-BE49-F238E27FC236}">
                  <a16:creationId xmlns:a16="http://schemas.microsoft.com/office/drawing/2014/main" id="{E6E2B2C8-ACAF-4F64-AFA7-6A4CF41F40F5}"/>
                </a:ext>
              </a:extLst>
            </p:cNvPr>
            <p:cNvGrpSpPr/>
            <p:nvPr/>
          </p:nvGrpSpPr>
          <p:grpSpPr>
            <a:xfrm>
              <a:off x="10666675" y="4362612"/>
              <a:ext cx="1218303" cy="636331"/>
              <a:chOff x="2797182" y="8077258"/>
              <a:chExt cx="2449442" cy="1130383"/>
            </a:xfrm>
          </p:grpSpPr>
          <p:sp>
            <p:nvSpPr>
              <p:cNvPr id="352" name="矩形 351">
                <a:extLst>
                  <a:ext uri="{FF2B5EF4-FFF2-40B4-BE49-F238E27FC236}">
                    <a16:creationId xmlns:a16="http://schemas.microsoft.com/office/drawing/2014/main" id="{82D5290A-9261-1158-C6FA-79D0439B7727}"/>
                  </a:ext>
                </a:extLst>
              </p:cNvPr>
              <p:cNvSpPr/>
              <p:nvPr/>
            </p:nvSpPr>
            <p:spPr>
              <a:xfrm>
                <a:off x="2797182" y="8077258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814485A8-05F7-4CF9-2F52-F128A307E25A}"/>
                  </a:ext>
                </a:extLst>
              </p:cNvPr>
              <p:cNvSpPr/>
              <p:nvPr/>
            </p:nvSpPr>
            <p:spPr>
              <a:xfrm>
                <a:off x="2797182" y="8372720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4" name="矩形 353">
                <a:extLst>
                  <a:ext uri="{FF2B5EF4-FFF2-40B4-BE49-F238E27FC236}">
                    <a16:creationId xmlns:a16="http://schemas.microsoft.com/office/drawing/2014/main" id="{85EE4183-A2D3-448E-3FE4-26EB264D3948}"/>
                  </a:ext>
                </a:extLst>
              </p:cNvPr>
              <p:cNvSpPr/>
              <p:nvPr/>
            </p:nvSpPr>
            <p:spPr>
              <a:xfrm>
                <a:off x="2797182" y="8668183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9277F003-E8DF-2135-6F1D-EF2D2416F0E2}"/>
                  </a:ext>
                </a:extLst>
              </p:cNvPr>
              <p:cNvSpPr/>
              <p:nvPr/>
            </p:nvSpPr>
            <p:spPr>
              <a:xfrm>
                <a:off x="2797182" y="8963646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6" name="组合 355">
              <a:extLst>
                <a:ext uri="{FF2B5EF4-FFF2-40B4-BE49-F238E27FC236}">
                  <a16:creationId xmlns:a16="http://schemas.microsoft.com/office/drawing/2014/main" id="{DFAA4194-DD83-B9C6-E36D-7339B57D826B}"/>
                </a:ext>
              </a:extLst>
            </p:cNvPr>
            <p:cNvGrpSpPr/>
            <p:nvPr/>
          </p:nvGrpSpPr>
          <p:grpSpPr>
            <a:xfrm>
              <a:off x="7423931" y="5593161"/>
              <a:ext cx="1258768" cy="716999"/>
              <a:chOff x="2776655" y="6939224"/>
              <a:chExt cx="2449442" cy="539458"/>
            </a:xfrm>
          </p:grpSpPr>
          <p:sp>
            <p:nvSpPr>
              <p:cNvPr id="357" name="矩形 356">
                <a:extLst>
                  <a:ext uri="{FF2B5EF4-FFF2-40B4-BE49-F238E27FC236}">
                    <a16:creationId xmlns:a16="http://schemas.microsoft.com/office/drawing/2014/main" id="{5476C7DC-CD6C-F5B2-55AB-9BF1689236BA}"/>
                  </a:ext>
                </a:extLst>
              </p:cNvPr>
              <p:cNvSpPr/>
              <p:nvPr/>
            </p:nvSpPr>
            <p:spPr>
              <a:xfrm>
                <a:off x="2776655" y="6939224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8" name="矩形 357">
                <a:extLst>
                  <a:ext uri="{FF2B5EF4-FFF2-40B4-BE49-F238E27FC236}">
                    <a16:creationId xmlns:a16="http://schemas.microsoft.com/office/drawing/2014/main" id="{DD04F50F-37B8-51AA-7E9A-0CF4CFAEB45F}"/>
                  </a:ext>
                </a:extLst>
              </p:cNvPr>
              <p:cNvSpPr/>
              <p:nvPr/>
            </p:nvSpPr>
            <p:spPr>
              <a:xfrm>
                <a:off x="2776655" y="7234687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0" name="文本框 359">
              <a:extLst>
                <a:ext uri="{FF2B5EF4-FFF2-40B4-BE49-F238E27FC236}">
                  <a16:creationId xmlns:a16="http://schemas.microsoft.com/office/drawing/2014/main" id="{44EB7921-A9EB-4513-991B-3E395A6FFCD0}"/>
                </a:ext>
              </a:extLst>
            </p:cNvPr>
            <p:cNvSpPr txBox="1"/>
            <p:nvPr/>
          </p:nvSpPr>
          <p:spPr>
            <a:xfrm>
              <a:off x="7247781" y="5617095"/>
              <a:ext cx="1517947" cy="486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400" b="1" i="1" u="none" strike="noStrike" cap="none" spc="0" normalizeH="0" baseline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highlight>
                    <a:srgbClr val="EAEEF2"/>
                  </a:highlight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2pPr>
              <a:lvl3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3pPr>
              <a:lvl4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4pPr>
              <a:lvl5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5pPr>
              <a:lvl6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6pPr>
              <a:lvl7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7pPr>
              <a:lvl8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8pPr>
              <a:lvl9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9pPr>
            </a:lstStyle>
            <a:p>
              <a:r>
                <a:rPr lang="en-US" altLang="zh-CN" sz="1280" dirty="0"/>
                <a:t>2</a:t>
              </a:r>
              <a:r>
                <a:rPr lang="zh-CN" altLang="en-US" sz="1280" dirty="0"/>
                <a:t>项</a:t>
              </a:r>
              <a:br>
                <a:rPr lang="en-US" altLang="zh-CN" sz="1280" dirty="0"/>
              </a:br>
              <a:r>
                <a:rPr lang="en-US" altLang="zh-CN" sz="1280" dirty="0"/>
                <a:t>LQ</a:t>
              </a:r>
              <a:endParaRPr lang="zh-CN" altLang="en-US" sz="1280" dirty="0"/>
            </a:p>
          </p:txBody>
        </p:sp>
        <p:sp>
          <p:nvSpPr>
            <p:cNvPr id="362" name="文本框 361">
              <a:extLst>
                <a:ext uri="{FF2B5EF4-FFF2-40B4-BE49-F238E27FC236}">
                  <a16:creationId xmlns:a16="http://schemas.microsoft.com/office/drawing/2014/main" id="{E8092D92-5918-B4AF-2979-600895303309}"/>
                </a:ext>
              </a:extLst>
            </p:cNvPr>
            <p:cNvSpPr txBox="1"/>
            <p:nvPr/>
          </p:nvSpPr>
          <p:spPr>
            <a:xfrm>
              <a:off x="8843385" y="4751487"/>
              <a:ext cx="1517947" cy="486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400" b="1" i="1" u="none" strike="noStrike" cap="none" spc="0" normalizeH="0" baseline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highlight>
                    <a:srgbClr val="EAEEF2"/>
                  </a:highlight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2pPr>
              <a:lvl3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3pPr>
              <a:lvl4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4pPr>
              <a:lvl5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5pPr>
              <a:lvl6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6pPr>
              <a:lvl7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7pPr>
              <a:lvl8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8pPr>
              <a:lvl9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9pPr>
            </a:lstStyle>
            <a:p>
              <a:r>
                <a:rPr lang="en-US" altLang="zh-CN" sz="1280" dirty="0"/>
                <a:t>4</a:t>
              </a:r>
              <a:r>
                <a:rPr lang="zh-CN" altLang="en-US" sz="1280" dirty="0"/>
                <a:t>项</a:t>
              </a:r>
              <a:br>
                <a:rPr lang="en-US" altLang="zh-CN" sz="1280" dirty="0"/>
              </a:br>
              <a:r>
                <a:rPr lang="en-US" altLang="zh-CN" sz="1280" dirty="0"/>
                <a:t>WBQ</a:t>
              </a:r>
              <a:endParaRPr lang="zh-CN" altLang="en-US" sz="1280" dirty="0"/>
            </a:p>
          </p:txBody>
        </p:sp>
        <p:sp>
          <p:nvSpPr>
            <p:cNvPr id="364" name="文本框 363">
              <a:extLst>
                <a:ext uri="{FF2B5EF4-FFF2-40B4-BE49-F238E27FC236}">
                  <a16:creationId xmlns:a16="http://schemas.microsoft.com/office/drawing/2014/main" id="{FB161D4D-0950-5273-CB8D-52DD052EB8F7}"/>
                </a:ext>
              </a:extLst>
            </p:cNvPr>
            <p:cNvSpPr txBox="1"/>
            <p:nvPr/>
          </p:nvSpPr>
          <p:spPr>
            <a:xfrm>
              <a:off x="10481920" y="4363275"/>
              <a:ext cx="1517947" cy="486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400" b="1" i="1" u="none" strike="noStrike" cap="none" spc="0" normalizeH="0" baseline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highlight>
                    <a:srgbClr val="EAEEF2"/>
                  </a:highlight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2pPr>
              <a:lvl3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3pPr>
              <a:lvl4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4pPr>
              <a:lvl5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5pPr>
              <a:lvl6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6pPr>
              <a:lvl7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7pPr>
              <a:lvl8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8pPr>
              <a:lvl9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9pPr>
            </a:lstStyle>
            <a:p>
              <a:r>
                <a:rPr lang="en-US" altLang="zh-CN" sz="1280" dirty="0"/>
                <a:t>4</a:t>
              </a:r>
              <a:r>
                <a:rPr lang="zh-CN" altLang="en-US" sz="1280" dirty="0"/>
                <a:t>项</a:t>
              </a:r>
              <a:br>
                <a:rPr lang="en-US" altLang="zh-CN" sz="1280" dirty="0"/>
              </a:br>
              <a:r>
                <a:rPr lang="en-US" altLang="zh-CN" sz="1280" dirty="0"/>
                <a:t>SB</a:t>
              </a:r>
              <a:endParaRPr lang="zh-CN" altLang="en-US" sz="1280" dirty="0"/>
            </a:p>
          </p:txBody>
        </p:sp>
        <p:sp>
          <p:nvSpPr>
            <p:cNvPr id="366" name="文本框 365">
              <a:extLst>
                <a:ext uri="{FF2B5EF4-FFF2-40B4-BE49-F238E27FC236}">
                  <a16:creationId xmlns:a16="http://schemas.microsoft.com/office/drawing/2014/main" id="{A469AD61-38AD-9141-8D2C-E2E0512A296E}"/>
                </a:ext>
              </a:extLst>
            </p:cNvPr>
            <p:cNvSpPr txBox="1"/>
            <p:nvPr/>
          </p:nvSpPr>
          <p:spPr>
            <a:xfrm>
              <a:off x="7250590" y="6051201"/>
              <a:ext cx="151794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400" b="1" i="1" u="none" strike="noStrike" cap="none" spc="0" normalizeH="0" baseline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highlight>
                    <a:srgbClr val="EAEEF2"/>
                  </a:highlight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2pPr>
              <a:lvl3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3pPr>
              <a:lvl4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4pPr>
              <a:lvl5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5pPr>
              <a:lvl6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6pPr>
              <a:lvl7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7pPr>
              <a:lvl8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8pPr>
              <a:lvl9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9pPr>
            </a:lstStyle>
            <a:p>
              <a:r>
                <a:rPr lang="en-US" altLang="zh-CN" sz="1280" dirty="0"/>
                <a:t>Load</a:t>
              </a:r>
              <a:r>
                <a:rPr lang="zh-CN" altLang="en-US" sz="1280" dirty="0"/>
                <a:t>类指令</a:t>
              </a:r>
            </a:p>
          </p:txBody>
        </p:sp>
        <p:sp>
          <p:nvSpPr>
            <p:cNvPr id="368" name="文本框 367">
              <a:extLst>
                <a:ext uri="{FF2B5EF4-FFF2-40B4-BE49-F238E27FC236}">
                  <a16:creationId xmlns:a16="http://schemas.microsoft.com/office/drawing/2014/main" id="{506226A8-9EF8-BB3D-B093-757B75ECF69C}"/>
                </a:ext>
              </a:extLst>
            </p:cNvPr>
            <p:cNvSpPr txBox="1"/>
            <p:nvPr/>
          </p:nvSpPr>
          <p:spPr>
            <a:xfrm>
              <a:off x="10481920" y="4774198"/>
              <a:ext cx="151794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400" b="1" i="1" u="none" strike="noStrike" cap="none" spc="0" normalizeH="0" baseline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highlight>
                    <a:srgbClr val="EAEEF2"/>
                  </a:highlight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2pPr>
              <a:lvl3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3pPr>
              <a:lvl4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4pPr>
              <a:lvl5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5pPr>
              <a:lvl6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6pPr>
              <a:lvl7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7pPr>
              <a:lvl8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8pPr>
              <a:lvl9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9pPr>
            </a:lstStyle>
            <a:p>
              <a:r>
                <a:rPr lang="zh-CN" altLang="en-US" sz="1280" dirty="0"/>
                <a:t>已退休</a:t>
              </a:r>
              <a:r>
                <a:rPr lang="en-US" altLang="zh-CN" sz="1280" dirty="0"/>
                <a:t>store</a:t>
              </a:r>
              <a:endParaRPr lang="zh-CN" altLang="en-US" sz="1280" dirty="0"/>
            </a:p>
          </p:txBody>
        </p:sp>
        <p:sp>
          <p:nvSpPr>
            <p:cNvPr id="372" name="文本框 371">
              <a:extLst>
                <a:ext uri="{FF2B5EF4-FFF2-40B4-BE49-F238E27FC236}">
                  <a16:creationId xmlns:a16="http://schemas.microsoft.com/office/drawing/2014/main" id="{C2F4266F-E623-AECE-45EC-60AAD6BD7791}"/>
                </a:ext>
              </a:extLst>
            </p:cNvPr>
            <p:cNvSpPr txBox="1"/>
            <p:nvPr/>
          </p:nvSpPr>
          <p:spPr>
            <a:xfrm>
              <a:off x="8852025" y="5190598"/>
              <a:ext cx="151794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400" b="1" i="1" u="none" strike="noStrike" cap="none" spc="0" normalizeH="0" baseline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highlight>
                    <a:srgbClr val="EAEEF2"/>
                  </a:highlight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2pPr>
              <a:lvl3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3pPr>
              <a:lvl4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4pPr>
              <a:lvl5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5pPr>
              <a:lvl6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6pPr>
              <a:lvl7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7pPr>
              <a:lvl8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8pPr>
              <a:lvl9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9pPr>
            </a:lstStyle>
            <a:p>
              <a:r>
                <a:rPr lang="zh-CN" altLang="en-US" sz="1280" dirty="0"/>
                <a:t>顺序退休</a:t>
              </a:r>
            </a:p>
          </p:txBody>
        </p:sp>
        <p:cxnSp>
          <p:nvCxnSpPr>
            <p:cNvPr id="376" name="直接箭头连接符 375">
              <a:extLst>
                <a:ext uri="{FF2B5EF4-FFF2-40B4-BE49-F238E27FC236}">
                  <a16:creationId xmlns:a16="http://schemas.microsoft.com/office/drawing/2014/main" id="{B265FBC5-5FF0-B465-D3D0-CBFBD13C9EB4}"/>
                </a:ext>
              </a:extLst>
            </p:cNvPr>
            <p:cNvCxnSpPr/>
            <p:nvPr/>
          </p:nvCxnSpPr>
          <p:spPr>
            <a:xfrm>
              <a:off x="7178040" y="4911995"/>
              <a:ext cx="1732883" cy="0"/>
            </a:xfrm>
            <a:prstGeom prst="straightConnector1">
              <a:avLst/>
            </a:prstGeom>
            <a:ln w="34925">
              <a:solidFill>
                <a:srgbClr val="657E9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连接符: 肘形 377">
              <a:extLst>
                <a:ext uri="{FF2B5EF4-FFF2-40B4-BE49-F238E27FC236}">
                  <a16:creationId xmlns:a16="http://schemas.microsoft.com/office/drawing/2014/main" id="{59EE5A41-B9B6-893D-9193-5972A33B6D9D}"/>
                </a:ext>
              </a:extLst>
            </p:cNvPr>
            <p:cNvCxnSpPr>
              <a:endCxn id="360" idx="0"/>
            </p:cNvCxnSpPr>
            <p:nvPr/>
          </p:nvCxnSpPr>
          <p:spPr>
            <a:xfrm>
              <a:off x="7178040" y="5190598"/>
              <a:ext cx="828715" cy="426497"/>
            </a:xfrm>
            <a:prstGeom prst="bentConnector2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4" name="组合 383">
              <a:extLst>
                <a:ext uri="{FF2B5EF4-FFF2-40B4-BE49-F238E27FC236}">
                  <a16:creationId xmlns:a16="http://schemas.microsoft.com/office/drawing/2014/main" id="{32E05DF9-69B0-36F4-4ADC-E340E429C9F2}"/>
                </a:ext>
              </a:extLst>
            </p:cNvPr>
            <p:cNvGrpSpPr/>
            <p:nvPr/>
          </p:nvGrpSpPr>
          <p:grpSpPr>
            <a:xfrm>
              <a:off x="9203622" y="5903901"/>
              <a:ext cx="2378778" cy="425236"/>
              <a:chOff x="17256791" y="10599757"/>
              <a:chExt cx="2472482" cy="797317"/>
            </a:xfrm>
          </p:grpSpPr>
          <p:sp>
            <p:nvSpPr>
              <p:cNvPr id="381" name="矩形 380">
                <a:extLst>
                  <a:ext uri="{FF2B5EF4-FFF2-40B4-BE49-F238E27FC236}">
                    <a16:creationId xmlns:a16="http://schemas.microsoft.com/office/drawing/2014/main" id="{AC92FB98-8977-276A-4C3C-B8FBA1C6BA86}"/>
                  </a:ext>
                </a:extLst>
              </p:cNvPr>
              <p:cNvSpPr/>
              <p:nvPr/>
            </p:nvSpPr>
            <p:spPr>
              <a:xfrm>
                <a:off x="17256791" y="10599757"/>
                <a:ext cx="2472482" cy="797317"/>
              </a:xfrm>
              <a:prstGeom prst="rect">
                <a:avLst/>
              </a:prstGeom>
              <a:solidFill>
                <a:srgbClr val="F6F8F9">
                  <a:lumMod val="50000"/>
                </a:srgbClr>
              </a:solidFill>
              <a:ln>
                <a:solidFill>
                  <a:srgbClr val="638495"/>
                </a:solidFill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960">
                  <a:solidFill>
                    <a:prstClr val="white"/>
                  </a:solidFill>
                  <a:ea typeface="等线" panose="02010600030101010101" charset="-122"/>
                </a:endParaRPr>
              </a:p>
            </p:txBody>
          </p:sp>
          <p:sp>
            <p:nvSpPr>
              <p:cNvPr id="383" name="Text 10">
                <a:extLst>
                  <a:ext uri="{FF2B5EF4-FFF2-40B4-BE49-F238E27FC236}">
                    <a16:creationId xmlns:a16="http://schemas.microsoft.com/office/drawing/2014/main" id="{29BE943C-3648-5E2E-F2DD-639793C9BF2D}"/>
                  </a:ext>
                </a:extLst>
              </p:cNvPr>
              <p:cNvSpPr/>
              <p:nvPr/>
            </p:nvSpPr>
            <p:spPr>
              <a:xfrm>
                <a:off x="17722346" y="10815221"/>
                <a:ext cx="1450924" cy="3663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rm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387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数据类</a:t>
                </a:r>
                <a:r>
                  <a:rPr lang="en-US" altLang="zh-CN" sz="1387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sram</a:t>
                </a:r>
                <a:endParaRPr lang="en-US" sz="138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405" name="直接箭头连接符 404">
              <a:extLst>
                <a:ext uri="{FF2B5EF4-FFF2-40B4-BE49-F238E27FC236}">
                  <a16:creationId xmlns:a16="http://schemas.microsoft.com/office/drawing/2014/main" id="{226D1A02-214A-BD6A-5478-EE7CD401BD5C}"/>
                </a:ext>
              </a:extLst>
            </p:cNvPr>
            <p:cNvCxnSpPr>
              <a:cxnSpLocks/>
              <a:endCxn id="381" idx="1"/>
            </p:cNvCxnSpPr>
            <p:nvPr/>
          </p:nvCxnSpPr>
          <p:spPr>
            <a:xfrm>
              <a:off x="8682699" y="6116519"/>
              <a:ext cx="520923" cy="0"/>
            </a:xfrm>
            <a:prstGeom prst="straightConnector1">
              <a:avLst/>
            </a:prstGeom>
            <a:ln w="34925">
              <a:solidFill>
                <a:srgbClr val="657E9A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箭头连接符 406">
              <a:extLst>
                <a:ext uri="{FF2B5EF4-FFF2-40B4-BE49-F238E27FC236}">
                  <a16:creationId xmlns:a16="http://schemas.microsoft.com/office/drawing/2014/main" id="{509930E7-79EA-5147-FD3B-A1CB65DBCCC4}"/>
                </a:ext>
              </a:extLst>
            </p:cNvPr>
            <p:cNvCxnSpPr>
              <a:stCxn id="368" idx="2"/>
            </p:cNvCxnSpPr>
            <p:nvPr/>
          </p:nvCxnSpPr>
          <p:spPr>
            <a:xfrm>
              <a:off x="11240894" y="5063508"/>
              <a:ext cx="0" cy="808119"/>
            </a:xfrm>
            <a:prstGeom prst="straightConnector1">
              <a:avLst/>
            </a:prstGeom>
            <a:ln w="34925">
              <a:solidFill>
                <a:srgbClr val="657E9A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连接符: 肘形 410">
              <a:extLst>
                <a:ext uri="{FF2B5EF4-FFF2-40B4-BE49-F238E27FC236}">
                  <a16:creationId xmlns:a16="http://schemas.microsoft.com/office/drawing/2014/main" id="{72CDF17B-4031-ECAD-BD47-B0284CB9D9B7}"/>
                </a:ext>
              </a:extLst>
            </p:cNvPr>
            <p:cNvCxnSpPr>
              <a:stCxn id="350" idx="2"/>
            </p:cNvCxnSpPr>
            <p:nvPr/>
          </p:nvCxnSpPr>
          <p:spPr>
            <a:xfrm rot="5400000" flipH="1" flipV="1">
              <a:off x="9935293" y="4704097"/>
              <a:ext cx="572057" cy="1161748"/>
            </a:xfrm>
            <a:prstGeom prst="bentConnector4">
              <a:avLst>
                <a:gd name="adj1" fmla="val -21313"/>
                <a:gd name="adj2" fmla="val 99625"/>
              </a:avLst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6D734E5-9A94-BE9A-D8E2-E2A2BC1DD9E1}"/>
                </a:ext>
              </a:extLst>
            </p:cNvPr>
            <p:cNvCxnSpPr>
              <a:cxnSpLocks/>
            </p:cNvCxnSpPr>
            <p:nvPr/>
          </p:nvCxnSpPr>
          <p:spPr>
            <a:xfrm>
              <a:off x="477389" y="5282467"/>
              <a:ext cx="340449" cy="0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A244C036-FF85-8D1B-0ECA-B85DF4923C75}"/>
                </a:ext>
              </a:extLst>
            </p:cNvPr>
            <p:cNvCxnSpPr>
              <a:cxnSpLocks/>
            </p:cNvCxnSpPr>
            <p:nvPr/>
          </p:nvCxnSpPr>
          <p:spPr>
            <a:xfrm>
              <a:off x="3394445" y="5289087"/>
              <a:ext cx="340449" cy="0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8116AA92-8AC1-4D78-F25F-5651428C82CA}"/>
                </a:ext>
              </a:extLst>
            </p:cNvPr>
            <p:cNvCxnSpPr>
              <a:cxnSpLocks/>
              <a:stCxn id="287" idx="3"/>
              <a:endCxn id="297" idx="1"/>
            </p:cNvCxnSpPr>
            <p:nvPr/>
          </p:nvCxnSpPr>
          <p:spPr>
            <a:xfrm>
              <a:off x="1941546" y="5348574"/>
              <a:ext cx="705689" cy="16881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F574C0B7-A7E7-EB20-8E82-2C97CDBA45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7028" y="1486051"/>
              <a:ext cx="214029" cy="7768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78D55F96-73C4-9CAD-2997-60EC6939EF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1263" y="1492738"/>
              <a:ext cx="214029" cy="7768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283BDC76-4881-B27F-DD60-4C7E5D1DF303}"/>
                </a:ext>
              </a:extLst>
            </p:cNvPr>
            <p:cNvCxnSpPr>
              <a:cxnSpLocks/>
            </p:cNvCxnSpPr>
            <p:nvPr/>
          </p:nvCxnSpPr>
          <p:spPr>
            <a:xfrm>
              <a:off x="11026865" y="1520681"/>
              <a:ext cx="310995" cy="0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AACA79F-8673-2CC1-A7BC-0BC0D39158B1}"/>
                </a:ext>
              </a:extLst>
            </p:cNvPr>
            <p:cNvSpPr/>
            <p:nvPr/>
          </p:nvSpPr>
          <p:spPr>
            <a:xfrm>
              <a:off x="7699270" y="4159024"/>
              <a:ext cx="1232085" cy="443199"/>
            </a:xfrm>
            <a:prstGeom prst="rect">
              <a:avLst/>
            </a:prstGeom>
            <a:solidFill>
              <a:srgbClr val="2B4663">
                <a:lumMod val="50000"/>
              </a:srgbClr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8B729BA-2670-E8C0-525A-D5F3F6727CE0}"/>
                </a:ext>
              </a:extLst>
            </p:cNvPr>
            <p:cNvSpPr txBox="1"/>
            <p:nvPr/>
          </p:nvSpPr>
          <p:spPr>
            <a:xfrm>
              <a:off x="7725258" y="4237204"/>
              <a:ext cx="1144464" cy="3220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r>
                <a:rPr lang="en-US" altLang="zh-CN" sz="1493" b="1" i="1" dirty="0">
                  <a:solidFill>
                    <a:prstClr val="white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Scoreboard</a:t>
              </a:r>
              <a:endParaRPr lang="zh-CN" altLang="en-US" sz="1493" b="1" i="1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C659331E-DBE8-B3F7-90C7-E1F30FDE4072}"/>
                </a:ext>
              </a:extLst>
            </p:cNvPr>
            <p:cNvSpPr/>
            <p:nvPr/>
          </p:nvSpPr>
          <p:spPr>
            <a:xfrm>
              <a:off x="9755239" y="4216028"/>
              <a:ext cx="605982" cy="19852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 fontScale="92500" lnSpcReduction="10000"/>
            </a:bodyPr>
            <a:lstStyle/>
            <a:p>
              <a:pPr algn="ctr"/>
              <a:r>
                <a:rPr lang="en-US" altLang="zh-CN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WB</a:t>
              </a:r>
              <a:endParaRPr lang="en-US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6F702575-E0B6-C9EB-1F02-DC97DFC45B7C}"/>
                </a:ext>
              </a:extLst>
            </p:cNvPr>
            <p:cNvSpPr/>
            <p:nvPr/>
          </p:nvSpPr>
          <p:spPr>
            <a:xfrm>
              <a:off x="7752555" y="4698782"/>
              <a:ext cx="557256" cy="19852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85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WBQ</a:t>
              </a:r>
              <a:r>
                <a:rPr lang="zh-CN" altLang="en-US" sz="85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入队</a:t>
              </a:r>
              <a:endParaRPr lang="en-US" sz="85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94AFFE5-50A3-C2CD-0018-073C7B1B0110}"/>
                </a:ext>
              </a:extLst>
            </p:cNvPr>
            <p:cNvCxnSpPr>
              <a:cxnSpLocks/>
              <a:endCxn id="25" idx="2"/>
            </p:cNvCxnSpPr>
            <p:nvPr/>
          </p:nvCxnSpPr>
          <p:spPr>
            <a:xfrm flipV="1">
              <a:off x="8309811" y="4602223"/>
              <a:ext cx="5502" cy="302739"/>
            </a:xfrm>
            <a:prstGeom prst="straightConnector1">
              <a:avLst/>
            </a:prstGeom>
            <a:ln w="34925">
              <a:solidFill>
                <a:srgbClr val="F1962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483A9963-AE88-B16B-B86D-5A4683DF3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793" y="4602223"/>
              <a:ext cx="0" cy="968777"/>
            </a:xfrm>
            <a:prstGeom prst="straightConnector1">
              <a:avLst/>
            </a:prstGeom>
            <a:ln w="34925">
              <a:solidFill>
                <a:srgbClr val="F1962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10">
              <a:extLst>
                <a:ext uri="{FF2B5EF4-FFF2-40B4-BE49-F238E27FC236}">
                  <a16:creationId xmlns:a16="http://schemas.microsoft.com/office/drawing/2014/main" id="{4F095F35-5A7E-BC2A-03A5-AA269A56E243}"/>
                </a:ext>
              </a:extLst>
            </p:cNvPr>
            <p:cNvSpPr/>
            <p:nvPr/>
          </p:nvSpPr>
          <p:spPr>
            <a:xfrm>
              <a:off x="8193911" y="5349676"/>
              <a:ext cx="557256" cy="19852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85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LQ</a:t>
              </a:r>
              <a:r>
                <a:rPr lang="zh-CN" altLang="en-US" sz="85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数据返回</a:t>
              </a:r>
              <a:endParaRPr lang="en-US" sz="85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1" name="连接符: 肘形 60">
              <a:extLst>
                <a:ext uri="{FF2B5EF4-FFF2-40B4-BE49-F238E27FC236}">
                  <a16:creationId xmlns:a16="http://schemas.microsoft.com/office/drawing/2014/main" id="{CF08D6DB-E836-0186-649D-2CA57AF98B55}"/>
                </a:ext>
              </a:extLst>
            </p:cNvPr>
            <p:cNvCxnSpPr/>
            <p:nvPr/>
          </p:nvCxnSpPr>
          <p:spPr>
            <a:xfrm rot="10800000">
              <a:off x="8943160" y="4395377"/>
              <a:ext cx="399762" cy="270913"/>
            </a:xfrm>
            <a:prstGeom prst="bentConnector3">
              <a:avLst>
                <a:gd name="adj1" fmla="val 240"/>
              </a:avLst>
            </a:prstGeom>
            <a:ln w="34925">
              <a:solidFill>
                <a:srgbClr val="F1962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 10">
              <a:extLst>
                <a:ext uri="{FF2B5EF4-FFF2-40B4-BE49-F238E27FC236}">
                  <a16:creationId xmlns:a16="http://schemas.microsoft.com/office/drawing/2014/main" id="{FBF176B7-0B07-AFC1-D81F-8FECE6E66941}"/>
                </a:ext>
              </a:extLst>
            </p:cNvPr>
            <p:cNvSpPr/>
            <p:nvPr/>
          </p:nvSpPr>
          <p:spPr>
            <a:xfrm>
              <a:off x="9071708" y="4243453"/>
              <a:ext cx="557256" cy="19852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85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WBQ</a:t>
              </a:r>
              <a:r>
                <a:rPr lang="zh-CN" altLang="en-US" sz="85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队首退休</a:t>
              </a:r>
              <a:endParaRPr lang="en-US" sz="85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0" name="连接符: 肘形 29">
              <a:extLst>
                <a:ext uri="{FF2B5EF4-FFF2-40B4-BE49-F238E27FC236}">
                  <a16:creationId xmlns:a16="http://schemas.microsoft.com/office/drawing/2014/main" id="{FE16F09D-3E83-A22E-0A21-EC39303A22BD}"/>
                </a:ext>
              </a:extLst>
            </p:cNvPr>
            <p:cNvCxnSpPr>
              <a:cxnSpLocks/>
              <a:stCxn id="118" idx="3"/>
              <a:endCxn id="219" idx="1"/>
            </p:cNvCxnSpPr>
            <p:nvPr/>
          </p:nvCxnSpPr>
          <p:spPr>
            <a:xfrm>
              <a:off x="6417295" y="1426077"/>
              <a:ext cx="1087438" cy="1484654"/>
            </a:xfrm>
            <a:prstGeom prst="bentConnector3">
              <a:avLst>
                <a:gd name="adj1" fmla="val 50000"/>
              </a:avLst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 10">
            <a:extLst>
              <a:ext uri="{FF2B5EF4-FFF2-40B4-BE49-F238E27FC236}">
                <a16:creationId xmlns:a16="http://schemas.microsoft.com/office/drawing/2014/main" id="{9E86EA24-4339-0719-91D9-B3D9D0D7764B}"/>
              </a:ext>
            </a:extLst>
          </p:cNvPr>
          <p:cNvSpPr/>
          <p:nvPr/>
        </p:nvSpPr>
        <p:spPr>
          <a:xfrm>
            <a:off x="2483660" y="6153437"/>
            <a:ext cx="1027757" cy="420543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algn="ctr"/>
            <a:r>
              <a:rPr lang="zh-CN" alt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精确跳转</a:t>
            </a:r>
            <a:endParaRPr lang="en-US" altLang="zh-CN" sz="1280" b="1" dirty="0">
              <a:solidFill>
                <a:srgbClr val="17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B2A3F-AD3B-C816-B44D-D39532D79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3A777927-906A-2BBF-9426-AB518B4E552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597104" y="6047735"/>
            <a:ext cx="997792" cy="73599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1D5279C-529F-781C-D5A2-07FF44D805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grpSp>
        <p:nvGrpSpPr>
          <p:cNvPr id="112" name="Group 2">
            <a:extLst>
              <a:ext uri="{FF2B5EF4-FFF2-40B4-BE49-F238E27FC236}">
                <a16:creationId xmlns:a16="http://schemas.microsoft.com/office/drawing/2014/main" id="{A73890E4-4AAC-6A2A-20E9-D3439889A50F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117" name="Freeform 3">
              <a:extLst>
                <a:ext uri="{FF2B5EF4-FFF2-40B4-BE49-F238E27FC236}">
                  <a16:creationId xmlns:a16="http://schemas.microsoft.com/office/drawing/2014/main" id="{E0ADF244-DE76-CA4F-EB16-2F0499EDD17C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118" name="TextBox 4">
              <a:extLst>
                <a:ext uri="{FF2B5EF4-FFF2-40B4-BE49-F238E27FC236}">
                  <a16:creationId xmlns:a16="http://schemas.microsoft.com/office/drawing/2014/main" id="{8A609DA9-F998-84FF-BE20-0A3C0248676A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113" name="TextBox 19">
            <a:extLst>
              <a:ext uri="{FF2B5EF4-FFF2-40B4-BE49-F238E27FC236}">
                <a16:creationId xmlns:a16="http://schemas.microsoft.com/office/drawing/2014/main" id="{C6011D0E-DC2E-2DFB-8DF6-1D2EAEA31BD8}"/>
              </a:ext>
            </a:extLst>
          </p:cNvPr>
          <p:cNvSpPr txBox="1"/>
          <p:nvPr/>
        </p:nvSpPr>
        <p:spPr>
          <a:xfrm>
            <a:off x="1184703" y="226295"/>
            <a:ext cx="2071888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zh-CN" altLang="en-US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分支预测</a:t>
            </a:r>
            <a:endParaRPr lang="en-US" sz="24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梯形 113">
            <a:extLst>
              <a:ext uri="{FF2B5EF4-FFF2-40B4-BE49-F238E27FC236}">
                <a16:creationId xmlns:a16="http://schemas.microsoft.com/office/drawing/2014/main" id="{69F287F0-3EF3-E9F1-4F3C-7C09AB62CB57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115" name="梯形 114">
            <a:extLst>
              <a:ext uri="{FF2B5EF4-FFF2-40B4-BE49-F238E27FC236}">
                <a16:creationId xmlns:a16="http://schemas.microsoft.com/office/drawing/2014/main" id="{F2BC4DE6-261B-3E3F-84D2-E1F163D43078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2E73E6A-99B8-11D7-DE3B-C4C3AEE54FFC}"/>
              </a:ext>
            </a:extLst>
          </p:cNvPr>
          <p:cNvGrpSpPr/>
          <p:nvPr/>
        </p:nvGrpSpPr>
        <p:grpSpPr>
          <a:xfrm>
            <a:off x="226627" y="882739"/>
            <a:ext cx="9923504" cy="4188655"/>
            <a:chOff x="969784" y="2138312"/>
            <a:chExt cx="9923504" cy="418865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A80C993-F0EB-7AC2-1280-7292EF0502FB}"/>
                </a:ext>
              </a:extLst>
            </p:cNvPr>
            <p:cNvSpPr/>
            <p:nvPr/>
          </p:nvSpPr>
          <p:spPr>
            <a:xfrm>
              <a:off x="6100550" y="4972947"/>
              <a:ext cx="4792738" cy="1320995"/>
            </a:xfrm>
            <a:prstGeom prst="roundRect">
              <a:avLst>
                <a:gd name="adj" fmla="val 15000"/>
              </a:avLst>
            </a:prstGeom>
            <a:solidFill>
              <a:srgbClr val="2B4663">
                <a:lumMod val="20000"/>
                <a:lumOff val="80000"/>
              </a:srgbClr>
            </a:solidFill>
            <a:ln w="38100" cap="flat" cmpd="sng" algn="ctr">
              <a:solidFill>
                <a:srgbClr val="000000"/>
              </a:solidFill>
              <a:prstDash val="dash"/>
              <a:miter lim="800000"/>
            </a:ln>
            <a:effectLst/>
          </p:spPr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0F131ED-58BD-62AB-89DD-BE0D1952B9F5}"/>
                </a:ext>
              </a:extLst>
            </p:cNvPr>
            <p:cNvSpPr/>
            <p:nvPr/>
          </p:nvSpPr>
          <p:spPr>
            <a:xfrm>
              <a:off x="969784" y="5005972"/>
              <a:ext cx="4931570" cy="1320995"/>
            </a:xfrm>
            <a:prstGeom prst="roundRect">
              <a:avLst>
                <a:gd name="adj" fmla="val 14999"/>
              </a:avLst>
            </a:prstGeom>
            <a:solidFill>
              <a:srgbClr val="2B4663">
                <a:lumMod val="20000"/>
                <a:lumOff val="80000"/>
              </a:srgbClr>
            </a:solidFill>
            <a:ln w="38100" cap="flat" cmpd="sng" algn="ctr">
              <a:solidFill>
                <a:srgbClr val="000000"/>
              </a:solidFill>
              <a:prstDash val="dash"/>
              <a:miter lim="800000"/>
            </a:ln>
            <a:effectLst/>
          </p:spPr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509D7C5-4E62-365D-463C-24CCBA96AC83}"/>
                </a:ext>
              </a:extLst>
            </p:cNvPr>
            <p:cNvSpPr/>
            <p:nvPr/>
          </p:nvSpPr>
          <p:spPr>
            <a:xfrm>
              <a:off x="7440585" y="2143817"/>
              <a:ext cx="3452703" cy="2531907"/>
            </a:xfrm>
            <a:prstGeom prst="roundRect">
              <a:avLst>
                <a:gd name="adj" fmla="val 15000"/>
              </a:avLst>
            </a:prstGeom>
            <a:solidFill>
              <a:srgbClr val="94ACBC">
                <a:lumMod val="20000"/>
                <a:lumOff val="80000"/>
              </a:srgbClr>
            </a:solidFill>
            <a:ln w="38100" cap="flat" cmpd="sng" algn="ctr">
              <a:solidFill>
                <a:srgbClr val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000" b="1" kern="0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89FE6BB-FAD4-FBE2-9663-C8BDE7C06C5D}"/>
                </a:ext>
              </a:extLst>
            </p:cNvPr>
            <p:cNvSpPr/>
            <p:nvPr/>
          </p:nvSpPr>
          <p:spPr>
            <a:xfrm>
              <a:off x="1048255" y="2143817"/>
              <a:ext cx="6277643" cy="2311741"/>
            </a:xfrm>
            <a:prstGeom prst="roundRect">
              <a:avLst>
                <a:gd name="adj" fmla="val 15000"/>
              </a:avLst>
            </a:prstGeom>
            <a:solidFill>
              <a:srgbClr val="94ACBC">
                <a:lumMod val="20000"/>
                <a:lumOff val="80000"/>
              </a:srgbClr>
            </a:solidFill>
            <a:ln w="38100" cap="flat" cmpd="sng" algn="ctr">
              <a:solidFill>
                <a:srgbClr val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000" b="1" kern="0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8" name="图形 2">
              <a:extLst>
                <a:ext uri="{FF2B5EF4-FFF2-40B4-BE49-F238E27FC236}">
                  <a16:creationId xmlns:a16="http://schemas.microsoft.com/office/drawing/2014/main" id="{C3E0EE2C-01B9-63F9-CABC-B02DCC3C0F94}"/>
                </a:ext>
              </a:extLst>
            </p:cNvPr>
            <p:cNvGrpSpPr/>
            <p:nvPr/>
          </p:nvGrpSpPr>
          <p:grpSpPr>
            <a:xfrm>
              <a:off x="1392318" y="2474065"/>
              <a:ext cx="1448688" cy="660497"/>
              <a:chOff x="2512218" y="1905000"/>
              <a:chExt cx="1143000" cy="571500"/>
            </a:xfrm>
          </p:grpSpPr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68CA452A-D290-957E-01FA-4E8B8D58DCC7}"/>
                  </a:ext>
                </a:extLst>
              </p:cNvPr>
              <p:cNvSpPr/>
              <p:nvPr/>
            </p:nvSpPr>
            <p:spPr>
              <a:xfrm>
                <a:off x="2512218" y="1905000"/>
                <a:ext cx="1143000" cy="571500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1000" b="1" kern="0">
                  <a:solidFill>
                    <a:prstClr val="white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C740FCE5-E71B-2D57-E707-21E4E7DE66CB}"/>
                  </a:ext>
                </a:extLst>
              </p:cNvPr>
              <p:cNvSpPr txBox="1"/>
              <p:nvPr/>
            </p:nvSpPr>
            <p:spPr>
              <a:xfrm>
                <a:off x="2791444" y="2052663"/>
                <a:ext cx="570261" cy="242295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微软雅黑"/>
                  </a:rPr>
                  <a:t>当前</a:t>
                </a:r>
                <a:r>
                  <a:rPr lang="zh-CN" altLang="en-US" sz="1000" i="0" dirty="0">
                    <a:sym typeface="Helvetica"/>
                  </a:rPr>
                  <a:t>PC</a:t>
                </a:r>
              </a:p>
            </p:txBody>
          </p:sp>
        </p:grpSp>
        <p:grpSp>
          <p:nvGrpSpPr>
            <p:cNvPr id="9" name="图形 2">
              <a:extLst>
                <a:ext uri="{FF2B5EF4-FFF2-40B4-BE49-F238E27FC236}">
                  <a16:creationId xmlns:a16="http://schemas.microsoft.com/office/drawing/2014/main" id="{D9F7F05F-51A9-8CEE-AE3B-F685CB5381E0}"/>
                </a:ext>
              </a:extLst>
            </p:cNvPr>
            <p:cNvGrpSpPr/>
            <p:nvPr/>
          </p:nvGrpSpPr>
          <p:grpSpPr>
            <a:xfrm>
              <a:off x="3323904" y="2474065"/>
              <a:ext cx="1448688" cy="660497"/>
              <a:chOff x="4036218" y="1905000"/>
              <a:chExt cx="1143000" cy="571500"/>
            </a:xfrm>
          </p:grpSpPr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FD3219B6-5B86-1A70-FB62-963608D73133}"/>
                  </a:ext>
                </a:extLst>
              </p:cNvPr>
              <p:cNvSpPr/>
              <p:nvPr/>
            </p:nvSpPr>
            <p:spPr>
              <a:xfrm>
                <a:off x="4036218" y="1905000"/>
                <a:ext cx="1143000" cy="571500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zh-CN" altLang="en-US" sz="1000" b="1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70AA9054-C44C-F9A4-64B6-B8ADC505BA76}"/>
                  </a:ext>
                </a:extLst>
              </p:cNvPr>
              <p:cNvSpPr txBox="1"/>
              <p:nvPr/>
            </p:nvSpPr>
            <p:spPr>
              <a:xfrm>
                <a:off x="4042279" y="1907709"/>
                <a:ext cx="1116590" cy="242295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Helvetica"/>
                  </a:rPr>
                  <a:t>BTB[128]</a:t>
                </a:r>
                <a:r>
                  <a:rPr lang="zh-CN" altLang="en-US" sz="1000" i="0" dirty="0">
                    <a:sym typeface="微软雅黑"/>
                  </a:rPr>
                  <a:t>直接映射</a:t>
                </a:r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FBEB18F4-71A2-32BE-6FBA-84303A3E5E86}"/>
                  </a:ext>
                </a:extLst>
              </p:cNvPr>
              <p:cNvSpPr txBox="1"/>
              <p:nvPr/>
            </p:nvSpPr>
            <p:spPr>
              <a:xfrm>
                <a:off x="4051888" y="2087475"/>
                <a:ext cx="1099523" cy="242295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Helvetica"/>
                  </a:rPr>
                  <a:t>type</a:t>
                </a:r>
                <a:r>
                  <a:rPr lang="zh-CN" altLang="en-US" sz="1000" i="0" dirty="0">
                    <a:sym typeface="微软雅黑"/>
                  </a:rPr>
                  <a:t>：条件</a:t>
                </a:r>
                <a:r>
                  <a:rPr lang="zh-CN" altLang="en-US" sz="1000" i="0" dirty="0">
                    <a:sym typeface="Helvetica"/>
                  </a:rPr>
                  <a:t>/</a:t>
                </a:r>
                <a:r>
                  <a:rPr lang="zh-CN" altLang="en-US" sz="1000" i="0" dirty="0">
                    <a:sym typeface="微软雅黑"/>
                  </a:rPr>
                  <a:t>直接跳转</a:t>
                </a:r>
              </a:p>
            </p:txBody>
          </p:sp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840B15A6-D370-1908-8F97-3B3FEFB52105}"/>
                  </a:ext>
                </a:extLst>
              </p:cNvPr>
              <p:cNvSpPr txBox="1"/>
              <p:nvPr/>
            </p:nvSpPr>
            <p:spPr>
              <a:xfrm>
                <a:off x="4036450" y="2291986"/>
                <a:ext cx="1137675" cy="165712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Helvetica"/>
                  </a:rPr>
                  <a:t>call/return/</a:t>
                </a:r>
                <a:r>
                  <a:rPr lang="zh-CN" altLang="en-US" sz="1000" i="0" dirty="0">
                    <a:sym typeface="微软雅黑"/>
                  </a:rPr>
                  <a:t>间接跳转</a:t>
                </a:r>
              </a:p>
            </p:txBody>
          </p:sp>
        </p:grpSp>
        <p:grpSp>
          <p:nvGrpSpPr>
            <p:cNvPr id="10" name="图形 2">
              <a:extLst>
                <a:ext uri="{FF2B5EF4-FFF2-40B4-BE49-F238E27FC236}">
                  <a16:creationId xmlns:a16="http://schemas.microsoft.com/office/drawing/2014/main" id="{8254B724-1289-E25B-7B07-329CE19145D8}"/>
                </a:ext>
              </a:extLst>
            </p:cNvPr>
            <p:cNvGrpSpPr/>
            <p:nvPr/>
          </p:nvGrpSpPr>
          <p:grpSpPr>
            <a:xfrm>
              <a:off x="3323903" y="3684982"/>
              <a:ext cx="1448688" cy="660498"/>
              <a:chOff x="4036218" y="2952750"/>
              <a:chExt cx="1143000" cy="571500"/>
            </a:xfrm>
          </p:grpSpPr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C56A012D-19A2-8766-D886-9F7B2F30496B}"/>
                  </a:ext>
                </a:extLst>
              </p:cNvPr>
              <p:cNvSpPr/>
              <p:nvPr/>
            </p:nvSpPr>
            <p:spPr>
              <a:xfrm>
                <a:off x="4036218" y="2952750"/>
                <a:ext cx="1143000" cy="571500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zh-CN" altLang="en-US" sz="1000" b="1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44C5A6ED-0140-B3F9-A9FF-A87F7B3E8897}"/>
                  </a:ext>
                </a:extLst>
              </p:cNvPr>
              <p:cNvSpPr txBox="1"/>
              <p:nvPr/>
            </p:nvSpPr>
            <p:spPr>
              <a:xfrm>
                <a:off x="4061143" y="2984532"/>
                <a:ext cx="1078862" cy="115246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Helvetica"/>
                  </a:rPr>
                  <a:t>branch_pattern[5]</a:t>
                </a:r>
              </a:p>
            </p:txBody>
          </p:sp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5D1709A9-FAE2-16B7-B112-B5BADEE079A9}"/>
                  </a:ext>
                </a:extLst>
              </p:cNvPr>
              <p:cNvSpPr txBox="1"/>
              <p:nvPr/>
            </p:nvSpPr>
            <p:spPr>
              <a:xfrm>
                <a:off x="4052178" y="3108880"/>
                <a:ext cx="1058397" cy="237890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微软雅黑"/>
                  </a:rPr>
                  <a:t>包含上次真实方向与</a:t>
                </a:r>
              </a:p>
            </p:txBody>
          </p:sp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39E52ADF-24E5-38BA-DC35-DB9FD46A42F9}"/>
                  </a:ext>
                </a:extLst>
              </p:cNvPr>
              <p:cNvSpPr txBox="1"/>
              <p:nvPr/>
            </p:nvSpPr>
            <p:spPr>
              <a:xfrm>
                <a:off x="4054563" y="3277462"/>
                <a:ext cx="982980" cy="226560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微软雅黑"/>
                  </a:rPr>
                  <a:t>两个两位计数器</a:t>
                </a:r>
              </a:p>
            </p:txBody>
          </p:sp>
        </p:grpSp>
        <p:grpSp>
          <p:nvGrpSpPr>
            <p:cNvPr id="11" name="图形 2">
              <a:extLst>
                <a:ext uri="{FF2B5EF4-FFF2-40B4-BE49-F238E27FC236}">
                  <a16:creationId xmlns:a16="http://schemas.microsoft.com/office/drawing/2014/main" id="{586975A8-6B6D-991B-0800-E071BC5DFE59}"/>
                </a:ext>
              </a:extLst>
            </p:cNvPr>
            <p:cNvGrpSpPr/>
            <p:nvPr/>
          </p:nvGrpSpPr>
          <p:grpSpPr>
            <a:xfrm>
              <a:off x="5617654" y="3684977"/>
              <a:ext cx="1448688" cy="660497"/>
              <a:chOff x="5845968" y="2952750"/>
              <a:chExt cx="1143000" cy="571500"/>
            </a:xfrm>
          </p:grpSpPr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6546A02A-94EF-BE30-67E8-95BB0099F38B}"/>
                  </a:ext>
                </a:extLst>
              </p:cNvPr>
              <p:cNvSpPr/>
              <p:nvPr/>
            </p:nvSpPr>
            <p:spPr>
              <a:xfrm>
                <a:off x="5845968" y="2952750"/>
                <a:ext cx="1143000" cy="571500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zh-CN" altLang="en-US" sz="1000" b="1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DC78E049-1F01-B276-7CAF-8AD04DA87898}"/>
                  </a:ext>
                </a:extLst>
              </p:cNvPr>
              <p:cNvSpPr txBox="1"/>
              <p:nvPr/>
            </p:nvSpPr>
            <p:spPr>
              <a:xfrm>
                <a:off x="5960023" y="3100413"/>
                <a:ext cx="900603" cy="242295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>
                    <a:sym typeface="Helvetica"/>
                  </a:rPr>
                  <a:t>Next_PC </a:t>
                </a:r>
                <a:r>
                  <a:rPr lang="zh-CN" altLang="en-US" sz="1000" i="0">
                    <a:sym typeface="微软雅黑"/>
                  </a:rPr>
                  <a:t>选择</a:t>
                </a:r>
              </a:p>
            </p:txBody>
          </p:sp>
        </p:grpSp>
        <p:grpSp>
          <p:nvGrpSpPr>
            <p:cNvPr id="12" name="图形 2">
              <a:extLst>
                <a:ext uri="{FF2B5EF4-FFF2-40B4-BE49-F238E27FC236}">
                  <a16:creationId xmlns:a16="http://schemas.microsoft.com/office/drawing/2014/main" id="{7284D8A4-9777-6783-4075-4BE0C3F5E52F}"/>
                </a:ext>
              </a:extLst>
            </p:cNvPr>
            <p:cNvGrpSpPr/>
            <p:nvPr/>
          </p:nvGrpSpPr>
          <p:grpSpPr>
            <a:xfrm>
              <a:off x="5617661" y="2374032"/>
              <a:ext cx="1544196" cy="787916"/>
              <a:chOff x="5845967" y="1900263"/>
              <a:chExt cx="1143000" cy="671486"/>
            </a:xfrm>
          </p:grpSpPr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CE168015-E997-CEAE-86E4-26D952710CF1}"/>
                  </a:ext>
                </a:extLst>
              </p:cNvPr>
              <p:cNvSpPr/>
              <p:nvPr/>
            </p:nvSpPr>
            <p:spPr>
              <a:xfrm>
                <a:off x="5845967" y="1904999"/>
                <a:ext cx="1143000" cy="666750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zh-CN" altLang="en-US" sz="1000" b="1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CC85F42B-4F70-3459-951A-02925289DA77}"/>
                  </a:ext>
                </a:extLst>
              </p:cNvPr>
              <p:cNvSpPr txBox="1"/>
              <p:nvPr/>
            </p:nvSpPr>
            <p:spPr>
              <a:xfrm>
                <a:off x="6080657" y="1900263"/>
                <a:ext cx="659334" cy="162905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Helvetica"/>
                  </a:rPr>
                  <a:t>16</a:t>
                </a:r>
                <a:r>
                  <a:rPr lang="zh-CN" altLang="en-US" sz="1000" i="0" dirty="0">
                    <a:sym typeface="微软雅黑"/>
                  </a:rPr>
                  <a:t>项</a:t>
                </a:r>
                <a:r>
                  <a:rPr lang="zh-CN" altLang="en-US" sz="1000" i="0" dirty="0">
                    <a:sym typeface="Helvetica"/>
                  </a:rPr>
                  <a:t>RAS</a:t>
                </a:r>
              </a:p>
            </p:txBody>
          </p:sp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C103154F-70A1-7C17-240D-C362FB028FFA}"/>
                  </a:ext>
                </a:extLst>
              </p:cNvPr>
              <p:cNvSpPr txBox="1"/>
              <p:nvPr/>
            </p:nvSpPr>
            <p:spPr>
              <a:xfrm>
                <a:off x="5917132" y="2033613"/>
                <a:ext cx="986384" cy="149461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Helvetica"/>
                  </a:rPr>
                  <a:t>call</a:t>
                </a:r>
                <a:r>
                  <a:rPr lang="zh-CN" altLang="en-US" sz="1000" i="0" dirty="0">
                    <a:sym typeface="微软雅黑"/>
                  </a:rPr>
                  <a:t>：保存</a:t>
                </a:r>
                <a:r>
                  <a:rPr lang="zh-CN" altLang="en-US" sz="1000" i="0" dirty="0">
                    <a:sym typeface="Helvetica"/>
                  </a:rPr>
                  <a:t>PC+4</a:t>
                </a:r>
              </a:p>
            </p:txBody>
          </p:sp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C5DDE1AA-FD6C-A98B-B7EA-BA10D9B35187}"/>
                  </a:ext>
                </a:extLst>
              </p:cNvPr>
              <p:cNvSpPr txBox="1"/>
              <p:nvPr/>
            </p:nvSpPr>
            <p:spPr>
              <a:xfrm>
                <a:off x="5873823" y="2182434"/>
                <a:ext cx="1076803" cy="129586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Helvetica"/>
                  </a:rPr>
                  <a:t>return</a:t>
                </a:r>
                <a:r>
                  <a:rPr lang="zh-CN" altLang="en-US" sz="1000" i="0" dirty="0">
                    <a:sym typeface="微软雅黑"/>
                  </a:rPr>
                  <a:t>：优先使用栈顶</a:t>
                </a:r>
              </a:p>
            </p:txBody>
          </p:sp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220FC9D6-4C9B-33C6-C3D4-5A5E8903BB6F}"/>
                  </a:ext>
                </a:extLst>
              </p:cNvPr>
              <p:cNvSpPr txBox="1"/>
              <p:nvPr/>
            </p:nvSpPr>
            <p:spPr>
              <a:xfrm>
                <a:off x="5865074" y="2320136"/>
                <a:ext cx="1086060" cy="165798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pPr algn="l"/>
                <a:r>
                  <a:rPr lang="zh-CN" altLang="en-US" sz="1000" i="0" dirty="0">
                    <a:sym typeface="微软雅黑"/>
                  </a:rPr>
                  <a:t>空栈则退回</a:t>
                </a:r>
                <a:r>
                  <a:rPr lang="zh-CN" altLang="en-US" sz="1000" i="0" dirty="0">
                    <a:sym typeface="Helvetica"/>
                  </a:rPr>
                  <a:t>BTB target</a:t>
                </a:r>
              </a:p>
            </p:txBody>
          </p:sp>
        </p:grpSp>
        <p:grpSp>
          <p:nvGrpSpPr>
            <p:cNvPr id="13" name="图形 2">
              <a:extLst>
                <a:ext uri="{FF2B5EF4-FFF2-40B4-BE49-F238E27FC236}">
                  <a16:creationId xmlns:a16="http://schemas.microsoft.com/office/drawing/2014/main" id="{64AE0C49-47A6-1800-E204-1F8A9669B9E4}"/>
                </a:ext>
              </a:extLst>
            </p:cNvPr>
            <p:cNvGrpSpPr/>
            <p:nvPr/>
          </p:nvGrpSpPr>
          <p:grpSpPr>
            <a:xfrm>
              <a:off x="7549236" y="2474065"/>
              <a:ext cx="1448688" cy="660497"/>
              <a:chOff x="7369968" y="1905000"/>
              <a:chExt cx="1143000" cy="571500"/>
            </a:xfrm>
          </p:grpSpPr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BD78A01F-BEC9-610C-E74B-0C82240A5B78}"/>
                  </a:ext>
                </a:extLst>
              </p:cNvPr>
              <p:cNvSpPr/>
              <p:nvPr/>
            </p:nvSpPr>
            <p:spPr>
              <a:xfrm>
                <a:off x="7369968" y="1905000"/>
                <a:ext cx="1143000" cy="571500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zh-CN" altLang="en-US" sz="1000" b="1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60528877-03D2-ED87-E2E1-54600876CA8B}"/>
                  </a:ext>
                </a:extLst>
              </p:cNvPr>
              <p:cNvSpPr txBox="1"/>
              <p:nvPr/>
            </p:nvSpPr>
            <p:spPr>
              <a:xfrm>
                <a:off x="7547535" y="1985988"/>
                <a:ext cx="773578" cy="242295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Helvetica"/>
                  </a:rPr>
                  <a:t>EX1 </a:t>
                </a:r>
                <a:r>
                  <a:rPr lang="zh-CN" altLang="en-US" sz="1000" i="0" dirty="0">
                    <a:sym typeface="微软雅黑"/>
                  </a:rPr>
                  <a:t>快修正</a:t>
                </a:r>
              </a:p>
            </p:txBody>
          </p:sp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D45373FE-C77A-5907-8B5C-AFC024A91000}"/>
                  </a:ext>
                </a:extLst>
              </p:cNvPr>
              <p:cNvSpPr txBox="1"/>
              <p:nvPr/>
            </p:nvSpPr>
            <p:spPr>
              <a:xfrm>
                <a:off x="7403859" y="2208301"/>
                <a:ext cx="1097280" cy="242295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>
                    <a:sym typeface="微软雅黑"/>
                  </a:rPr>
                  <a:t>（比较源操作数）</a:t>
                </a:r>
              </a:p>
            </p:txBody>
          </p:sp>
        </p:grpSp>
        <p:grpSp>
          <p:nvGrpSpPr>
            <p:cNvPr id="15" name="图形 2">
              <a:extLst>
                <a:ext uri="{FF2B5EF4-FFF2-40B4-BE49-F238E27FC236}">
                  <a16:creationId xmlns:a16="http://schemas.microsoft.com/office/drawing/2014/main" id="{B4621097-60A9-9F2C-8E2F-ABAA01F26017}"/>
                </a:ext>
              </a:extLst>
            </p:cNvPr>
            <p:cNvGrpSpPr/>
            <p:nvPr/>
          </p:nvGrpSpPr>
          <p:grpSpPr>
            <a:xfrm>
              <a:off x="9360094" y="2474065"/>
              <a:ext cx="1448688" cy="660497"/>
              <a:chOff x="8798718" y="1905000"/>
              <a:chExt cx="1143000" cy="571500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B2EF4982-33AD-52A7-C8AA-39DDC9FB9044}"/>
                  </a:ext>
                </a:extLst>
              </p:cNvPr>
              <p:cNvSpPr/>
              <p:nvPr/>
            </p:nvSpPr>
            <p:spPr>
              <a:xfrm>
                <a:off x="8798718" y="1905000"/>
                <a:ext cx="1143000" cy="571500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zh-CN" altLang="en-US" sz="1000" b="1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7624FC6-1434-C141-DA19-C4B4F355E9B1}"/>
                  </a:ext>
                </a:extLst>
              </p:cNvPr>
              <p:cNvSpPr txBox="1"/>
              <p:nvPr/>
            </p:nvSpPr>
            <p:spPr>
              <a:xfrm>
                <a:off x="8919135" y="2052663"/>
                <a:ext cx="887878" cy="242295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>
                    <a:sym typeface="Helvetica"/>
                  </a:rPr>
                  <a:t>EX2 </a:t>
                </a:r>
                <a:r>
                  <a:rPr lang="zh-CN" altLang="en-US" sz="1000" i="0">
                    <a:sym typeface="微软雅黑"/>
                  </a:rPr>
                  <a:t>完整解析</a:t>
                </a:r>
              </a:p>
            </p:txBody>
          </p:sp>
        </p:grpSp>
        <p:grpSp>
          <p:nvGrpSpPr>
            <p:cNvPr id="16" name="图形 2">
              <a:extLst>
                <a:ext uri="{FF2B5EF4-FFF2-40B4-BE49-F238E27FC236}">
                  <a16:creationId xmlns:a16="http://schemas.microsoft.com/office/drawing/2014/main" id="{EFB95445-9CAC-59D5-39CE-42B8863BCF23}"/>
                </a:ext>
              </a:extLst>
            </p:cNvPr>
            <p:cNvGrpSpPr/>
            <p:nvPr/>
          </p:nvGrpSpPr>
          <p:grpSpPr>
            <a:xfrm>
              <a:off x="9360094" y="3684977"/>
              <a:ext cx="1448688" cy="660497"/>
              <a:chOff x="8798718" y="2952750"/>
              <a:chExt cx="1143000" cy="571500"/>
            </a:xfrm>
          </p:grpSpPr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5D623FAE-C609-C933-9417-A15175B34E59}"/>
                  </a:ext>
                </a:extLst>
              </p:cNvPr>
              <p:cNvSpPr/>
              <p:nvPr/>
            </p:nvSpPr>
            <p:spPr>
              <a:xfrm>
                <a:off x="8798718" y="2952750"/>
                <a:ext cx="1143000" cy="571500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zh-CN" altLang="en-US" sz="1000" b="1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FD22850D-9FCC-5F8B-EEDD-A25C0F70BF8F}"/>
                  </a:ext>
                </a:extLst>
              </p:cNvPr>
              <p:cNvSpPr txBox="1"/>
              <p:nvPr/>
            </p:nvSpPr>
            <p:spPr>
              <a:xfrm>
                <a:off x="8963644" y="3100413"/>
                <a:ext cx="798861" cy="242295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>
                    <a:sym typeface="微软雅黑"/>
                  </a:rPr>
                  <a:t>完整</a:t>
                </a:r>
                <a:r>
                  <a:rPr lang="zh-CN" altLang="en-US" sz="1000" i="0">
                    <a:sym typeface="Helvetica"/>
                  </a:rPr>
                  <a:t>PC</a:t>
                </a:r>
                <a:r>
                  <a:rPr lang="zh-CN" altLang="en-US" sz="1000" i="0">
                    <a:sym typeface="微软雅黑"/>
                  </a:rPr>
                  <a:t>比较</a:t>
                </a:r>
              </a:p>
            </p:txBody>
          </p:sp>
        </p:grpSp>
        <p:grpSp>
          <p:nvGrpSpPr>
            <p:cNvPr id="21" name="图形 2">
              <a:extLst>
                <a:ext uri="{FF2B5EF4-FFF2-40B4-BE49-F238E27FC236}">
                  <a16:creationId xmlns:a16="http://schemas.microsoft.com/office/drawing/2014/main" id="{40FA306E-0EBB-E3A1-0D62-A7030E51A022}"/>
                </a:ext>
              </a:extLst>
            </p:cNvPr>
            <p:cNvGrpSpPr/>
            <p:nvPr/>
          </p:nvGrpSpPr>
          <p:grpSpPr>
            <a:xfrm>
              <a:off x="7549238" y="3684977"/>
              <a:ext cx="1448688" cy="660497"/>
              <a:chOff x="7369968" y="2952750"/>
              <a:chExt cx="1143000" cy="571500"/>
            </a:xfrm>
          </p:grpSpPr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E4768623-24BD-AC4D-6AFD-29A0362B6927}"/>
                  </a:ext>
                </a:extLst>
              </p:cNvPr>
              <p:cNvSpPr/>
              <p:nvPr/>
            </p:nvSpPr>
            <p:spPr>
              <a:xfrm>
                <a:off x="7369968" y="2952750"/>
                <a:ext cx="1143000" cy="571500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zh-CN" altLang="en-US" sz="1000" b="1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75BA8D92-697C-50D9-A18E-0C57FA1C5F8C}"/>
                  </a:ext>
                </a:extLst>
              </p:cNvPr>
              <p:cNvSpPr txBox="1"/>
              <p:nvPr/>
            </p:nvSpPr>
            <p:spPr>
              <a:xfrm>
                <a:off x="7557135" y="2967063"/>
                <a:ext cx="754380" cy="190733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微软雅黑"/>
                  </a:rPr>
                  <a:t>送入流水线</a:t>
                </a:r>
              </a:p>
            </p:txBody>
          </p:sp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1A8B150D-FFB0-BEAB-EE48-EC4873BD978F}"/>
                  </a:ext>
                </a:extLst>
              </p:cNvPr>
              <p:cNvSpPr txBox="1"/>
              <p:nvPr/>
            </p:nvSpPr>
            <p:spPr>
              <a:xfrm>
                <a:off x="7391346" y="3142960"/>
                <a:ext cx="1094982" cy="191795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微软雅黑"/>
                  </a:rPr>
                  <a:t>预测时，</a:t>
                </a:r>
                <a:r>
                  <a:rPr lang="zh-CN" altLang="en-US" sz="1000" i="0" dirty="0">
                    <a:sym typeface="Helvetica"/>
                  </a:rPr>
                  <a:t>history</a:t>
                </a:r>
                <a:r>
                  <a:rPr lang="zh-CN" altLang="en-US" sz="1000" i="0" dirty="0">
                    <a:sym typeface="微软雅黑"/>
                  </a:rPr>
                  <a:t>与原</a:t>
                </a:r>
              </a:p>
            </p:txBody>
          </p:sp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A3B6BBFF-A064-AF19-B844-83CCCEF44EBD}"/>
                  </a:ext>
                </a:extLst>
              </p:cNvPr>
              <p:cNvSpPr txBox="1"/>
              <p:nvPr/>
            </p:nvSpPr>
            <p:spPr>
              <a:xfrm>
                <a:off x="7420594" y="3292207"/>
                <a:ext cx="1027461" cy="183850"/>
              </a:xfrm>
              <a:prstGeom prst="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100" b="1" i="1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000" i="0" dirty="0">
                    <a:sym typeface="微软雅黑"/>
                  </a:rPr>
                  <a:t>指令</a:t>
                </a:r>
                <a:r>
                  <a:rPr lang="zh-CN" altLang="en-US" sz="1000" i="0" dirty="0">
                    <a:sym typeface="Helvetica"/>
                  </a:rPr>
                  <a:t>PC</a:t>
                </a:r>
                <a:r>
                  <a:rPr lang="zh-CN" altLang="en-US" sz="1000" i="0" dirty="0">
                    <a:sym typeface="微软雅黑"/>
                  </a:rPr>
                  <a:t>一同保存</a:t>
                </a:r>
              </a:p>
            </p:txBody>
          </p:sp>
        </p:grpSp>
        <p:grpSp>
          <p:nvGrpSpPr>
            <p:cNvPr id="22" name="图形 2">
              <a:extLst>
                <a:ext uri="{FF2B5EF4-FFF2-40B4-BE49-F238E27FC236}">
                  <a16:creationId xmlns:a16="http://schemas.microsoft.com/office/drawing/2014/main" id="{304414DE-0C8E-FD90-AC0C-DB9186F62C90}"/>
                </a:ext>
              </a:extLst>
            </p:cNvPr>
            <p:cNvGrpSpPr/>
            <p:nvPr/>
          </p:nvGrpSpPr>
          <p:grpSpPr>
            <a:xfrm>
              <a:off x="2841004" y="2754776"/>
              <a:ext cx="442453" cy="99074"/>
              <a:chOff x="3655218" y="2147887"/>
              <a:chExt cx="349091" cy="85725"/>
            </a:xfrm>
          </p:grpSpPr>
          <p:sp>
            <p:nvSpPr>
              <p:cNvPr id="124" name="任意多边形: 形状 123">
                <a:extLst>
                  <a:ext uri="{FF2B5EF4-FFF2-40B4-BE49-F238E27FC236}">
                    <a16:creationId xmlns:a16="http://schemas.microsoft.com/office/drawing/2014/main" id="{CFAF05C4-73F8-6D97-5704-1B707728018E}"/>
                  </a:ext>
                </a:extLst>
              </p:cNvPr>
              <p:cNvSpPr/>
              <p:nvPr/>
            </p:nvSpPr>
            <p:spPr>
              <a:xfrm>
                <a:off x="3655218" y="2190750"/>
                <a:ext cx="284797" cy="9525"/>
              </a:xfrm>
              <a:custGeom>
                <a:avLst/>
                <a:gdLst>
                  <a:gd name="csX0" fmla="*/ 1 w 284797"/>
                  <a:gd name="csY0" fmla="*/ 1 h 9525"/>
                  <a:gd name="csX1" fmla="*/ 284798 w 284797"/>
                  <a:gd name="csY1" fmla="*/ 1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84797" h="9525">
                    <a:moveTo>
                      <a:pt x="1" y="1"/>
                    </a:moveTo>
                    <a:lnTo>
                      <a:pt x="284798" y="1"/>
                    </a:lnTo>
                  </a:path>
                </a:pathLst>
              </a:custGeom>
              <a:noFill/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20F8FB18-7FB3-2DEC-380A-0A2DB62438A4}"/>
                  </a:ext>
                </a:extLst>
              </p:cNvPr>
              <p:cNvSpPr/>
              <p:nvPr/>
            </p:nvSpPr>
            <p:spPr>
              <a:xfrm>
                <a:off x="3918584" y="2147887"/>
                <a:ext cx="85725" cy="85725"/>
              </a:xfrm>
              <a:custGeom>
                <a:avLst/>
                <a:gdLst>
                  <a:gd name="csX0" fmla="*/ 85726 w 85725"/>
                  <a:gd name="csY0" fmla="*/ 42863 h 85725"/>
                  <a:gd name="csX1" fmla="*/ 1 w 85725"/>
                  <a:gd name="csY1" fmla="*/ 85726 h 85725"/>
                  <a:gd name="csX2" fmla="*/ 21432 w 85725"/>
                  <a:gd name="csY2" fmla="*/ 42863 h 85725"/>
                  <a:gd name="csX3" fmla="*/ 1 w 85725"/>
                  <a:gd name="csY3" fmla="*/ 1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85726" y="42863"/>
                    </a:moveTo>
                    <a:lnTo>
                      <a:pt x="1" y="85726"/>
                    </a:lnTo>
                    <a:lnTo>
                      <a:pt x="21432" y="4286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B4D6A"/>
              </a:solidFill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</p:grpSp>
        <p:grpSp>
          <p:nvGrpSpPr>
            <p:cNvPr id="23" name="图形 2">
              <a:extLst>
                <a:ext uri="{FF2B5EF4-FFF2-40B4-BE49-F238E27FC236}">
                  <a16:creationId xmlns:a16="http://schemas.microsoft.com/office/drawing/2014/main" id="{00AAAF24-14DF-3DCB-C61E-5606E29EAAA9}"/>
                </a:ext>
              </a:extLst>
            </p:cNvPr>
            <p:cNvGrpSpPr/>
            <p:nvPr/>
          </p:nvGrpSpPr>
          <p:grpSpPr>
            <a:xfrm>
              <a:off x="3993919" y="3134563"/>
              <a:ext cx="108651" cy="513536"/>
              <a:chOff x="4564856" y="2476500"/>
              <a:chExt cx="85725" cy="444341"/>
            </a:xfrm>
          </p:grpSpPr>
          <p:sp>
            <p:nvSpPr>
              <p:cNvPr id="122" name="任意多边形: 形状 121">
                <a:extLst>
                  <a:ext uri="{FF2B5EF4-FFF2-40B4-BE49-F238E27FC236}">
                    <a16:creationId xmlns:a16="http://schemas.microsoft.com/office/drawing/2014/main" id="{B0BFBAD1-1851-AD17-83C3-1E465A4F4BEE}"/>
                  </a:ext>
                </a:extLst>
              </p:cNvPr>
              <p:cNvSpPr/>
              <p:nvPr/>
            </p:nvSpPr>
            <p:spPr>
              <a:xfrm>
                <a:off x="4607718" y="2476500"/>
                <a:ext cx="9525" cy="380047"/>
              </a:xfrm>
              <a:custGeom>
                <a:avLst/>
                <a:gdLst>
                  <a:gd name="csX0" fmla="*/ 1 w 9525"/>
                  <a:gd name="csY0" fmla="*/ 1 h 380047"/>
                  <a:gd name="csX1" fmla="*/ 1 w 9525"/>
                  <a:gd name="csY1" fmla="*/ 380048 h 3800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380047">
                    <a:moveTo>
                      <a:pt x="1" y="1"/>
                    </a:moveTo>
                    <a:lnTo>
                      <a:pt x="1" y="380048"/>
                    </a:lnTo>
                  </a:path>
                </a:pathLst>
              </a:custGeom>
              <a:noFill/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  <p:sp>
            <p:nvSpPr>
              <p:cNvPr id="123" name="任意多边形: 形状 122">
                <a:extLst>
                  <a:ext uri="{FF2B5EF4-FFF2-40B4-BE49-F238E27FC236}">
                    <a16:creationId xmlns:a16="http://schemas.microsoft.com/office/drawing/2014/main" id="{6FEA2D30-CB8E-3353-DFE9-8A3439CB889E}"/>
                  </a:ext>
                </a:extLst>
              </p:cNvPr>
              <p:cNvSpPr/>
              <p:nvPr/>
            </p:nvSpPr>
            <p:spPr>
              <a:xfrm>
                <a:off x="4564856" y="2835116"/>
                <a:ext cx="85725" cy="85725"/>
              </a:xfrm>
              <a:custGeom>
                <a:avLst/>
                <a:gdLst>
                  <a:gd name="csX0" fmla="*/ 42863 w 85725"/>
                  <a:gd name="csY0" fmla="*/ 85726 h 85725"/>
                  <a:gd name="csX1" fmla="*/ 1 w 85725"/>
                  <a:gd name="csY1" fmla="*/ 1 h 85725"/>
                  <a:gd name="csX2" fmla="*/ 42863 w 85725"/>
                  <a:gd name="csY2" fmla="*/ 21432 h 85725"/>
                  <a:gd name="csX3" fmla="*/ 85726 w 85725"/>
                  <a:gd name="csY3" fmla="*/ 1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42863" y="85726"/>
                    </a:moveTo>
                    <a:lnTo>
                      <a:pt x="1" y="1"/>
                    </a:lnTo>
                    <a:lnTo>
                      <a:pt x="42863" y="21432"/>
                    </a:lnTo>
                    <a:lnTo>
                      <a:pt x="85726" y="1"/>
                    </a:lnTo>
                    <a:close/>
                  </a:path>
                </a:pathLst>
              </a:custGeom>
              <a:solidFill>
                <a:srgbClr val="0B4D6A"/>
              </a:solidFill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</p:grpSp>
        <p:grpSp>
          <p:nvGrpSpPr>
            <p:cNvPr id="24" name="图形 2">
              <a:extLst>
                <a:ext uri="{FF2B5EF4-FFF2-40B4-BE49-F238E27FC236}">
                  <a16:creationId xmlns:a16="http://schemas.microsoft.com/office/drawing/2014/main" id="{47C89189-AE01-1393-B7C0-E702CEC68F09}"/>
                </a:ext>
              </a:extLst>
            </p:cNvPr>
            <p:cNvGrpSpPr/>
            <p:nvPr/>
          </p:nvGrpSpPr>
          <p:grpSpPr>
            <a:xfrm>
              <a:off x="4772586" y="2804314"/>
              <a:ext cx="804624" cy="1095325"/>
              <a:chOff x="5179218" y="2190750"/>
              <a:chExt cx="634841" cy="947737"/>
            </a:xfrm>
          </p:grpSpPr>
          <p:sp>
            <p:nvSpPr>
              <p:cNvPr id="120" name="任意多边形: 形状 119">
                <a:extLst>
                  <a:ext uri="{FF2B5EF4-FFF2-40B4-BE49-F238E27FC236}">
                    <a16:creationId xmlns:a16="http://schemas.microsoft.com/office/drawing/2014/main" id="{F878BA59-8B76-7ADD-E95B-A5DB4FE4B243}"/>
                  </a:ext>
                </a:extLst>
              </p:cNvPr>
              <p:cNvSpPr/>
              <p:nvPr/>
            </p:nvSpPr>
            <p:spPr>
              <a:xfrm>
                <a:off x="5179218" y="2190750"/>
                <a:ext cx="570547" cy="904875"/>
              </a:xfrm>
              <a:custGeom>
                <a:avLst/>
                <a:gdLst>
                  <a:gd name="csX0" fmla="*/ 1 w 570547"/>
                  <a:gd name="csY0" fmla="*/ 1 h 904875"/>
                  <a:gd name="csX1" fmla="*/ 285751 w 570547"/>
                  <a:gd name="csY1" fmla="*/ 1 h 904875"/>
                  <a:gd name="csX2" fmla="*/ 285751 w 570547"/>
                  <a:gd name="csY2" fmla="*/ 904876 h 904875"/>
                  <a:gd name="csX3" fmla="*/ 570548 w 570547"/>
                  <a:gd name="csY3" fmla="*/ 904876 h 9048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0547" h="904875">
                    <a:moveTo>
                      <a:pt x="1" y="1"/>
                    </a:moveTo>
                    <a:lnTo>
                      <a:pt x="285751" y="1"/>
                    </a:lnTo>
                    <a:lnTo>
                      <a:pt x="285751" y="904876"/>
                    </a:lnTo>
                    <a:lnTo>
                      <a:pt x="570548" y="904876"/>
                    </a:lnTo>
                  </a:path>
                </a:pathLst>
              </a:custGeom>
              <a:noFill/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  <p:sp>
            <p:nvSpPr>
              <p:cNvPr id="121" name="任意多边形: 形状 120">
                <a:extLst>
                  <a:ext uri="{FF2B5EF4-FFF2-40B4-BE49-F238E27FC236}">
                    <a16:creationId xmlns:a16="http://schemas.microsoft.com/office/drawing/2014/main" id="{C33B2AB1-3AA3-DF14-5FD2-CD2D3FC36A2C}"/>
                  </a:ext>
                </a:extLst>
              </p:cNvPr>
              <p:cNvSpPr/>
              <p:nvPr/>
            </p:nvSpPr>
            <p:spPr>
              <a:xfrm>
                <a:off x="5728334" y="3052762"/>
                <a:ext cx="85725" cy="85725"/>
              </a:xfrm>
              <a:custGeom>
                <a:avLst/>
                <a:gdLst>
                  <a:gd name="csX0" fmla="*/ 85726 w 85725"/>
                  <a:gd name="csY0" fmla="*/ 42863 h 85725"/>
                  <a:gd name="csX1" fmla="*/ 1 w 85725"/>
                  <a:gd name="csY1" fmla="*/ 85726 h 85725"/>
                  <a:gd name="csX2" fmla="*/ 21432 w 85725"/>
                  <a:gd name="csY2" fmla="*/ 42863 h 85725"/>
                  <a:gd name="csX3" fmla="*/ 1 w 85725"/>
                  <a:gd name="csY3" fmla="*/ 1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85726" y="42863"/>
                    </a:moveTo>
                    <a:lnTo>
                      <a:pt x="1" y="85726"/>
                    </a:lnTo>
                    <a:lnTo>
                      <a:pt x="21432" y="4286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B4D6A"/>
              </a:solidFill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</p:grpSp>
        <p:grpSp>
          <p:nvGrpSpPr>
            <p:cNvPr id="25" name="图形 2">
              <a:extLst>
                <a:ext uri="{FF2B5EF4-FFF2-40B4-BE49-F238E27FC236}">
                  <a16:creationId xmlns:a16="http://schemas.microsoft.com/office/drawing/2014/main" id="{F83BA01F-ED00-A910-3D55-3362429292CD}"/>
                </a:ext>
              </a:extLst>
            </p:cNvPr>
            <p:cNvGrpSpPr/>
            <p:nvPr/>
          </p:nvGrpSpPr>
          <p:grpSpPr>
            <a:xfrm>
              <a:off x="5055825" y="3239141"/>
              <a:ext cx="845518" cy="330249"/>
              <a:chOff x="5402699" y="2566987"/>
              <a:chExt cx="667107" cy="285750"/>
            </a:xfrm>
          </p:grpSpPr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F60B39A8-AA48-6D04-B5B9-17381933F9F1}"/>
                  </a:ext>
                </a:extLst>
              </p:cNvPr>
              <p:cNvSpPr/>
              <p:nvPr/>
            </p:nvSpPr>
            <p:spPr>
              <a:xfrm>
                <a:off x="5498306" y="256698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2717E8F3-C5A0-4804-40EC-E7FBCE8C3D11}"/>
                  </a:ext>
                </a:extLst>
              </p:cNvPr>
              <p:cNvSpPr txBox="1"/>
              <p:nvPr/>
            </p:nvSpPr>
            <p:spPr>
              <a:xfrm>
                <a:off x="5402699" y="2594007"/>
                <a:ext cx="650338" cy="2130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 dirty="0">
                    <a:ln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target+type</a:t>
                </a:r>
              </a:p>
            </p:txBody>
          </p:sp>
        </p:grpSp>
        <p:grpSp>
          <p:nvGrpSpPr>
            <p:cNvPr id="26" name="图形 2">
              <a:extLst>
                <a:ext uri="{FF2B5EF4-FFF2-40B4-BE49-F238E27FC236}">
                  <a16:creationId xmlns:a16="http://schemas.microsoft.com/office/drawing/2014/main" id="{DCC3DF4E-9401-ABBF-56CF-D22EE6DDE3EB}"/>
                </a:ext>
              </a:extLst>
            </p:cNvPr>
            <p:cNvGrpSpPr/>
            <p:nvPr/>
          </p:nvGrpSpPr>
          <p:grpSpPr>
            <a:xfrm>
              <a:off x="4772586" y="4130813"/>
              <a:ext cx="804624" cy="99074"/>
              <a:chOff x="5179218" y="3338512"/>
              <a:chExt cx="634841" cy="85725"/>
            </a:xfrm>
          </p:grpSpPr>
          <p:sp>
            <p:nvSpPr>
              <p:cNvPr id="108" name="任意多边形: 形状 107">
                <a:extLst>
                  <a:ext uri="{FF2B5EF4-FFF2-40B4-BE49-F238E27FC236}">
                    <a16:creationId xmlns:a16="http://schemas.microsoft.com/office/drawing/2014/main" id="{E90C803D-D8E0-891E-9906-37CE08024CF6}"/>
                  </a:ext>
                </a:extLst>
              </p:cNvPr>
              <p:cNvSpPr/>
              <p:nvPr/>
            </p:nvSpPr>
            <p:spPr>
              <a:xfrm>
                <a:off x="5179218" y="3381375"/>
                <a:ext cx="570547" cy="9525"/>
              </a:xfrm>
              <a:custGeom>
                <a:avLst/>
                <a:gdLst>
                  <a:gd name="csX0" fmla="*/ 1 w 570547"/>
                  <a:gd name="csY0" fmla="*/ 1 h 9525"/>
                  <a:gd name="csX1" fmla="*/ 570548 w 570547"/>
                  <a:gd name="csY1" fmla="*/ 1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70547" h="9525">
                    <a:moveTo>
                      <a:pt x="1" y="1"/>
                    </a:moveTo>
                    <a:lnTo>
                      <a:pt x="570548" y="1"/>
                    </a:lnTo>
                  </a:path>
                </a:pathLst>
              </a:custGeom>
              <a:noFill/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694F3519-EAA7-12AA-4AEC-6EF253F25D58}"/>
                  </a:ext>
                </a:extLst>
              </p:cNvPr>
              <p:cNvSpPr/>
              <p:nvPr/>
            </p:nvSpPr>
            <p:spPr>
              <a:xfrm>
                <a:off x="5728334" y="3338512"/>
                <a:ext cx="85725" cy="85725"/>
              </a:xfrm>
              <a:custGeom>
                <a:avLst/>
                <a:gdLst>
                  <a:gd name="csX0" fmla="*/ 85726 w 85725"/>
                  <a:gd name="csY0" fmla="*/ 42863 h 85725"/>
                  <a:gd name="csX1" fmla="*/ 1 w 85725"/>
                  <a:gd name="csY1" fmla="*/ 85726 h 85725"/>
                  <a:gd name="csX2" fmla="*/ 21432 w 85725"/>
                  <a:gd name="csY2" fmla="*/ 42863 h 85725"/>
                  <a:gd name="csX3" fmla="*/ 1 w 85725"/>
                  <a:gd name="csY3" fmla="*/ 1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85726" y="42863"/>
                    </a:moveTo>
                    <a:lnTo>
                      <a:pt x="1" y="85726"/>
                    </a:lnTo>
                    <a:lnTo>
                      <a:pt x="21432" y="4286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B4D6A"/>
              </a:solidFill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</p:grpSp>
        <p:grpSp>
          <p:nvGrpSpPr>
            <p:cNvPr id="29" name="图形 2">
              <a:extLst>
                <a:ext uri="{FF2B5EF4-FFF2-40B4-BE49-F238E27FC236}">
                  <a16:creationId xmlns:a16="http://schemas.microsoft.com/office/drawing/2014/main" id="{EF770B04-48E6-98D1-8739-D9D76EB3D420}"/>
                </a:ext>
              </a:extLst>
            </p:cNvPr>
            <p:cNvGrpSpPr/>
            <p:nvPr/>
          </p:nvGrpSpPr>
          <p:grpSpPr>
            <a:xfrm>
              <a:off x="6287673" y="3244646"/>
              <a:ext cx="108651" cy="403453"/>
              <a:chOff x="6374606" y="2571750"/>
              <a:chExt cx="85725" cy="349091"/>
            </a:xfrm>
          </p:grpSpPr>
          <p:sp>
            <p:nvSpPr>
              <p:cNvPr id="104" name="任意多边形: 形状 103">
                <a:extLst>
                  <a:ext uri="{FF2B5EF4-FFF2-40B4-BE49-F238E27FC236}">
                    <a16:creationId xmlns:a16="http://schemas.microsoft.com/office/drawing/2014/main" id="{E1FC97A9-49E6-821B-D8B8-E81ECC6B0460}"/>
                  </a:ext>
                </a:extLst>
              </p:cNvPr>
              <p:cNvSpPr/>
              <p:nvPr/>
            </p:nvSpPr>
            <p:spPr>
              <a:xfrm>
                <a:off x="6417468" y="2571750"/>
                <a:ext cx="9525" cy="284797"/>
              </a:xfrm>
              <a:custGeom>
                <a:avLst/>
                <a:gdLst>
                  <a:gd name="csX0" fmla="*/ 1 w 9525"/>
                  <a:gd name="csY0" fmla="*/ 1 h 284797"/>
                  <a:gd name="csX1" fmla="*/ 1 w 9525"/>
                  <a:gd name="csY1" fmla="*/ 284798 h 2847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284797">
                    <a:moveTo>
                      <a:pt x="1" y="1"/>
                    </a:moveTo>
                    <a:lnTo>
                      <a:pt x="1" y="284798"/>
                    </a:lnTo>
                  </a:path>
                </a:pathLst>
              </a:custGeom>
              <a:noFill/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  <p:sp>
            <p:nvSpPr>
              <p:cNvPr id="105" name="任意多边形: 形状 104">
                <a:extLst>
                  <a:ext uri="{FF2B5EF4-FFF2-40B4-BE49-F238E27FC236}">
                    <a16:creationId xmlns:a16="http://schemas.microsoft.com/office/drawing/2014/main" id="{FF7AA5CC-268B-82AF-116A-8D49E6E9A864}"/>
                  </a:ext>
                </a:extLst>
              </p:cNvPr>
              <p:cNvSpPr/>
              <p:nvPr/>
            </p:nvSpPr>
            <p:spPr>
              <a:xfrm>
                <a:off x="6374606" y="2835116"/>
                <a:ext cx="85725" cy="85725"/>
              </a:xfrm>
              <a:custGeom>
                <a:avLst/>
                <a:gdLst>
                  <a:gd name="csX0" fmla="*/ 42863 w 85725"/>
                  <a:gd name="csY0" fmla="*/ 85726 h 85725"/>
                  <a:gd name="csX1" fmla="*/ 1 w 85725"/>
                  <a:gd name="csY1" fmla="*/ 1 h 85725"/>
                  <a:gd name="csX2" fmla="*/ 42863 w 85725"/>
                  <a:gd name="csY2" fmla="*/ 21432 h 85725"/>
                  <a:gd name="csX3" fmla="*/ 85726 w 85725"/>
                  <a:gd name="csY3" fmla="*/ 1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42863" y="85726"/>
                    </a:moveTo>
                    <a:lnTo>
                      <a:pt x="1" y="1"/>
                    </a:lnTo>
                    <a:lnTo>
                      <a:pt x="42863" y="21432"/>
                    </a:lnTo>
                    <a:lnTo>
                      <a:pt x="85726" y="1"/>
                    </a:lnTo>
                    <a:close/>
                  </a:path>
                </a:pathLst>
              </a:custGeom>
              <a:solidFill>
                <a:srgbClr val="0B4D6A"/>
              </a:solidFill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</p:grpSp>
        <p:grpSp>
          <p:nvGrpSpPr>
            <p:cNvPr id="30" name="图形 2">
              <a:extLst>
                <a:ext uri="{FF2B5EF4-FFF2-40B4-BE49-F238E27FC236}">
                  <a16:creationId xmlns:a16="http://schemas.microsoft.com/office/drawing/2014/main" id="{96858BC8-C52B-3B41-7FE2-9D75702432AC}"/>
                </a:ext>
              </a:extLst>
            </p:cNvPr>
            <p:cNvGrpSpPr/>
            <p:nvPr/>
          </p:nvGrpSpPr>
          <p:grpSpPr>
            <a:xfrm>
              <a:off x="7066340" y="3965688"/>
              <a:ext cx="442453" cy="99074"/>
              <a:chOff x="6988968" y="3195637"/>
              <a:chExt cx="349091" cy="85725"/>
            </a:xfrm>
          </p:grpSpPr>
          <p:sp>
            <p:nvSpPr>
              <p:cNvPr id="100" name="任意多边形: 形状 99">
                <a:extLst>
                  <a:ext uri="{FF2B5EF4-FFF2-40B4-BE49-F238E27FC236}">
                    <a16:creationId xmlns:a16="http://schemas.microsoft.com/office/drawing/2014/main" id="{6E7F79AD-B803-44CC-097E-04CFDC930176}"/>
                  </a:ext>
                </a:extLst>
              </p:cNvPr>
              <p:cNvSpPr/>
              <p:nvPr/>
            </p:nvSpPr>
            <p:spPr>
              <a:xfrm>
                <a:off x="6988968" y="3238500"/>
                <a:ext cx="284797" cy="9525"/>
              </a:xfrm>
              <a:custGeom>
                <a:avLst/>
                <a:gdLst>
                  <a:gd name="csX0" fmla="*/ 1 w 284797"/>
                  <a:gd name="csY0" fmla="*/ 1 h 9525"/>
                  <a:gd name="csX1" fmla="*/ 284798 w 284797"/>
                  <a:gd name="csY1" fmla="*/ 1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84797" h="9525">
                    <a:moveTo>
                      <a:pt x="1" y="1"/>
                    </a:moveTo>
                    <a:lnTo>
                      <a:pt x="284798" y="1"/>
                    </a:lnTo>
                  </a:path>
                </a:pathLst>
              </a:custGeom>
              <a:noFill/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  <p:sp>
            <p:nvSpPr>
              <p:cNvPr id="101" name="任意多边形: 形状 100">
                <a:extLst>
                  <a:ext uri="{FF2B5EF4-FFF2-40B4-BE49-F238E27FC236}">
                    <a16:creationId xmlns:a16="http://schemas.microsoft.com/office/drawing/2014/main" id="{A3955EC4-7842-5122-B765-9EF2718E9685}"/>
                  </a:ext>
                </a:extLst>
              </p:cNvPr>
              <p:cNvSpPr/>
              <p:nvPr/>
            </p:nvSpPr>
            <p:spPr>
              <a:xfrm>
                <a:off x="7252335" y="3195637"/>
                <a:ext cx="85725" cy="85725"/>
              </a:xfrm>
              <a:custGeom>
                <a:avLst/>
                <a:gdLst>
                  <a:gd name="csX0" fmla="*/ 85726 w 85725"/>
                  <a:gd name="csY0" fmla="*/ 42863 h 85725"/>
                  <a:gd name="csX1" fmla="*/ 1 w 85725"/>
                  <a:gd name="csY1" fmla="*/ 85726 h 85725"/>
                  <a:gd name="csX2" fmla="*/ 21432 w 85725"/>
                  <a:gd name="csY2" fmla="*/ 42863 h 85725"/>
                  <a:gd name="csX3" fmla="*/ 1 w 85725"/>
                  <a:gd name="csY3" fmla="*/ 1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85726" y="42863"/>
                    </a:moveTo>
                    <a:lnTo>
                      <a:pt x="1" y="85726"/>
                    </a:lnTo>
                    <a:lnTo>
                      <a:pt x="21432" y="4286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B4D6A"/>
              </a:solidFill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</p:grpSp>
        <p:grpSp>
          <p:nvGrpSpPr>
            <p:cNvPr id="33" name="图形 2">
              <a:extLst>
                <a:ext uri="{FF2B5EF4-FFF2-40B4-BE49-F238E27FC236}">
                  <a16:creationId xmlns:a16="http://schemas.microsoft.com/office/drawing/2014/main" id="{45738709-5299-C56E-A927-515DE763D49C}"/>
                </a:ext>
              </a:extLst>
            </p:cNvPr>
            <p:cNvGrpSpPr/>
            <p:nvPr/>
          </p:nvGrpSpPr>
          <p:grpSpPr>
            <a:xfrm>
              <a:off x="8997923" y="2754776"/>
              <a:ext cx="321729" cy="99074"/>
              <a:chOff x="8512968" y="2147887"/>
              <a:chExt cx="253841" cy="85725"/>
            </a:xfrm>
          </p:grpSpPr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596E7612-16D1-6A79-D3B1-4F97FA421578}"/>
                  </a:ext>
                </a:extLst>
              </p:cNvPr>
              <p:cNvSpPr/>
              <p:nvPr/>
            </p:nvSpPr>
            <p:spPr>
              <a:xfrm>
                <a:off x="8512968" y="2190750"/>
                <a:ext cx="189547" cy="9525"/>
              </a:xfrm>
              <a:custGeom>
                <a:avLst/>
                <a:gdLst>
                  <a:gd name="csX0" fmla="*/ 1 w 189547"/>
                  <a:gd name="csY0" fmla="*/ 1 h 9525"/>
                  <a:gd name="csX1" fmla="*/ 189548 w 189547"/>
                  <a:gd name="csY1" fmla="*/ 1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9547" h="9525">
                    <a:moveTo>
                      <a:pt x="1" y="1"/>
                    </a:moveTo>
                    <a:lnTo>
                      <a:pt x="189548" y="1"/>
                    </a:lnTo>
                  </a:path>
                </a:pathLst>
              </a:custGeom>
              <a:noFill/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  <p:sp>
            <p:nvSpPr>
              <p:cNvPr id="98" name="任意多边形: 形状 97">
                <a:extLst>
                  <a:ext uri="{FF2B5EF4-FFF2-40B4-BE49-F238E27FC236}">
                    <a16:creationId xmlns:a16="http://schemas.microsoft.com/office/drawing/2014/main" id="{1F58CA4A-5B88-CE30-04F3-8FC56979E04A}"/>
                  </a:ext>
                </a:extLst>
              </p:cNvPr>
              <p:cNvSpPr/>
              <p:nvPr/>
            </p:nvSpPr>
            <p:spPr>
              <a:xfrm>
                <a:off x="8681085" y="2147887"/>
                <a:ext cx="85725" cy="85725"/>
              </a:xfrm>
              <a:custGeom>
                <a:avLst/>
                <a:gdLst>
                  <a:gd name="csX0" fmla="*/ 85726 w 85725"/>
                  <a:gd name="csY0" fmla="*/ 42863 h 85725"/>
                  <a:gd name="csX1" fmla="*/ 1 w 85725"/>
                  <a:gd name="csY1" fmla="*/ 85726 h 85725"/>
                  <a:gd name="csX2" fmla="*/ 21432 w 85725"/>
                  <a:gd name="csY2" fmla="*/ 42863 h 85725"/>
                  <a:gd name="csX3" fmla="*/ 1 w 85725"/>
                  <a:gd name="csY3" fmla="*/ 1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85726" y="42863"/>
                    </a:moveTo>
                    <a:lnTo>
                      <a:pt x="1" y="85726"/>
                    </a:lnTo>
                    <a:lnTo>
                      <a:pt x="21432" y="4286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B4D6A"/>
              </a:solidFill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</p:grpSp>
        <p:grpSp>
          <p:nvGrpSpPr>
            <p:cNvPr id="34" name="图形 2">
              <a:extLst>
                <a:ext uri="{FF2B5EF4-FFF2-40B4-BE49-F238E27FC236}">
                  <a16:creationId xmlns:a16="http://schemas.microsoft.com/office/drawing/2014/main" id="{44EFD7D0-122E-ACEA-619C-BF6DF5FFFEA8}"/>
                </a:ext>
              </a:extLst>
            </p:cNvPr>
            <p:cNvGrpSpPr/>
            <p:nvPr/>
          </p:nvGrpSpPr>
          <p:grpSpPr>
            <a:xfrm>
              <a:off x="10030112" y="3134563"/>
              <a:ext cx="108651" cy="513536"/>
              <a:chOff x="9327356" y="2476500"/>
              <a:chExt cx="85725" cy="444341"/>
            </a:xfrm>
          </p:grpSpPr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0453823F-BC90-83FF-32C7-B8B82C526B14}"/>
                  </a:ext>
                </a:extLst>
              </p:cNvPr>
              <p:cNvSpPr/>
              <p:nvPr/>
            </p:nvSpPr>
            <p:spPr>
              <a:xfrm>
                <a:off x="9370218" y="2476500"/>
                <a:ext cx="9525" cy="380047"/>
              </a:xfrm>
              <a:custGeom>
                <a:avLst/>
                <a:gdLst>
                  <a:gd name="csX0" fmla="*/ 1 w 9525"/>
                  <a:gd name="csY0" fmla="*/ 1 h 380047"/>
                  <a:gd name="csX1" fmla="*/ 1 w 9525"/>
                  <a:gd name="csY1" fmla="*/ 380048 h 3800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380047">
                    <a:moveTo>
                      <a:pt x="1" y="1"/>
                    </a:moveTo>
                    <a:lnTo>
                      <a:pt x="1" y="380048"/>
                    </a:lnTo>
                  </a:path>
                </a:pathLst>
              </a:custGeom>
              <a:noFill/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  <p:sp>
            <p:nvSpPr>
              <p:cNvPr id="96" name="任意多边形: 形状 95">
                <a:extLst>
                  <a:ext uri="{FF2B5EF4-FFF2-40B4-BE49-F238E27FC236}">
                    <a16:creationId xmlns:a16="http://schemas.microsoft.com/office/drawing/2014/main" id="{F7E7DC55-4635-B0D9-718C-62F196862B7D}"/>
                  </a:ext>
                </a:extLst>
              </p:cNvPr>
              <p:cNvSpPr/>
              <p:nvPr/>
            </p:nvSpPr>
            <p:spPr>
              <a:xfrm>
                <a:off x="9327356" y="2835116"/>
                <a:ext cx="85725" cy="85725"/>
              </a:xfrm>
              <a:custGeom>
                <a:avLst/>
                <a:gdLst>
                  <a:gd name="csX0" fmla="*/ 42863 w 85725"/>
                  <a:gd name="csY0" fmla="*/ 85726 h 85725"/>
                  <a:gd name="csX1" fmla="*/ 1 w 85725"/>
                  <a:gd name="csY1" fmla="*/ 1 h 85725"/>
                  <a:gd name="csX2" fmla="*/ 42863 w 85725"/>
                  <a:gd name="csY2" fmla="*/ 21432 h 85725"/>
                  <a:gd name="csX3" fmla="*/ 85726 w 85725"/>
                  <a:gd name="csY3" fmla="*/ 1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42863" y="85726"/>
                    </a:moveTo>
                    <a:lnTo>
                      <a:pt x="1" y="1"/>
                    </a:lnTo>
                    <a:lnTo>
                      <a:pt x="42863" y="21432"/>
                    </a:lnTo>
                    <a:lnTo>
                      <a:pt x="85726" y="1"/>
                    </a:lnTo>
                    <a:close/>
                  </a:path>
                </a:pathLst>
              </a:custGeom>
              <a:solidFill>
                <a:srgbClr val="0B4D6A"/>
              </a:solidFill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</p:grpSp>
        <p:grpSp>
          <p:nvGrpSpPr>
            <p:cNvPr id="35" name="图形 2">
              <a:extLst>
                <a:ext uri="{FF2B5EF4-FFF2-40B4-BE49-F238E27FC236}">
                  <a16:creationId xmlns:a16="http://schemas.microsoft.com/office/drawing/2014/main" id="{C8C1B9FB-05BC-26F5-D3A7-AAC12F3521DD}"/>
                </a:ext>
              </a:extLst>
            </p:cNvPr>
            <p:cNvGrpSpPr/>
            <p:nvPr/>
          </p:nvGrpSpPr>
          <p:grpSpPr>
            <a:xfrm>
              <a:off x="8997923" y="3965688"/>
              <a:ext cx="321729" cy="99074"/>
              <a:chOff x="8512968" y="3195637"/>
              <a:chExt cx="253841" cy="85725"/>
            </a:xfrm>
          </p:grpSpPr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80463A7B-E5BF-9AFA-799D-14299B02065F}"/>
                  </a:ext>
                </a:extLst>
              </p:cNvPr>
              <p:cNvSpPr/>
              <p:nvPr/>
            </p:nvSpPr>
            <p:spPr>
              <a:xfrm>
                <a:off x="8512968" y="3238500"/>
                <a:ext cx="189547" cy="9525"/>
              </a:xfrm>
              <a:custGeom>
                <a:avLst/>
                <a:gdLst>
                  <a:gd name="csX0" fmla="*/ 1 w 189547"/>
                  <a:gd name="csY0" fmla="*/ 1 h 9525"/>
                  <a:gd name="csX1" fmla="*/ 189548 w 189547"/>
                  <a:gd name="csY1" fmla="*/ 1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9547" h="9525">
                    <a:moveTo>
                      <a:pt x="1" y="1"/>
                    </a:moveTo>
                    <a:lnTo>
                      <a:pt x="189548" y="1"/>
                    </a:lnTo>
                  </a:path>
                </a:pathLst>
              </a:custGeom>
              <a:noFill/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D16A971C-B1FF-39B2-052D-039BEC2DC2CC}"/>
                  </a:ext>
                </a:extLst>
              </p:cNvPr>
              <p:cNvSpPr/>
              <p:nvPr/>
            </p:nvSpPr>
            <p:spPr>
              <a:xfrm>
                <a:off x="8681085" y="3195637"/>
                <a:ext cx="85725" cy="85725"/>
              </a:xfrm>
              <a:custGeom>
                <a:avLst/>
                <a:gdLst>
                  <a:gd name="csX0" fmla="*/ 85726 w 85725"/>
                  <a:gd name="csY0" fmla="*/ 42863 h 85725"/>
                  <a:gd name="csX1" fmla="*/ 1 w 85725"/>
                  <a:gd name="csY1" fmla="*/ 85726 h 85725"/>
                  <a:gd name="csX2" fmla="*/ 21432 w 85725"/>
                  <a:gd name="csY2" fmla="*/ 42863 h 85725"/>
                  <a:gd name="csX3" fmla="*/ 1 w 85725"/>
                  <a:gd name="csY3" fmla="*/ 1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725">
                    <a:moveTo>
                      <a:pt x="85726" y="42863"/>
                    </a:moveTo>
                    <a:lnTo>
                      <a:pt x="1" y="85726"/>
                    </a:lnTo>
                    <a:lnTo>
                      <a:pt x="21432" y="4286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B4D6A"/>
              </a:solidFill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</p:grpSp>
        <p:grpSp>
          <p:nvGrpSpPr>
            <p:cNvPr id="38" name="图形 2">
              <a:extLst>
                <a:ext uri="{FF2B5EF4-FFF2-40B4-BE49-F238E27FC236}">
                  <a16:creationId xmlns:a16="http://schemas.microsoft.com/office/drawing/2014/main" id="{CAA4B35C-C94F-BFBA-1319-65B7B4E4891C}"/>
                </a:ext>
              </a:extLst>
            </p:cNvPr>
            <p:cNvGrpSpPr/>
            <p:nvPr/>
          </p:nvGrpSpPr>
          <p:grpSpPr>
            <a:xfrm>
              <a:off x="3378467" y="4345474"/>
              <a:ext cx="6343798" cy="623620"/>
              <a:chOff x="4079271" y="3524250"/>
              <a:chExt cx="5005196" cy="539591"/>
            </a:xfrm>
          </p:grpSpPr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811B533A-A2B9-7D22-744F-62580FD2086D}"/>
                  </a:ext>
                </a:extLst>
              </p:cNvPr>
              <p:cNvSpPr/>
              <p:nvPr/>
            </p:nvSpPr>
            <p:spPr>
              <a:xfrm>
                <a:off x="4117181" y="3524250"/>
                <a:ext cx="4967287" cy="475297"/>
              </a:xfrm>
              <a:custGeom>
                <a:avLst/>
                <a:gdLst>
                  <a:gd name="csX0" fmla="*/ 4967288 w 4967287"/>
                  <a:gd name="csY0" fmla="*/ 1 h 475297"/>
                  <a:gd name="csX1" fmla="*/ 4967288 w 4967287"/>
                  <a:gd name="csY1" fmla="*/ 190501 h 475297"/>
                  <a:gd name="csX2" fmla="*/ 1 w 4967287"/>
                  <a:gd name="csY2" fmla="*/ 190501 h 475297"/>
                  <a:gd name="csX3" fmla="*/ 5334 w 4967287"/>
                  <a:gd name="csY3" fmla="*/ 475298 h 4752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967287" h="475297">
                    <a:moveTo>
                      <a:pt x="4967288" y="1"/>
                    </a:moveTo>
                    <a:lnTo>
                      <a:pt x="4967288" y="190501"/>
                    </a:lnTo>
                    <a:lnTo>
                      <a:pt x="1" y="190501"/>
                    </a:lnTo>
                    <a:lnTo>
                      <a:pt x="5334" y="475298"/>
                    </a:lnTo>
                  </a:path>
                </a:pathLst>
              </a:custGeom>
              <a:noFill/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931B7410-E1C6-683F-CEE9-8FCD2D2DA15F}"/>
                  </a:ext>
                </a:extLst>
              </p:cNvPr>
              <p:cNvSpPr/>
              <p:nvPr/>
            </p:nvSpPr>
            <p:spPr>
              <a:xfrm>
                <a:off x="4079271" y="3977258"/>
                <a:ext cx="85725" cy="86582"/>
              </a:xfrm>
              <a:custGeom>
                <a:avLst/>
                <a:gdLst>
                  <a:gd name="csX0" fmla="*/ 44482 w 85725"/>
                  <a:gd name="csY0" fmla="*/ 86583 h 86582"/>
                  <a:gd name="csX1" fmla="*/ 1 w 85725"/>
                  <a:gd name="csY1" fmla="*/ 1620 h 86582"/>
                  <a:gd name="csX2" fmla="*/ 43244 w 85725"/>
                  <a:gd name="csY2" fmla="*/ 22289 h 86582"/>
                  <a:gd name="csX3" fmla="*/ 85726 w 85725"/>
                  <a:gd name="csY3" fmla="*/ 1 h 86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6582">
                    <a:moveTo>
                      <a:pt x="44482" y="86583"/>
                    </a:moveTo>
                    <a:lnTo>
                      <a:pt x="1" y="1620"/>
                    </a:lnTo>
                    <a:lnTo>
                      <a:pt x="43244" y="22289"/>
                    </a:lnTo>
                    <a:lnTo>
                      <a:pt x="85726" y="1"/>
                    </a:lnTo>
                    <a:close/>
                  </a:path>
                </a:pathLst>
              </a:custGeom>
              <a:solidFill>
                <a:srgbClr val="0B4D6A"/>
              </a:solidFill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</p:grpSp>
        <p:grpSp>
          <p:nvGrpSpPr>
            <p:cNvPr id="39" name="图形 2">
              <a:extLst>
                <a:ext uri="{FF2B5EF4-FFF2-40B4-BE49-F238E27FC236}">
                  <a16:creationId xmlns:a16="http://schemas.microsoft.com/office/drawing/2014/main" id="{F1C7BE2C-1DFE-C457-24C4-DA0D626CED9D}"/>
                </a:ext>
              </a:extLst>
            </p:cNvPr>
            <p:cNvGrpSpPr/>
            <p:nvPr/>
          </p:nvGrpSpPr>
          <p:grpSpPr>
            <a:xfrm>
              <a:off x="993357" y="5446304"/>
              <a:ext cx="1503584" cy="770581"/>
              <a:chOff x="2197443" y="4476750"/>
              <a:chExt cx="1186313" cy="666750"/>
            </a:xfrm>
          </p:grpSpPr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A2B15526-B93E-1873-D84C-5F7C6DC46A28}"/>
                  </a:ext>
                </a:extLst>
              </p:cNvPr>
              <p:cNvSpPr/>
              <p:nvPr/>
            </p:nvSpPr>
            <p:spPr>
              <a:xfrm>
                <a:off x="2240756" y="4476750"/>
                <a:ext cx="1143000" cy="666750"/>
              </a:xfrm>
              <a:prstGeom prst="rect">
                <a:avLst/>
              </a:prstGeom>
              <a:solidFill>
                <a:srgbClr val="6A8695"/>
              </a:solidFill>
              <a:ln w="28575" cap="flat">
                <a:solidFill>
                  <a:srgbClr val="BAC8D3"/>
                </a:solidFill>
                <a:prstDash val="solid"/>
                <a:miter/>
              </a:ln>
            </p:spPr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C37737AE-AAC3-19B4-C205-D4E0D8E068F8}"/>
                  </a:ext>
                </a:extLst>
              </p:cNvPr>
              <p:cNvSpPr txBox="1"/>
              <p:nvPr/>
            </p:nvSpPr>
            <p:spPr>
              <a:xfrm>
                <a:off x="2527869" y="4556157"/>
                <a:ext cx="502360" cy="2130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redirect</a:t>
                </a: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736A2C8A-67CC-D543-8997-48884AA4E6FE}"/>
                  </a:ext>
                </a:extLst>
              </p:cNvPr>
              <p:cNvSpPr txBox="1"/>
              <p:nvPr/>
            </p:nvSpPr>
            <p:spPr>
              <a:xfrm>
                <a:off x="2197443" y="4689507"/>
                <a:ext cx="1025968" cy="2130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actual_next_pc→PC</a:t>
                </a:r>
              </a:p>
            </p:txBody>
          </p:sp>
        </p:grpSp>
        <p:grpSp>
          <p:nvGrpSpPr>
            <p:cNvPr id="40" name="图形 2">
              <a:extLst>
                <a:ext uri="{FF2B5EF4-FFF2-40B4-BE49-F238E27FC236}">
                  <a16:creationId xmlns:a16="http://schemas.microsoft.com/office/drawing/2014/main" id="{61E9633C-E31E-0158-F66A-50001C6818D2}"/>
                </a:ext>
              </a:extLst>
            </p:cNvPr>
            <p:cNvGrpSpPr/>
            <p:nvPr/>
          </p:nvGrpSpPr>
          <p:grpSpPr>
            <a:xfrm>
              <a:off x="2629738" y="5446304"/>
              <a:ext cx="1629773" cy="660497"/>
              <a:chOff x="3488531" y="4476750"/>
              <a:chExt cx="1285875" cy="571500"/>
            </a:xfrm>
          </p:grpSpPr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391664C-69B2-F9EC-04DD-80C284589403}"/>
                  </a:ext>
                </a:extLst>
              </p:cNvPr>
              <p:cNvSpPr/>
              <p:nvPr/>
            </p:nvSpPr>
            <p:spPr>
              <a:xfrm>
                <a:off x="3488531" y="4476750"/>
                <a:ext cx="1285875" cy="571500"/>
              </a:xfrm>
              <a:prstGeom prst="rect">
                <a:avLst/>
              </a:prstGeom>
              <a:solidFill>
                <a:srgbClr val="6A8695"/>
              </a:solidFill>
              <a:ln w="28575" cap="flat">
                <a:solidFill>
                  <a:srgbClr val="BAC8D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2000" b="1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0EB0D78C-86AE-46DB-795E-66A8A4B25FAC}"/>
                  </a:ext>
                </a:extLst>
              </p:cNvPr>
              <p:cNvSpPr txBox="1"/>
              <p:nvPr/>
            </p:nvSpPr>
            <p:spPr>
              <a:xfrm>
                <a:off x="3683566" y="4624413"/>
                <a:ext cx="774283" cy="2130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 dirty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flush</a:t>
                </a:r>
                <a:r>
                  <a:rPr lang="zh-CN" altLang="en-US" sz="1000" b="1" spc="0" baseline="0" dirty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年轻状态</a:t>
                </a:r>
              </a:p>
            </p:txBody>
          </p:sp>
        </p:grpSp>
        <p:grpSp>
          <p:nvGrpSpPr>
            <p:cNvPr id="41" name="图形 2">
              <a:extLst>
                <a:ext uri="{FF2B5EF4-FFF2-40B4-BE49-F238E27FC236}">
                  <a16:creationId xmlns:a16="http://schemas.microsoft.com/office/drawing/2014/main" id="{D942D7A2-D2C6-E38C-6137-E53C917133F7}"/>
                </a:ext>
              </a:extLst>
            </p:cNvPr>
            <p:cNvGrpSpPr/>
            <p:nvPr/>
          </p:nvGrpSpPr>
          <p:grpSpPr>
            <a:xfrm>
              <a:off x="4350053" y="5446304"/>
              <a:ext cx="1448688" cy="660497"/>
              <a:chOff x="4845843" y="4476750"/>
              <a:chExt cx="1143000" cy="571500"/>
            </a:xfrm>
          </p:grpSpPr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BF3DA94E-6B58-F1E1-7581-BD7E41EC4BCD}"/>
                  </a:ext>
                </a:extLst>
              </p:cNvPr>
              <p:cNvSpPr/>
              <p:nvPr/>
            </p:nvSpPr>
            <p:spPr>
              <a:xfrm>
                <a:off x="4845843" y="4476750"/>
                <a:ext cx="1143000" cy="571500"/>
              </a:xfrm>
              <a:prstGeom prst="rect">
                <a:avLst/>
              </a:prstGeom>
              <a:solidFill>
                <a:srgbClr val="6A8695"/>
              </a:solidFill>
              <a:ln w="28575" cap="flat">
                <a:solidFill>
                  <a:srgbClr val="BAC8D3"/>
                </a:solidFill>
                <a:prstDash val="solid"/>
                <a:miter/>
              </a:ln>
            </p:spPr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37C739D1-3318-E0C1-6F7C-0A38DD87A6EE}"/>
                  </a:ext>
                </a:extLst>
              </p:cNvPr>
              <p:cNvSpPr txBox="1"/>
              <p:nvPr/>
            </p:nvSpPr>
            <p:spPr>
              <a:xfrm>
                <a:off x="5097889" y="4575207"/>
                <a:ext cx="507419" cy="2130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epoch+1</a:t>
                </a:r>
              </a:p>
            </p:txBody>
          </p: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B7D54C11-EA10-6799-F57C-9C32EA4945B1}"/>
                  </a:ext>
                </a:extLst>
              </p:cNvPr>
              <p:cNvSpPr txBox="1"/>
              <p:nvPr/>
            </p:nvSpPr>
            <p:spPr>
              <a:xfrm>
                <a:off x="4918710" y="4691088"/>
                <a:ext cx="853961" cy="2130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（重定向回收）</a:t>
                </a:r>
              </a:p>
            </p:txBody>
          </p:sp>
        </p:grpSp>
        <p:grpSp>
          <p:nvGrpSpPr>
            <p:cNvPr id="42" name="图形 2">
              <a:extLst>
                <a:ext uri="{FF2B5EF4-FFF2-40B4-BE49-F238E27FC236}">
                  <a16:creationId xmlns:a16="http://schemas.microsoft.com/office/drawing/2014/main" id="{3AD19277-B37A-D09F-A402-C64301CAFA04}"/>
                </a:ext>
              </a:extLst>
            </p:cNvPr>
            <p:cNvGrpSpPr/>
            <p:nvPr/>
          </p:nvGrpSpPr>
          <p:grpSpPr>
            <a:xfrm>
              <a:off x="6221273" y="5446304"/>
              <a:ext cx="1448688" cy="660497"/>
              <a:chOff x="6322218" y="4476750"/>
              <a:chExt cx="1143000" cy="571500"/>
            </a:xfrm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382F020E-3005-EE9A-3EFC-62F3CFB46852}"/>
                  </a:ext>
                </a:extLst>
              </p:cNvPr>
              <p:cNvSpPr/>
              <p:nvPr/>
            </p:nvSpPr>
            <p:spPr>
              <a:xfrm>
                <a:off x="6322218" y="4476750"/>
                <a:ext cx="1143000" cy="571500"/>
              </a:xfrm>
              <a:prstGeom prst="rect">
                <a:avLst/>
              </a:prstGeom>
              <a:solidFill>
                <a:srgbClr val="6A8695"/>
              </a:solidFill>
              <a:ln w="28575" cap="flat">
                <a:solidFill>
                  <a:srgbClr val="BAC8D3"/>
                </a:solidFill>
                <a:prstDash val="solid"/>
                <a:miter/>
              </a:ln>
            </p:spPr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49FC8C09-2399-E347-8361-274856C0D0D1}"/>
                  </a:ext>
                </a:extLst>
              </p:cNvPr>
              <p:cNvSpPr txBox="1"/>
              <p:nvPr/>
            </p:nvSpPr>
            <p:spPr>
              <a:xfrm>
                <a:off x="6569688" y="4557738"/>
                <a:ext cx="549156" cy="2130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更新</a:t>
                </a:r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BTB</a:t>
                </a:r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D4644F8C-FFF7-6658-2BB6-8B5521D0BC5C}"/>
                  </a:ext>
                </a:extLst>
              </p:cNvPr>
              <p:cNvSpPr txBox="1"/>
              <p:nvPr/>
            </p:nvSpPr>
            <p:spPr>
              <a:xfrm>
                <a:off x="6353645" y="4691088"/>
                <a:ext cx="923523" cy="2130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写真实</a:t>
                </a:r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target/type</a:t>
                </a:r>
              </a:p>
            </p:txBody>
          </p:sp>
        </p:grpSp>
        <p:grpSp>
          <p:nvGrpSpPr>
            <p:cNvPr id="43" name="图形 2">
              <a:extLst>
                <a:ext uri="{FF2B5EF4-FFF2-40B4-BE49-F238E27FC236}">
                  <a16:creationId xmlns:a16="http://schemas.microsoft.com/office/drawing/2014/main" id="{D87FC798-36C4-8890-B18B-1C0C8E38C2A6}"/>
                </a:ext>
              </a:extLst>
            </p:cNvPr>
            <p:cNvGrpSpPr/>
            <p:nvPr/>
          </p:nvGrpSpPr>
          <p:grpSpPr>
            <a:xfrm>
              <a:off x="7738164" y="5446304"/>
              <a:ext cx="1501201" cy="660497"/>
              <a:chOff x="7519035" y="4476750"/>
              <a:chExt cx="1184433" cy="571500"/>
            </a:xfrm>
          </p:grpSpPr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EC14FEE4-E04B-327F-35FD-51BCA07EC709}"/>
                  </a:ext>
                </a:extLst>
              </p:cNvPr>
              <p:cNvSpPr/>
              <p:nvPr/>
            </p:nvSpPr>
            <p:spPr>
              <a:xfrm>
                <a:off x="7560468" y="4476750"/>
                <a:ext cx="1143000" cy="571500"/>
              </a:xfrm>
              <a:prstGeom prst="rect">
                <a:avLst/>
              </a:prstGeom>
              <a:solidFill>
                <a:srgbClr val="6A8695"/>
              </a:solidFill>
              <a:ln w="28575" cap="flat">
                <a:solidFill>
                  <a:srgbClr val="BAC8D3"/>
                </a:solidFill>
                <a:prstDash val="solid"/>
                <a:miter/>
              </a:ln>
            </p:spPr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91AAA853-34B6-8F3C-D7F9-65696D58A0A9}"/>
                  </a:ext>
                </a:extLst>
              </p:cNvPr>
              <p:cNvSpPr txBox="1"/>
              <p:nvPr/>
            </p:nvSpPr>
            <p:spPr>
              <a:xfrm>
                <a:off x="7747635" y="4557738"/>
                <a:ext cx="651601" cy="2130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训练计数器</a:t>
                </a: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0D1FC80B-94CA-02A4-0708-33A8A2C791CF}"/>
                  </a:ext>
                </a:extLst>
              </p:cNvPr>
              <p:cNvSpPr txBox="1"/>
              <p:nvPr/>
            </p:nvSpPr>
            <p:spPr>
              <a:xfrm>
                <a:off x="7519035" y="4691088"/>
                <a:ext cx="1056322" cy="2130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（两个两位计数器）</a:t>
                </a:r>
              </a:p>
            </p:txBody>
          </p:sp>
        </p:grpSp>
        <p:grpSp>
          <p:nvGrpSpPr>
            <p:cNvPr id="44" name="图形 2">
              <a:extLst>
                <a:ext uri="{FF2B5EF4-FFF2-40B4-BE49-F238E27FC236}">
                  <a16:creationId xmlns:a16="http://schemas.microsoft.com/office/drawing/2014/main" id="{0E9741D7-ECC2-32D2-C16B-C9595B4FFB96}"/>
                </a:ext>
              </a:extLst>
            </p:cNvPr>
            <p:cNvGrpSpPr/>
            <p:nvPr/>
          </p:nvGrpSpPr>
          <p:grpSpPr>
            <a:xfrm>
              <a:off x="9360094" y="5440831"/>
              <a:ext cx="1448688" cy="776056"/>
              <a:chOff x="8798718" y="4472013"/>
              <a:chExt cx="1143000" cy="671487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FD82D44-8E46-66E6-1575-483E49D5434B}"/>
                  </a:ext>
                </a:extLst>
              </p:cNvPr>
              <p:cNvSpPr/>
              <p:nvPr/>
            </p:nvSpPr>
            <p:spPr>
              <a:xfrm>
                <a:off x="8798718" y="4476750"/>
                <a:ext cx="1143000" cy="666750"/>
              </a:xfrm>
              <a:prstGeom prst="rect">
                <a:avLst/>
              </a:prstGeom>
              <a:solidFill>
                <a:srgbClr val="6A8695"/>
              </a:solidFill>
              <a:ln w="28575" cap="flat">
                <a:solidFill>
                  <a:srgbClr val="BAC8D3"/>
                </a:solidFill>
                <a:prstDash val="solid"/>
                <a:miter/>
              </a:ln>
            </p:spPr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DD3ECBCE-41BD-BA3F-A40F-315FFF1FF5AF}"/>
                  </a:ext>
                </a:extLst>
              </p:cNvPr>
              <p:cNvSpPr txBox="1"/>
              <p:nvPr/>
            </p:nvSpPr>
            <p:spPr>
              <a:xfrm>
                <a:off x="9039825" y="4472013"/>
                <a:ext cx="550421" cy="2130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更新</a:t>
                </a:r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RAS</a:t>
                </a: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E245794-EA69-2CEB-A26B-F4FCC2D05D64}"/>
                  </a:ext>
                </a:extLst>
              </p:cNvPr>
              <p:cNvSpPr txBox="1"/>
              <p:nvPr/>
            </p:nvSpPr>
            <p:spPr>
              <a:xfrm>
                <a:off x="8931776" y="4605363"/>
                <a:ext cx="752781" cy="2130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真实</a:t>
                </a:r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call push</a:t>
                </a: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C92D7248-7AEA-0CA5-2A28-A5A0515EC875}"/>
                  </a:ext>
                </a:extLst>
              </p:cNvPr>
              <p:cNvSpPr txBox="1"/>
              <p:nvPr/>
            </p:nvSpPr>
            <p:spPr>
              <a:xfrm>
                <a:off x="8896811" y="4738713"/>
                <a:ext cx="843843" cy="2130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真实</a:t>
                </a:r>
                <a:r>
                  <a:rPr lang="zh-CN" altLang="en-US" sz="1000" b="1" spc="0" baseline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return pop</a:t>
                </a: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1F619D28-4ED2-B2FB-022D-4E5ABF9F3985}"/>
                  </a:ext>
                </a:extLst>
              </p:cNvPr>
              <p:cNvSpPr txBox="1"/>
              <p:nvPr/>
            </p:nvSpPr>
            <p:spPr>
              <a:xfrm>
                <a:off x="8901549" y="4896635"/>
                <a:ext cx="884316" cy="2130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 dirty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异常</a:t>
                </a:r>
                <a:r>
                  <a:rPr lang="zh-CN" altLang="en-US" sz="1000" b="1" spc="0" baseline="0" dirty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/ERTN </a:t>
                </a:r>
                <a:r>
                  <a:rPr lang="zh-CN" altLang="en-US" sz="1000" b="1" spc="0" baseline="0" dirty="0">
                    <a:ln/>
                    <a:solidFill>
                      <a:srgbClr val="EEEEE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清空</a:t>
                </a:r>
              </a:p>
            </p:txBody>
          </p:sp>
        </p:grpSp>
        <p:grpSp>
          <p:nvGrpSpPr>
            <p:cNvPr id="45" name="图形 2">
              <a:extLst>
                <a:ext uri="{FF2B5EF4-FFF2-40B4-BE49-F238E27FC236}">
                  <a16:creationId xmlns:a16="http://schemas.microsoft.com/office/drawing/2014/main" id="{C6090D2C-807A-BE94-A87A-F3B8F8C54DA4}"/>
                </a:ext>
              </a:extLst>
            </p:cNvPr>
            <p:cNvGrpSpPr/>
            <p:nvPr/>
          </p:nvGrpSpPr>
          <p:grpSpPr>
            <a:xfrm>
              <a:off x="7456391" y="5110550"/>
              <a:ext cx="2167581" cy="330249"/>
              <a:chOff x="7296713" y="4186237"/>
              <a:chExt cx="1710201" cy="285750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E0895096-FAA8-3644-D969-4B715B7C0B8B}"/>
                  </a:ext>
                </a:extLst>
              </p:cNvPr>
              <p:cNvSpPr/>
              <p:nvPr/>
            </p:nvSpPr>
            <p:spPr>
              <a:xfrm>
                <a:off x="7310437" y="4186237"/>
                <a:ext cx="1633537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673415F7-FAB7-5E4C-9437-F2001B2FFB01}"/>
                  </a:ext>
                </a:extLst>
              </p:cNvPr>
              <p:cNvSpPr txBox="1"/>
              <p:nvPr/>
            </p:nvSpPr>
            <p:spPr>
              <a:xfrm>
                <a:off x="7296713" y="4195788"/>
                <a:ext cx="1710201" cy="239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050505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安全越过</a:t>
                </a:r>
                <a:r>
                  <a:rPr lang="zh-CN" altLang="en-US" sz="1200" b="1" spc="0" baseline="0" dirty="0">
                    <a:ln/>
                    <a:solidFill>
                      <a:srgbClr val="050505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EX2</a:t>
                </a:r>
                <a:r>
                  <a:rPr lang="zh-CN" altLang="en-US" sz="1200" b="1" spc="0" baseline="0" dirty="0">
                    <a:ln/>
                    <a:solidFill>
                      <a:srgbClr val="050505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：训练性能状态</a:t>
                </a:r>
              </a:p>
            </p:txBody>
          </p:sp>
        </p:grpSp>
        <p:grpSp>
          <p:nvGrpSpPr>
            <p:cNvPr id="46" name="图形 2">
              <a:extLst>
                <a:ext uri="{FF2B5EF4-FFF2-40B4-BE49-F238E27FC236}">
                  <a16:creationId xmlns:a16="http://schemas.microsoft.com/office/drawing/2014/main" id="{EA76EFEE-BD09-4A2F-10EF-78190D8C0946}"/>
                </a:ext>
              </a:extLst>
            </p:cNvPr>
            <p:cNvGrpSpPr/>
            <p:nvPr/>
          </p:nvGrpSpPr>
          <p:grpSpPr>
            <a:xfrm>
              <a:off x="2533160" y="5110550"/>
              <a:ext cx="1810858" cy="330249"/>
              <a:chOff x="3412331" y="4186237"/>
              <a:chExt cx="1428750" cy="285750"/>
            </a:xfrm>
          </p:grpSpPr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134B246D-052C-9C58-D558-29FA5E2BF229}"/>
                  </a:ext>
                </a:extLst>
              </p:cNvPr>
              <p:cNvSpPr/>
              <p:nvPr/>
            </p:nvSpPr>
            <p:spPr>
              <a:xfrm>
                <a:off x="3412331" y="4186237"/>
                <a:ext cx="142875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189EB444-E154-212B-CBE0-0F468AD03393}"/>
                  </a:ext>
                </a:extLst>
              </p:cNvPr>
              <p:cNvSpPr txBox="1"/>
              <p:nvPr/>
            </p:nvSpPr>
            <p:spPr>
              <a:xfrm>
                <a:off x="3575685" y="4195788"/>
                <a:ext cx="1117031" cy="239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050505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猜错：恢复正确性</a:t>
                </a:r>
              </a:p>
            </p:txBody>
          </p:sp>
        </p:grpSp>
        <p:grpSp>
          <p:nvGrpSpPr>
            <p:cNvPr id="47" name="图形 2">
              <a:extLst>
                <a:ext uri="{FF2B5EF4-FFF2-40B4-BE49-F238E27FC236}">
                  <a16:creationId xmlns:a16="http://schemas.microsoft.com/office/drawing/2014/main" id="{3B48EE4D-F943-F306-AE1B-F440FC166454}"/>
                </a:ext>
              </a:extLst>
            </p:cNvPr>
            <p:cNvGrpSpPr/>
            <p:nvPr/>
          </p:nvGrpSpPr>
          <p:grpSpPr>
            <a:xfrm>
              <a:off x="10273130" y="4345474"/>
              <a:ext cx="108651" cy="595879"/>
              <a:chOff x="9519094" y="3524250"/>
              <a:chExt cx="85725" cy="515588"/>
            </a:xfrm>
          </p:grpSpPr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7280C161-BAE3-898F-95D1-A21F4D235D4E}"/>
                  </a:ext>
                </a:extLst>
              </p:cNvPr>
              <p:cNvSpPr/>
              <p:nvPr/>
            </p:nvSpPr>
            <p:spPr>
              <a:xfrm>
                <a:off x="9561099" y="3524250"/>
                <a:ext cx="857" cy="451294"/>
              </a:xfrm>
              <a:custGeom>
                <a:avLst/>
                <a:gdLst>
                  <a:gd name="csX0" fmla="*/ 1 w 857"/>
                  <a:gd name="csY0" fmla="*/ 1 h 451294"/>
                  <a:gd name="csX1" fmla="*/ 858 w 857"/>
                  <a:gd name="csY1" fmla="*/ 451295 h 4512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57" h="451294">
                    <a:moveTo>
                      <a:pt x="1" y="1"/>
                    </a:moveTo>
                    <a:lnTo>
                      <a:pt x="858" y="451295"/>
                    </a:lnTo>
                  </a:path>
                </a:pathLst>
              </a:custGeom>
              <a:noFill/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ACF9A4AB-BA62-744B-0E3E-94F18571A8EC}"/>
                  </a:ext>
                </a:extLst>
              </p:cNvPr>
              <p:cNvSpPr/>
              <p:nvPr/>
            </p:nvSpPr>
            <p:spPr>
              <a:xfrm>
                <a:off x="9519094" y="3954017"/>
                <a:ext cx="85725" cy="85820"/>
              </a:xfrm>
              <a:custGeom>
                <a:avLst/>
                <a:gdLst>
                  <a:gd name="csX0" fmla="*/ 43054 w 85725"/>
                  <a:gd name="csY0" fmla="*/ 85821 h 85820"/>
                  <a:gd name="csX1" fmla="*/ 1 w 85725"/>
                  <a:gd name="csY1" fmla="*/ 96 h 85820"/>
                  <a:gd name="csX2" fmla="*/ 42863 w 85725"/>
                  <a:gd name="csY2" fmla="*/ 21527 h 85820"/>
                  <a:gd name="csX3" fmla="*/ 85726 w 85725"/>
                  <a:gd name="csY3" fmla="*/ 1 h 85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85820">
                    <a:moveTo>
                      <a:pt x="43054" y="85821"/>
                    </a:moveTo>
                    <a:lnTo>
                      <a:pt x="1" y="96"/>
                    </a:lnTo>
                    <a:lnTo>
                      <a:pt x="42863" y="21527"/>
                    </a:lnTo>
                    <a:lnTo>
                      <a:pt x="85726" y="1"/>
                    </a:lnTo>
                    <a:close/>
                  </a:path>
                </a:pathLst>
              </a:custGeom>
              <a:solidFill>
                <a:srgbClr val="0B4D6A"/>
              </a:solidFill>
              <a:ln w="28575" cap="flat">
                <a:solidFill>
                  <a:srgbClr val="0B4D6A"/>
                </a:solidFill>
                <a:prstDash val="solid"/>
                <a:miter/>
              </a:ln>
            </p:spPr>
          </p:sp>
        </p:grpSp>
        <p:grpSp>
          <p:nvGrpSpPr>
            <p:cNvPr id="54" name="图形 2">
              <a:extLst>
                <a:ext uri="{FF2B5EF4-FFF2-40B4-BE49-F238E27FC236}">
                  <a16:creationId xmlns:a16="http://schemas.microsoft.com/office/drawing/2014/main" id="{C041FC37-3F52-C02C-878A-A17621D967F7}"/>
                </a:ext>
              </a:extLst>
            </p:cNvPr>
            <p:cNvGrpSpPr/>
            <p:nvPr/>
          </p:nvGrpSpPr>
          <p:grpSpPr>
            <a:xfrm>
              <a:off x="2780403" y="2138312"/>
              <a:ext cx="2903359" cy="330249"/>
              <a:chOff x="3607403" y="1614487"/>
              <a:chExt cx="2290722" cy="285750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98EC9BD4-2D0A-0240-CD51-B45E9031A40E}"/>
                  </a:ext>
                </a:extLst>
              </p:cNvPr>
              <p:cNvSpPr/>
              <p:nvPr/>
            </p:nvSpPr>
            <p:spPr>
              <a:xfrm>
                <a:off x="3617118" y="1614487"/>
                <a:ext cx="219075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CDFE14E4-6BB5-8791-878F-D931653B3518}"/>
                  </a:ext>
                </a:extLst>
              </p:cNvPr>
              <p:cNvSpPr txBox="1"/>
              <p:nvPr/>
            </p:nvSpPr>
            <p:spPr>
              <a:xfrm>
                <a:off x="3607403" y="1624038"/>
                <a:ext cx="2290722" cy="239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050505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预测路径：同一拍用当前</a:t>
                </a:r>
                <a:r>
                  <a:rPr lang="zh-CN" altLang="en-US" sz="1200" b="1" spc="0" baseline="0" dirty="0">
                    <a:ln/>
                    <a:solidFill>
                      <a:srgbClr val="050505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PC</a:t>
                </a:r>
                <a:r>
                  <a:rPr lang="zh-CN" altLang="en-US" sz="1200" b="1" spc="0" baseline="0" dirty="0">
                    <a:ln/>
                    <a:solidFill>
                      <a:srgbClr val="050505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预测下一</a:t>
                </a:r>
                <a:r>
                  <a:rPr lang="zh-CN" altLang="en-US" sz="1200" b="1" spc="0" baseline="0" dirty="0">
                    <a:ln/>
                    <a:solidFill>
                      <a:srgbClr val="050505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Helvetica"/>
                    <a:rtl val="0"/>
                  </a:rPr>
                  <a:t>PC</a:t>
                </a:r>
              </a:p>
            </p:txBody>
          </p:sp>
        </p:grpSp>
        <p:grpSp>
          <p:nvGrpSpPr>
            <p:cNvPr id="55" name="图形 2">
              <a:extLst>
                <a:ext uri="{FF2B5EF4-FFF2-40B4-BE49-F238E27FC236}">
                  <a16:creationId xmlns:a16="http://schemas.microsoft.com/office/drawing/2014/main" id="{9B981D97-F723-44C2-8485-2EA7F08739A7}"/>
                </a:ext>
              </a:extLst>
            </p:cNvPr>
            <p:cNvGrpSpPr/>
            <p:nvPr/>
          </p:nvGrpSpPr>
          <p:grpSpPr>
            <a:xfrm>
              <a:off x="7895110" y="2138312"/>
              <a:ext cx="2800767" cy="330249"/>
              <a:chOff x="7642860" y="1614487"/>
              <a:chExt cx="2209779" cy="285750"/>
            </a:xfrm>
          </p:grpSpPr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D7041FE8-289C-8C15-9B76-D627D9D451FB}"/>
                  </a:ext>
                </a:extLst>
              </p:cNvPr>
              <p:cNvSpPr/>
              <p:nvPr/>
            </p:nvSpPr>
            <p:spPr>
              <a:xfrm>
                <a:off x="7650956" y="1614487"/>
                <a:ext cx="2109787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5DB1578-7E38-2489-F8ED-45862AAEBDEB}"/>
                  </a:ext>
                </a:extLst>
              </p:cNvPr>
              <p:cNvSpPr txBox="1"/>
              <p:nvPr/>
            </p:nvSpPr>
            <p:spPr>
              <a:xfrm>
                <a:off x="7642860" y="1624038"/>
                <a:ext cx="2209779" cy="239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050505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  <a:sym typeface="微软雅黑"/>
                    <a:rtl val="0"/>
                  </a:rPr>
                  <a:t>执行路径：真实操作数具备后重新运算</a:t>
                </a:r>
              </a:p>
            </p:txBody>
          </p:sp>
        </p:grpSp>
      </p:grpSp>
      <p:sp>
        <p:nvSpPr>
          <p:cNvPr id="157" name="文本框 156">
            <a:extLst>
              <a:ext uri="{FF2B5EF4-FFF2-40B4-BE49-F238E27FC236}">
                <a16:creationId xmlns:a16="http://schemas.microsoft.com/office/drawing/2014/main" id="{D825AA4A-C530-9B03-7AFF-16EFAA304A77}"/>
              </a:ext>
            </a:extLst>
          </p:cNvPr>
          <p:cNvSpPr txBox="1"/>
          <p:nvPr/>
        </p:nvSpPr>
        <p:spPr>
          <a:xfrm>
            <a:off x="226627" y="5328342"/>
            <a:ext cx="98601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分支预测分为预测、执行校验、猜错恢复、训练更新四个阶段：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取指时借助 BTB、分支历史模式与 RAS 栈预测下一条 PC；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EX1/EX2 阶段比对真实 PC 完成校验，猜错则重定向并冲刷流水线；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同时依据真实分支信息更新 BTB、计数器与 RAS 栈，最终完成对预测器的训练。</a:t>
            </a:r>
          </a:p>
        </p:txBody>
      </p:sp>
    </p:spTree>
    <p:extLst>
      <p:ext uri="{BB962C8B-B14F-4D97-AF65-F5344CB8AC3E}">
        <p14:creationId xmlns:p14="http://schemas.microsoft.com/office/powerpoint/2010/main" val="87061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77FE-C51C-B395-1B95-4B2982A9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271371C-B733-F10C-636D-F0F46D7A5120}"/>
              </a:ext>
            </a:extLst>
          </p:cNvPr>
          <p:cNvGrpSpPr/>
          <p:nvPr/>
        </p:nvGrpSpPr>
        <p:grpSpPr>
          <a:xfrm>
            <a:off x="272400" y="926432"/>
            <a:ext cx="8858766" cy="2501073"/>
            <a:chOff x="510750" y="2100433"/>
            <a:chExt cx="15434398" cy="4068962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1093850-5D96-12A6-CB8B-23DEFBB7108D}"/>
                </a:ext>
              </a:extLst>
            </p:cNvPr>
            <p:cNvSpPr/>
            <p:nvPr/>
          </p:nvSpPr>
          <p:spPr>
            <a:xfrm>
              <a:off x="1396704" y="2625506"/>
              <a:ext cx="5507518" cy="3319121"/>
            </a:xfrm>
            <a:prstGeom prst="rect">
              <a:avLst/>
            </a:prstGeom>
            <a:solidFill>
              <a:srgbClr val="EAEEF2"/>
            </a:solidFill>
            <a:ln w="38100">
              <a:solidFill>
                <a:srgbClr val="000000"/>
              </a:solidFill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 dirty="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25" name="Text 10">
              <a:extLst>
                <a:ext uri="{FF2B5EF4-FFF2-40B4-BE49-F238E27FC236}">
                  <a16:creationId xmlns:a16="http://schemas.microsoft.com/office/drawing/2014/main" id="{757B9D91-7C56-9B7B-17A0-12EDFA5C0CA9}"/>
                </a:ext>
              </a:extLst>
            </p:cNvPr>
            <p:cNvSpPr/>
            <p:nvPr/>
          </p:nvSpPr>
          <p:spPr>
            <a:xfrm>
              <a:off x="3455906" y="2738360"/>
              <a:ext cx="1136217" cy="37223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MEM</a:t>
              </a:r>
              <a:endParaRPr lang="en-US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8AB7312F-B05C-569E-0A21-A3477A599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9888" y="3802177"/>
              <a:ext cx="4961870" cy="9858"/>
            </a:xfrm>
            <a:prstGeom prst="line">
              <a:avLst/>
            </a:prstGeom>
            <a:ln w="31750">
              <a:solidFill>
                <a:srgbClr val="657E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52A41047-EEEB-7BCF-7EFB-B6EE675CAAE8}"/>
                </a:ext>
              </a:extLst>
            </p:cNvPr>
            <p:cNvSpPr/>
            <p:nvPr/>
          </p:nvSpPr>
          <p:spPr>
            <a:xfrm>
              <a:off x="1724377" y="3249534"/>
              <a:ext cx="1566742" cy="43081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非访存类指令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 10">
              <a:extLst>
                <a:ext uri="{FF2B5EF4-FFF2-40B4-BE49-F238E27FC236}">
                  <a16:creationId xmlns:a16="http://schemas.microsoft.com/office/drawing/2014/main" id="{AB4EB004-5B66-E543-6E68-8B1FD65DD41A}"/>
                </a:ext>
              </a:extLst>
            </p:cNvPr>
            <p:cNvSpPr/>
            <p:nvPr/>
          </p:nvSpPr>
          <p:spPr>
            <a:xfrm>
              <a:off x="1606048" y="4042297"/>
              <a:ext cx="1566742" cy="43081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访存类指令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1D86737B-D28B-0DCF-3B9F-01D6E21DEACC}"/>
                </a:ext>
              </a:extLst>
            </p:cNvPr>
            <p:cNvSpPr/>
            <p:nvPr/>
          </p:nvSpPr>
          <p:spPr>
            <a:xfrm>
              <a:off x="2482005" y="4685787"/>
              <a:ext cx="1566742" cy="1088351"/>
            </a:xfrm>
            <a:prstGeom prst="rect">
              <a:avLst/>
            </a:prstGeom>
            <a:solidFill>
              <a:srgbClr val="98B4D2"/>
            </a:solidFill>
            <a:ln w="38100">
              <a:noFill/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56" name="Shape 29">
              <a:extLst>
                <a:ext uri="{FF2B5EF4-FFF2-40B4-BE49-F238E27FC236}">
                  <a16:creationId xmlns:a16="http://schemas.microsoft.com/office/drawing/2014/main" id="{312FC93E-B913-99C8-E14B-4E70143926B8}"/>
                </a:ext>
              </a:extLst>
            </p:cNvPr>
            <p:cNvSpPr/>
            <p:nvPr/>
          </p:nvSpPr>
          <p:spPr>
            <a:xfrm>
              <a:off x="3188881" y="5058527"/>
              <a:ext cx="146735" cy="600502"/>
            </a:xfrm>
            <a:prstGeom prst="roundRect">
              <a:avLst>
                <a:gd name="adj" fmla="val 4000"/>
              </a:avLst>
            </a:prstGeom>
            <a:solidFill>
              <a:srgbClr val="273B59"/>
            </a:solidFill>
            <a:ln w="19050">
              <a:solidFill>
                <a:srgbClr val="17263E"/>
              </a:solidFill>
              <a:prstDash val="solid"/>
            </a:ln>
          </p:spPr>
        </p:sp>
        <p:sp>
          <p:nvSpPr>
            <p:cNvPr id="57" name="Text 10">
              <a:extLst>
                <a:ext uri="{FF2B5EF4-FFF2-40B4-BE49-F238E27FC236}">
                  <a16:creationId xmlns:a16="http://schemas.microsoft.com/office/drawing/2014/main" id="{47FF64BF-5BFC-34BE-68A0-5BB452181F31}"/>
                </a:ext>
              </a:extLst>
            </p:cNvPr>
            <p:cNvSpPr/>
            <p:nvPr/>
          </p:nvSpPr>
          <p:spPr>
            <a:xfrm>
              <a:off x="2671181" y="4747888"/>
              <a:ext cx="1239876" cy="39105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1144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TLB</a:t>
              </a:r>
              <a:endParaRPr lang="en-US" sz="1144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8E80C8C4-E9E8-6BEC-8D0F-32787AEE6FD7}"/>
                </a:ext>
              </a:extLst>
            </p:cNvPr>
            <p:cNvGrpSpPr/>
            <p:nvPr/>
          </p:nvGrpSpPr>
          <p:grpSpPr>
            <a:xfrm>
              <a:off x="10153378" y="3061215"/>
              <a:ext cx="2735716" cy="1686672"/>
              <a:chOff x="2797182" y="8077258"/>
              <a:chExt cx="2449442" cy="1130383"/>
            </a:xfrm>
          </p:grpSpPr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CE75BC7C-B7B8-B6C8-6D12-3F06FB9A687E}"/>
                  </a:ext>
                </a:extLst>
              </p:cNvPr>
              <p:cNvSpPr/>
              <p:nvPr/>
            </p:nvSpPr>
            <p:spPr>
              <a:xfrm>
                <a:off x="2797182" y="8077258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1442B84-8EBB-5E77-D7D4-8A18AC89EF7A}"/>
                  </a:ext>
                </a:extLst>
              </p:cNvPr>
              <p:cNvSpPr/>
              <p:nvPr/>
            </p:nvSpPr>
            <p:spPr>
              <a:xfrm>
                <a:off x="2797182" y="8372720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F7ED6FFC-9179-5B7E-B155-3FEF6A05925D}"/>
                  </a:ext>
                </a:extLst>
              </p:cNvPr>
              <p:cNvSpPr/>
              <p:nvPr/>
            </p:nvSpPr>
            <p:spPr>
              <a:xfrm>
                <a:off x="2797182" y="8668183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17A37C5-60C5-7B84-6ECA-99E13C864B49}"/>
                  </a:ext>
                </a:extLst>
              </p:cNvPr>
              <p:cNvSpPr/>
              <p:nvPr/>
            </p:nvSpPr>
            <p:spPr>
              <a:xfrm>
                <a:off x="2797182" y="8963646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E9D155EB-7CE8-4D08-83E1-CFC7A082DF8E}"/>
                </a:ext>
              </a:extLst>
            </p:cNvPr>
            <p:cNvGrpSpPr/>
            <p:nvPr/>
          </p:nvGrpSpPr>
          <p:grpSpPr>
            <a:xfrm>
              <a:off x="13445412" y="2482159"/>
              <a:ext cx="2284318" cy="1193121"/>
              <a:chOff x="2797182" y="8077258"/>
              <a:chExt cx="2449442" cy="1130383"/>
            </a:xfrm>
          </p:grpSpPr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62EA3ABC-E57A-3C95-EC9F-7B7089258E8A}"/>
                  </a:ext>
                </a:extLst>
              </p:cNvPr>
              <p:cNvSpPr/>
              <p:nvPr/>
            </p:nvSpPr>
            <p:spPr>
              <a:xfrm>
                <a:off x="2797182" y="8077258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B14002B1-B779-3EAD-BDB3-64ACD3A08A52}"/>
                  </a:ext>
                </a:extLst>
              </p:cNvPr>
              <p:cNvSpPr/>
              <p:nvPr/>
            </p:nvSpPr>
            <p:spPr>
              <a:xfrm>
                <a:off x="2797182" y="8372720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DED6FE15-55BA-D14A-53EE-5446E279D94F}"/>
                  </a:ext>
                </a:extLst>
              </p:cNvPr>
              <p:cNvSpPr/>
              <p:nvPr/>
            </p:nvSpPr>
            <p:spPr>
              <a:xfrm>
                <a:off x="2797182" y="8668183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4B2C8298-0CE5-301E-5165-C79AA34AC824}"/>
                  </a:ext>
                </a:extLst>
              </p:cNvPr>
              <p:cNvSpPr/>
              <p:nvPr/>
            </p:nvSpPr>
            <p:spPr>
              <a:xfrm>
                <a:off x="2797182" y="8963646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A180AA66-64DA-15F1-6157-23FF9637DB58}"/>
                </a:ext>
              </a:extLst>
            </p:cNvPr>
            <p:cNvGrpSpPr/>
            <p:nvPr/>
          </p:nvGrpSpPr>
          <p:grpSpPr>
            <a:xfrm>
              <a:off x="7365267" y="4789440"/>
              <a:ext cx="2360190" cy="1344374"/>
              <a:chOff x="2776655" y="6939224"/>
              <a:chExt cx="2449442" cy="539458"/>
            </a:xfrm>
          </p:grpSpPr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D993883A-F9B5-7458-BA47-20D0F062FB5A}"/>
                  </a:ext>
                </a:extLst>
              </p:cNvPr>
              <p:cNvSpPr/>
              <p:nvPr/>
            </p:nvSpPr>
            <p:spPr>
              <a:xfrm>
                <a:off x="2776655" y="6939224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848AB834-E2DA-8D01-4A83-F3C9870D9E84}"/>
                  </a:ext>
                </a:extLst>
              </p:cNvPr>
              <p:cNvSpPr/>
              <p:nvPr/>
            </p:nvSpPr>
            <p:spPr>
              <a:xfrm>
                <a:off x="2776655" y="7234687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3C5031F6-FC5A-EE2D-5686-C9B53656246C}"/>
                </a:ext>
              </a:extLst>
            </p:cNvPr>
            <p:cNvSpPr txBox="1"/>
            <p:nvPr/>
          </p:nvSpPr>
          <p:spPr>
            <a:xfrm>
              <a:off x="7034986" y="4780842"/>
              <a:ext cx="2851416" cy="791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400" b="1" i="1" u="none" strike="noStrike" cap="none" spc="0" normalizeH="0" baseline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highlight>
                    <a:srgbClr val="EAEEF2"/>
                  </a:highlight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2pPr>
              <a:lvl3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3pPr>
              <a:lvl4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4pPr>
              <a:lvl5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5pPr>
              <a:lvl6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6pPr>
              <a:lvl7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7pPr>
              <a:lvl8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8pPr>
              <a:lvl9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9pPr>
            </a:lstStyle>
            <a:p>
              <a:r>
                <a:rPr lang="en-US" altLang="zh-CN" sz="1280" dirty="0"/>
                <a:t>2</a:t>
              </a:r>
              <a:r>
                <a:rPr lang="zh-CN" altLang="en-US" sz="1280" dirty="0"/>
                <a:t>项</a:t>
              </a:r>
              <a:br>
                <a:rPr lang="en-US" altLang="zh-CN" sz="1280" dirty="0"/>
              </a:br>
              <a:r>
                <a:rPr lang="en-US" altLang="zh-CN" sz="1280" dirty="0"/>
                <a:t>LQ</a:t>
              </a:r>
              <a:endParaRPr lang="zh-CN" altLang="en-US" sz="128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F8C3E1E0-30B5-B6D5-A595-C6E383C05E42}"/>
                </a:ext>
              </a:extLst>
            </p:cNvPr>
            <p:cNvSpPr txBox="1"/>
            <p:nvPr/>
          </p:nvSpPr>
          <p:spPr>
            <a:xfrm>
              <a:off x="10026744" y="3211300"/>
              <a:ext cx="2846149" cy="791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400" b="1" i="1" u="none" strike="noStrike" cap="none" spc="0" normalizeH="0" baseline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highlight>
                    <a:srgbClr val="EAEEF2"/>
                  </a:highlight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2pPr>
              <a:lvl3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3pPr>
              <a:lvl4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4pPr>
              <a:lvl5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5pPr>
              <a:lvl6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6pPr>
              <a:lvl7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7pPr>
              <a:lvl8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8pPr>
              <a:lvl9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9pPr>
            </a:lstStyle>
            <a:p>
              <a:r>
                <a:rPr lang="en-US" altLang="zh-CN" sz="1280" dirty="0"/>
                <a:t>4</a:t>
              </a:r>
              <a:r>
                <a:rPr lang="zh-CN" altLang="en-US" sz="1280" dirty="0"/>
                <a:t>项</a:t>
              </a:r>
              <a:br>
                <a:rPr lang="en-US" altLang="zh-CN" sz="1280" dirty="0"/>
              </a:br>
              <a:r>
                <a:rPr lang="en-US" altLang="zh-CN" sz="1280" dirty="0"/>
                <a:t>WBQ</a:t>
              </a:r>
              <a:endParaRPr lang="zh-CN" altLang="en-US" sz="128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DA91D9E-55BC-1851-DA66-8D5BA3344EE0}"/>
                </a:ext>
              </a:extLst>
            </p:cNvPr>
            <p:cNvSpPr txBox="1"/>
            <p:nvPr/>
          </p:nvSpPr>
          <p:spPr>
            <a:xfrm>
              <a:off x="13098999" y="2483404"/>
              <a:ext cx="2846149" cy="791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400" b="1" i="1" u="none" strike="noStrike" cap="none" spc="0" normalizeH="0" baseline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highlight>
                    <a:srgbClr val="EAEEF2"/>
                  </a:highlight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2pPr>
              <a:lvl3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3pPr>
              <a:lvl4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4pPr>
              <a:lvl5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5pPr>
              <a:lvl6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6pPr>
              <a:lvl7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7pPr>
              <a:lvl8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8pPr>
              <a:lvl9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9pPr>
            </a:lstStyle>
            <a:p>
              <a:r>
                <a:rPr lang="en-US" altLang="zh-CN" sz="1280" dirty="0"/>
                <a:t>4</a:t>
              </a:r>
              <a:r>
                <a:rPr lang="zh-CN" altLang="en-US" sz="1280" dirty="0"/>
                <a:t>项</a:t>
              </a:r>
              <a:br>
                <a:rPr lang="en-US" altLang="zh-CN" sz="1280" dirty="0"/>
              </a:br>
              <a:r>
                <a:rPr lang="en-US" altLang="zh-CN" sz="1280" dirty="0"/>
                <a:t>SB</a:t>
              </a:r>
              <a:endParaRPr lang="zh-CN" altLang="en-US" sz="1280" dirty="0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83DC2561-13E0-49BD-F296-C2332403ABDD}"/>
                </a:ext>
              </a:extLst>
            </p:cNvPr>
            <p:cNvSpPr txBox="1"/>
            <p:nvPr/>
          </p:nvSpPr>
          <p:spPr>
            <a:xfrm>
              <a:off x="7040253" y="5648266"/>
              <a:ext cx="2846149" cy="4706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400" b="1" i="1" u="none" strike="noStrike" cap="none" spc="0" normalizeH="0" baseline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highlight>
                    <a:srgbClr val="EAEEF2"/>
                  </a:highlight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2pPr>
              <a:lvl3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3pPr>
              <a:lvl4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4pPr>
              <a:lvl5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5pPr>
              <a:lvl6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6pPr>
              <a:lvl7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7pPr>
              <a:lvl8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8pPr>
              <a:lvl9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9pPr>
            </a:lstStyle>
            <a:p>
              <a:r>
                <a:rPr lang="en-US" altLang="zh-CN" sz="1280" dirty="0"/>
                <a:t>Load</a:t>
              </a:r>
              <a:r>
                <a:rPr lang="zh-CN" altLang="en-US" sz="1280" dirty="0"/>
                <a:t>类指令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900FC718-BBEA-127D-C19A-1831F4A73648}"/>
                </a:ext>
              </a:extLst>
            </p:cNvPr>
            <p:cNvSpPr txBox="1"/>
            <p:nvPr/>
          </p:nvSpPr>
          <p:spPr>
            <a:xfrm>
              <a:off x="13098999" y="3253886"/>
              <a:ext cx="2846149" cy="4706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400" b="1" i="1" u="none" strike="noStrike" cap="none" spc="0" normalizeH="0" baseline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highlight>
                    <a:srgbClr val="EAEEF2"/>
                  </a:highlight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2pPr>
              <a:lvl3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3pPr>
              <a:lvl4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4pPr>
              <a:lvl5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5pPr>
              <a:lvl6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6pPr>
              <a:lvl7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7pPr>
              <a:lvl8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8pPr>
              <a:lvl9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9pPr>
            </a:lstStyle>
            <a:p>
              <a:r>
                <a:rPr lang="zh-CN" altLang="en-US" sz="1280" dirty="0"/>
                <a:t>已退休</a:t>
              </a:r>
              <a:r>
                <a:rPr lang="en-US" altLang="zh-CN" sz="1280" dirty="0"/>
                <a:t>store</a:t>
              </a:r>
              <a:endParaRPr lang="zh-CN" altLang="en-US" sz="128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2CCFBF94-8CB8-5E03-833B-C1AEB33A0B33}"/>
                </a:ext>
              </a:extLst>
            </p:cNvPr>
            <p:cNvSpPr txBox="1"/>
            <p:nvPr/>
          </p:nvSpPr>
          <p:spPr>
            <a:xfrm>
              <a:off x="10042944" y="4034635"/>
              <a:ext cx="2846149" cy="4706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400" b="1" i="1" u="none" strike="noStrike" cap="none" spc="0" normalizeH="0" baseline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highlight>
                    <a:srgbClr val="EAEEF2"/>
                  </a:highlight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2pPr>
              <a:lvl3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3pPr>
              <a:lvl4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4pPr>
              <a:lvl5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5pPr>
              <a:lvl6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6pPr>
              <a:lvl7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7pPr>
              <a:lvl8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8pPr>
              <a:lvl9pPr>
                <a:defRPr>
                  <a:solidFill>
                    <a:srgbClr val="000000"/>
                  </a:solidFill>
                  <a:latin typeface="等线" panose="02010600030101010101" charset="-122"/>
                  <a:cs typeface="+mn-ea"/>
                </a:defRPr>
              </a:lvl9pPr>
            </a:lstStyle>
            <a:p>
              <a:r>
                <a:rPr lang="zh-CN" altLang="en-US" sz="1280" dirty="0"/>
                <a:t>顺序退休</a:t>
              </a:r>
            </a:p>
          </p:txBody>
        </p: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99C560C-B316-2994-CF8C-558CF6C4A558}"/>
                </a:ext>
              </a:extLst>
            </p:cNvPr>
            <p:cNvCxnSpPr/>
            <p:nvPr/>
          </p:nvCxnSpPr>
          <p:spPr>
            <a:xfrm>
              <a:off x="6904222" y="3512254"/>
              <a:ext cx="3249156" cy="0"/>
            </a:xfrm>
            <a:prstGeom prst="straightConnector1">
              <a:avLst/>
            </a:prstGeom>
            <a:ln w="34925">
              <a:solidFill>
                <a:srgbClr val="657E9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连接符: 肘形 81">
              <a:extLst>
                <a:ext uri="{FF2B5EF4-FFF2-40B4-BE49-F238E27FC236}">
                  <a16:creationId xmlns:a16="http://schemas.microsoft.com/office/drawing/2014/main" id="{C4A05B32-00CB-59A7-A0E4-200E62AF79D1}"/>
                </a:ext>
              </a:extLst>
            </p:cNvPr>
            <p:cNvCxnSpPr>
              <a:cxnSpLocks/>
              <a:endCxn id="75" idx="0"/>
            </p:cNvCxnSpPr>
            <p:nvPr/>
          </p:nvCxnSpPr>
          <p:spPr>
            <a:xfrm>
              <a:off x="6904221" y="3981161"/>
              <a:ext cx="1556473" cy="799681"/>
            </a:xfrm>
            <a:prstGeom prst="bentConnector2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6D977FD9-0A09-E8C2-9052-1876FD7B62AD}"/>
                </a:ext>
              </a:extLst>
            </p:cNvPr>
            <p:cNvGrpSpPr/>
            <p:nvPr/>
          </p:nvGrpSpPr>
          <p:grpSpPr>
            <a:xfrm>
              <a:off x="10702187" y="5372078"/>
              <a:ext cx="4460209" cy="797317"/>
              <a:chOff x="17256791" y="10599757"/>
              <a:chExt cx="2472482" cy="797317"/>
            </a:xfrm>
          </p:grpSpPr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8897537E-2815-2365-A832-FFB917AC2D87}"/>
                  </a:ext>
                </a:extLst>
              </p:cNvPr>
              <p:cNvSpPr/>
              <p:nvPr/>
            </p:nvSpPr>
            <p:spPr>
              <a:xfrm>
                <a:off x="17256791" y="10599757"/>
                <a:ext cx="2472482" cy="797317"/>
              </a:xfrm>
              <a:prstGeom prst="rect">
                <a:avLst/>
              </a:prstGeom>
              <a:solidFill>
                <a:srgbClr val="F6F8F9">
                  <a:lumMod val="50000"/>
                </a:srgbClr>
              </a:solidFill>
              <a:ln>
                <a:solidFill>
                  <a:srgbClr val="638495"/>
                </a:solidFill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960">
                  <a:solidFill>
                    <a:prstClr val="white"/>
                  </a:solidFill>
                  <a:ea typeface="等线" panose="02010600030101010101" charset="-122"/>
                </a:endParaRPr>
              </a:p>
            </p:txBody>
          </p:sp>
          <p:sp>
            <p:nvSpPr>
              <p:cNvPr id="86" name="Text 10">
                <a:extLst>
                  <a:ext uri="{FF2B5EF4-FFF2-40B4-BE49-F238E27FC236}">
                    <a16:creationId xmlns:a16="http://schemas.microsoft.com/office/drawing/2014/main" id="{EFB3DE48-DF35-A3FD-808E-9E8422A94528}"/>
                  </a:ext>
                </a:extLst>
              </p:cNvPr>
              <p:cNvSpPr/>
              <p:nvPr/>
            </p:nvSpPr>
            <p:spPr>
              <a:xfrm>
                <a:off x="17722346" y="10815221"/>
                <a:ext cx="1450924" cy="3663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rm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387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数据类</a:t>
                </a:r>
                <a:r>
                  <a:rPr lang="en-US" altLang="zh-CN" sz="1387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sram</a:t>
                </a:r>
                <a:endParaRPr lang="en-US" sz="138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DDAFDD9E-6BAF-DEA4-E4D0-CAB2117AEC26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>
              <a:off x="9725457" y="5770737"/>
              <a:ext cx="976730" cy="0"/>
            </a:xfrm>
            <a:prstGeom prst="straightConnector1">
              <a:avLst/>
            </a:prstGeom>
            <a:ln w="34925">
              <a:solidFill>
                <a:srgbClr val="657E9A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97BD0763-A266-805F-439F-416E513306F0}"/>
                </a:ext>
              </a:extLst>
            </p:cNvPr>
            <p:cNvCxnSpPr>
              <a:stCxn id="79" idx="2"/>
            </p:cNvCxnSpPr>
            <p:nvPr/>
          </p:nvCxnSpPr>
          <p:spPr>
            <a:xfrm flipH="1">
              <a:off x="14522073" y="3724560"/>
              <a:ext cx="2" cy="1587003"/>
            </a:xfrm>
            <a:prstGeom prst="straightConnector1">
              <a:avLst/>
            </a:prstGeom>
            <a:ln w="34925">
              <a:solidFill>
                <a:srgbClr val="657E9A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连接符: 肘形 88">
              <a:extLst>
                <a:ext uri="{FF2B5EF4-FFF2-40B4-BE49-F238E27FC236}">
                  <a16:creationId xmlns:a16="http://schemas.microsoft.com/office/drawing/2014/main" id="{00314C20-12EE-5122-EE37-AE5BB8CA460E}"/>
                </a:ext>
              </a:extLst>
            </p:cNvPr>
            <p:cNvCxnSpPr>
              <a:stCxn id="64" idx="2"/>
            </p:cNvCxnSpPr>
            <p:nvPr/>
          </p:nvCxnSpPr>
          <p:spPr>
            <a:xfrm rot="5400000" flipH="1" flipV="1">
              <a:off x="12074071" y="3122445"/>
              <a:ext cx="1072606" cy="2178277"/>
            </a:xfrm>
            <a:prstGeom prst="bentConnector4">
              <a:avLst>
                <a:gd name="adj1" fmla="val -21313"/>
                <a:gd name="adj2" fmla="val 99625"/>
              </a:avLst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FB2C81DA-B3CA-C131-3684-496EA2FBD906}"/>
                </a:ext>
              </a:extLst>
            </p:cNvPr>
            <p:cNvSpPr/>
            <p:nvPr/>
          </p:nvSpPr>
          <p:spPr>
            <a:xfrm>
              <a:off x="7881528" y="2100433"/>
              <a:ext cx="2310159" cy="830998"/>
            </a:xfrm>
            <a:prstGeom prst="rect">
              <a:avLst/>
            </a:prstGeom>
            <a:solidFill>
              <a:srgbClr val="2B4663">
                <a:lumMod val="50000"/>
              </a:srgbClr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152EB841-46FF-86D9-AFEA-281F6FA24B50}"/>
                </a:ext>
              </a:extLst>
            </p:cNvPr>
            <p:cNvSpPr txBox="1"/>
            <p:nvPr/>
          </p:nvSpPr>
          <p:spPr>
            <a:xfrm>
              <a:off x="7930255" y="2247020"/>
              <a:ext cx="2145870" cy="523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r>
                <a:rPr lang="en-US" altLang="zh-CN" sz="1493" b="1" i="1" dirty="0">
                  <a:solidFill>
                    <a:prstClr val="white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Scoreboard</a:t>
              </a:r>
              <a:endParaRPr lang="zh-CN" altLang="en-US" sz="1493" b="1" i="1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95" name="Text 10">
              <a:extLst>
                <a:ext uri="{FF2B5EF4-FFF2-40B4-BE49-F238E27FC236}">
                  <a16:creationId xmlns:a16="http://schemas.microsoft.com/office/drawing/2014/main" id="{578CF2D5-8454-D9BA-DD88-94C1CDEE371D}"/>
                </a:ext>
              </a:extLst>
            </p:cNvPr>
            <p:cNvSpPr/>
            <p:nvPr/>
          </p:nvSpPr>
          <p:spPr>
            <a:xfrm>
              <a:off x="11736470" y="2207315"/>
              <a:ext cx="1136217" cy="37223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WB</a:t>
              </a:r>
              <a:endParaRPr lang="en-US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Text 10">
              <a:extLst>
                <a:ext uri="{FF2B5EF4-FFF2-40B4-BE49-F238E27FC236}">
                  <a16:creationId xmlns:a16="http://schemas.microsoft.com/office/drawing/2014/main" id="{F3949F8D-F230-EA69-1B08-2E941DA6FC67}"/>
                </a:ext>
              </a:extLst>
            </p:cNvPr>
            <p:cNvSpPr/>
            <p:nvPr/>
          </p:nvSpPr>
          <p:spPr>
            <a:xfrm>
              <a:off x="7981437" y="3112479"/>
              <a:ext cx="1044855" cy="37223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85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WBQ</a:t>
              </a:r>
              <a:r>
                <a:rPr lang="zh-CN" altLang="en-US" sz="85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入队</a:t>
              </a:r>
              <a:endParaRPr lang="en-US" sz="85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903DF0D0-2E88-555A-C3E9-20720E6AB3B5}"/>
                </a:ext>
              </a:extLst>
            </p:cNvPr>
            <p:cNvCxnSpPr>
              <a:cxnSpLocks/>
              <a:endCxn id="91" idx="2"/>
            </p:cNvCxnSpPr>
            <p:nvPr/>
          </p:nvCxnSpPr>
          <p:spPr>
            <a:xfrm flipV="1">
              <a:off x="9026292" y="2931431"/>
              <a:ext cx="10316" cy="567635"/>
            </a:xfrm>
            <a:prstGeom prst="straightConnector1">
              <a:avLst/>
            </a:prstGeom>
            <a:ln w="34925">
              <a:solidFill>
                <a:srgbClr val="F1962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58D2505F-2F3B-4B56-A8CE-1007E77F43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8758" y="2931431"/>
              <a:ext cx="0" cy="1816457"/>
            </a:xfrm>
            <a:prstGeom prst="straightConnector1">
              <a:avLst/>
            </a:prstGeom>
            <a:ln w="34925">
              <a:solidFill>
                <a:srgbClr val="F1962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 10">
              <a:extLst>
                <a:ext uri="{FF2B5EF4-FFF2-40B4-BE49-F238E27FC236}">
                  <a16:creationId xmlns:a16="http://schemas.microsoft.com/office/drawing/2014/main" id="{ED509D00-3320-7DC3-10EA-70336F81F502}"/>
                </a:ext>
              </a:extLst>
            </p:cNvPr>
            <p:cNvSpPr/>
            <p:nvPr/>
          </p:nvSpPr>
          <p:spPr>
            <a:xfrm>
              <a:off x="8808979" y="4332906"/>
              <a:ext cx="1044855" cy="37223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85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LQ</a:t>
              </a:r>
              <a:r>
                <a:rPr lang="zh-CN" altLang="en-US" sz="85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数据返回</a:t>
              </a:r>
              <a:endParaRPr lang="en-US" sz="85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5" name="连接符: 肘形 104">
              <a:extLst>
                <a:ext uri="{FF2B5EF4-FFF2-40B4-BE49-F238E27FC236}">
                  <a16:creationId xmlns:a16="http://schemas.microsoft.com/office/drawing/2014/main" id="{8D05724A-7F05-5173-443E-7AC6F2645931}"/>
                </a:ext>
              </a:extLst>
            </p:cNvPr>
            <p:cNvCxnSpPr/>
            <p:nvPr/>
          </p:nvCxnSpPr>
          <p:spPr>
            <a:xfrm rot="10800000">
              <a:off x="10213822" y="2543595"/>
              <a:ext cx="749554" cy="507962"/>
            </a:xfrm>
            <a:prstGeom prst="bentConnector3">
              <a:avLst>
                <a:gd name="adj1" fmla="val 240"/>
              </a:avLst>
            </a:prstGeom>
            <a:ln w="34925">
              <a:solidFill>
                <a:srgbClr val="F1962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 10">
              <a:extLst>
                <a:ext uri="{FF2B5EF4-FFF2-40B4-BE49-F238E27FC236}">
                  <a16:creationId xmlns:a16="http://schemas.microsoft.com/office/drawing/2014/main" id="{A848E045-C261-51C0-1B43-5BCD6B752A3B}"/>
                </a:ext>
              </a:extLst>
            </p:cNvPr>
            <p:cNvSpPr/>
            <p:nvPr/>
          </p:nvSpPr>
          <p:spPr>
            <a:xfrm>
              <a:off x="10454849" y="2258738"/>
              <a:ext cx="1044855" cy="37223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85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WBQ</a:t>
              </a:r>
              <a:r>
                <a:rPr lang="zh-CN" altLang="en-US" sz="85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队首退休</a:t>
              </a:r>
              <a:endParaRPr lang="en-US" sz="85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Shape 29">
              <a:extLst>
                <a:ext uri="{FF2B5EF4-FFF2-40B4-BE49-F238E27FC236}">
                  <a16:creationId xmlns:a16="http://schemas.microsoft.com/office/drawing/2014/main" id="{01EC86A0-CB12-B065-D04E-66B7364A3CDB}"/>
                </a:ext>
              </a:extLst>
            </p:cNvPr>
            <p:cNvSpPr/>
            <p:nvPr/>
          </p:nvSpPr>
          <p:spPr>
            <a:xfrm>
              <a:off x="510750" y="2217500"/>
              <a:ext cx="421261" cy="3892431"/>
            </a:xfrm>
            <a:prstGeom prst="roundRect">
              <a:avLst>
                <a:gd name="adj" fmla="val 4000"/>
              </a:avLst>
            </a:prstGeom>
            <a:solidFill>
              <a:srgbClr val="273B59"/>
            </a:solidFill>
            <a:ln w="19050">
              <a:solidFill>
                <a:srgbClr val="17263E"/>
              </a:solidFill>
              <a:prstDash val="solid"/>
            </a:ln>
          </p:spPr>
          <p:txBody>
            <a:bodyPr/>
            <a:lstStyle/>
            <a:p>
              <a:endParaRPr lang="zh-CN" altLang="en-US" sz="960" dirty="0"/>
            </a:p>
          </p:txBody>
        </p:sp>
      </p:grp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24A17C0-6AA1-62CB-FE7F-5CCC04A5B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389687"/>
              </p:ext>
            </p:extLst>
          </p:nvPr>
        </p:nvGraphicFramePr>
        <p:xfrm>
          <a:off x="583800" y="3919814"/>
          <a:ext cx="9722532" cy="1109472"/>
        </p:xfrm>
        <a:graphic>
          <a:graphicData uri="http://schemas.openxmlformats.org/drawingml/2006/table">
            <a:tbl>
              <a:tblPr/>
              <a:tblGrid>
                <a:gridCol w="1694180">
                  <a:extLst>
                    <a:ext uri="{9D8B030D-6E8A-4147-A177-3AD203B41FA5}">
                      <a16:colId xmlns:a16="http://schemas.microsoft.com/office/drawing/2014/main" val="4249841042"/>
                    </a:ext>
                  </a:extLst>
                </a:gridCol>
                <a:gridCol w="8028352">
                  <a:extLst>
                    <a:ext uri="{9D8B030D-6E8A-4147-A177-3AD203B41FA5}">
                      <a16:colId xmlns:a16="http://schemas.microsoft.com/office/drawing/2014/main" val="4170023411"/>
                    </a:ext>
                  </a:extLst>
                </a:gridCol>
              </a:tblGrid>
              <a:tr h="27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拍内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MEM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地址翻译、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Store Forwarding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检查；拍末同时分配 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LQ + WBQ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WBQ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为 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ready=0</a:t>
                      </a:r>
                      <a:endParaRPr lang="zh-CN" altLang="en-US" sz="1500" b="1" kern="1200" dirty="0">
                        <a:solidFill>
                          <a:srgbClr val="1720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138448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拍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若 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LQ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前项已发射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/ready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，则拍内向 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D-cache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发请求，并握手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64947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 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2+N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拍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该拍途中 </a:t>
                      </a:r>
                      <a:r>
                        <a:rPr lang="en-US" sz="1500" b="1" kern="1200" dirty="0" err="1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data_ok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返回；同拍可旁路给依赖指令，拍末写入 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WBQ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并置 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ready=1</a:t>
                      </a:r>
                      <a:endParaRPr lang="zh-CN" altLang="en-US" sz="1500" b="1" kern="1200" dirty="0">
                        <a:solidFill>
                          <a:srgbClr val="1720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834131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 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3+N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拍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若已经位于 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WBQ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队首，则写 </a:t>
                      </a:r>
                      <a:r>
                        <a:rPr 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GPR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并退休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643509"/>
                  </a:ext>
                </a:extLst>
              </a:tr>
            </a:tbl>
          </a:graphicData>
        </a:graphic>
      </p:graphicFrame>
      <p:sp>
        <p:nvSpPr>
          <p:cNvPr id="7" name="Text 10">
            <a:extLst>
              <a:ext uri="{FF2B5EF4-FFF2-40B4-BE49-F238E27FC236}">
                <a16:creationId xmlns:a16="http://schemas.microsoft.com/office/drawing/2014/main" id="{046DB69B-8090-0437-DDB0-32748A9DEEDE}"/>
              </a:ext>
            </a:extLst>
          </p:cNvPr>
          <p:cNvSpPr/>
          <p:nvPr/>
        </p:nvSpPr>
        <p:spPr>
          <a:xfrm>
            <a:off x="205779" y="3568655"/>
            <a:ext cx="1540595" cy="492758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algn="ctr"/>
            <a:r>
              <a:rPr lang="zh-CN" altLang="en-US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</a:t>
            </a:r>
            <a:r>
              <a:rPr lang="en-US" altLang="zh-CN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endParaRPr lang="en-US" sz="1920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1656289-2468-AF09-8CAE-A3438D6B7823}"/>
              </a:ext>
            </a:extLst>
          </p:cNvPr>
          <p:cNvGraphicFramePr>
            <a:graphicFrameLocks noGrp="1"/>
          </p:cNvGraphicFramePr>
          <p:nvPr/>
        </p:nvGraphicFramePr>
        <p:xfrm>
          <a:off x="583799" y="5455186"/>
          <a:ext cx="10515600" cy="1109472"/>
        </p:xfrm>
        <a:graphic>
          <a:graphicData uri="http://schemas.openxmlformats.org/drawingml/2006/table">
            <a:tbl>
              <a:tblPr/>
              <a:tblGrid>
                <a:gridCol w="1681346">
                  <a:extLst>
                    <a:ext uri="{9D8B030D-6E8A-4147-A177-3AD203B41FA5}">
                      <a16:colId xmlns:a16="http://schemas.microsoft.com/office/drawing/2014/main" val="1677172438"/>
                    </a:ext>
                  </a:extLst>
                </a:gridCol>
                <a:gridCol w="8834254">
                  <a:extLst>
                    <a:ext uri="{9D8B030D-6E8A-4147-A177-3AD203B41FA5}">
                      <a16:colId xmlns:a16="http://schemas.microsoft.com/office/drawing/2014/main" val="4153824000"/>
                    </a:ext>
                  </a:extLst>
                </a:gridCol>
              </a:tblGrid>
              <a:tr h="27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拍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EX2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提前计算物理地址、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Store Forwarding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检查和直发资格，拍末存到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MEM</a:t>
                      </a:r>
                      <a:endParaRPr lang="zh-CN" altLang="en-US" sz="1500" b="1" kern="1200" dirty="0">
                        <a:solidFill>
                          <a:srgbClr val="1720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935155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拍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拍内完成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D-cache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请求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+ </a:t>
                      </a:r>
                      <a:r>
                        <a:rPr lang="en-US" altLang="zh-CN" sz="1500" b="1" kern="1200" dirty="0" err="1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addr_ok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握手，拍末分配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LQ +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分配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WBQ</a:t>
                      </a:r>
                      <a:endParaRPr lang="zh-CN" altLang="en-US" sz="1500" b="1" kern="1200" dirty="0">
                        <a:solidFill>
                          <a:srgbClr val="1720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122093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1+N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拍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500" b="1" kern="1200" dirty="0" err="1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data_ok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返回；同拍可旁路，拍末写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WBQ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并置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ready=1</a:t>
                      </a:r>
                      <a:endParaRPr lang="zh-CN" altLang="en-US" sz="1500" b="1" kern="1200" dirty="0">
                        <a:solidFill>
                          <a:srgbClr val="1720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165647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2+N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拍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若位于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WBQ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队首，则写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GPR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并退休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886926"/>
                  </a:ext>
                </a:extLst>
              </a:tr>
            </a:tbl>
          </a:graphicData>
        </a:graphic>
      </p:graphicFrame>
      <p:sp>
        <p:nvSpPr>
          <p:cNvPr id="14" name="Text 10">
            <a:extLst>
              <a:ext uri="{FF2B5EF4-FFF2-40B4-BE49-F238E27FC236}">
                <a16:creationId xmlns:a16="http://schemas.microsoft.com/office/drawing/2014/main" id="{24D6425C-62CE-9245-16D6-00F0B1D6DB99}"/>
              </a:ext>
            </a:extLst>
          </p:cNvPr>
          <p:cNvSpPr/>
          <p:nvPr/>
        </p:nvSpPr>
        <p:spPr>
          <a:xfrm>
            <a:off x="176950" y="5112357"/>
            <a:ext cx="1540595" cy="492758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algn="ctr"/>
            <a:r>
              <a:rPr lang="zh-CN" altLang="en-US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</a:t>
            </a:r>
            <a:r>
              <a:rPr lang="en-US" altLang="zh-CN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endParaRPr lang="en-US" sz="192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A7D771-3C1B-A4EB-B3AF-3E9A624C3F68}"/>
              </a:ext>
            </a:extLst>
          </p:cNvPr>
          <p:cNvSpPr txBox="1"/>
          <p:nvPr/>
        </p:nvSpPr>
        <p:spPr>
          <a:xfrm>
            <a:off x="1638736" y="5141540"/>
            <a:ext cx="10376314" cy="28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</a:t>
            </a:r>
            <a:r>
              <a:rPr lang="en-US" altLang="zh-CN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、无异常、</a:t>
            </a:r>
            <a:r>
              <a:rPr lang="en-US" altLang="zh-CN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DA/DMW</a:t>
            </a:r>
            <a:r>
              <a:rPr lang="zh-CN" altLang="en-US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cached Load+ </a:t>
            </a:r>
            <a:r>
              <a:rPr lang="zh-CN" altLang="en-US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 </a:t>
            </a:r>
            <a:r>
              <a:rPr lang="en-US" altLang="zh-CN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 </a:t>
            </a:r>
            <a:r>
              <a:rPr lang="zh-CN" altLang="en-US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  <a:r>
              <a:rPr lang="en-US" altLang="zh-CN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 </a:t>
            </a:r>
            <a:r>
              <a:rPr lang="en-US" altLang="zh-CN" sz="1280" b="1" dirty="0" err="1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uncached</a:t>
            </a:r>
            <a:r>
              <a:rPr lang="en-US" altLang="zh-CN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屏障</a:t>
            </a:r>
            <a:r>
              <a:rPr lang="en-US" altLang="zh-CN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LQ/WBQ </a:t>
            </a:r>
            <a:r>
              <a:rPr lang="zh-CN" altLang="en-US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有空间且顺序允许</a:t>
            </a:r>
            <a:r>
              <a:rPr lang="en-US" altLang="zh-CN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Cache </a:t>
            </a:r>
            <a:r>
              <a:rPr lang="zh-CN" altLang="en-US" sz="1280" b="1" dirty="0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当拍 </a:t>
            </a:r>
            <a:r>
              <a:rPr lang="en-US" altLang="zh-CN" sz="1280" b="1" dirty="0" err="1">
                <a:solidFill>
                  <a:srgbClr val="F19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addr_ok</a:t>
            </a:r>
            <a:endParaRPr lang="zh-CN" altLang="en-US" sz="1280" b="1" dirty="0">
              <a:solidFill>
                <a:srgbClr val="F196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4C2FDE8-1DCB-4E7A-027F-9814660FE95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grpSp>
        <p:nvGrpSpPr>
          <p:cNvPr id="18" name="Group 2">
            <a:extLst>
              <a:ext uri="{FF2B5EF4-FFF2-40B4-BE49-F238E27FC236}">
                <a16:creationId xmlns:a16="http://schemas.microsoft.com/office/drawing/2014/main" id="{39B0BA68-3574-966E-4F91-43DA5D9322DE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B90BD3E9-EF32-4500-60E2-3C47E55E1935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6AC848E8-99DA-2B5B-A8C1-5336E08DE433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21" name="TextBox 19">
            <a:extLst>
              <a:ext uri="{FF2B5EF4-FFF2-40B4-BE49-F238E27FC236}">
                <a16:creationId xmlns:a16="http://schemas.microsoft.com/office/drawing/2014/main" id="{40E668CC-E024-D0FC-469A-412F65392F74}"/>
              </a:ext>
            </a:extLst>
          </p:cNvPr>
          <p:cNvSpPr txBox="1"/>
          <p:nvPr/>
        </p:nvSpPr>
        <p:spPr>
          <a:xfrm>
            <a:off x="1184703" y="226295"/>
            <a:ext cx="2071888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zh-CN" altLang="en-US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提交处理</a:t>
            </a:r>
            <a:endParaRPr lang="en-US" sz="24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梯形 21">
            <a:extLst>
              <a:ext uri="{FF2B5EF4-FFF2-40B4-BE49-F238E27FC236}">
                <a16:creationId xmlns:a16="http://schemas.microsoft.com/office/drawing/2014/main" id="{E9334757-CE10-4F73-DD06-5E77CC3DB4B3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24" name="梯形 23">
            <a:extLst>
              <a:ext uri="{FF2B5EF4-FFF2-40B4-BE49-F238E27FC236}">
                <a16:creationId xmlns:a16="http://schemas.microsoft.com/office/drawing/2014/main" id="{1DA64E4F-A40D-14EB-810D-1D7DF1F7E516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2774359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55EF5-D9CF-087F-9468-899547CE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0">
            <a:extLst>
              <a:ext uri="{FF2B5EF4-FFF2-40B4-BE49-F238E27FC236}">
                <a16:creationId xmlns:a16="http://schemas.microsoft.com/office/drawing/2014/main" id="{635D6BB0-A703-60C0-9F6E-C5C82A8C4362}"/>
              </a:ext>
            </a:extLst>
          </p:cNvPr>
          <p:cNvSpPr/>
          <p:nvPr/>
        </p:nvSpPr>
        <p:spPr>
          <a:xfrm>
            <a:off x="731223" y="1186902"/>
            <a:ext cx="6140919" cy="429118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r>
              <a:rPr lang="zh-CN" altLang="en-US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内存上的</a:t>
            </a:r>
            <a:r>
              <a:rPr lang="en-US" altLang="zh-CN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RAW</a:t>
            </a:r>
            <a:r>
              <a:rPr lang="zh-CN" altLang="en-US" sz="192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  <a:endParaRPr lang="en-US" altLang="zh-CN" sz="1920" b="1" dirty="0">
              <a:solidFill>
                <a:srgbClr val="17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92A068-C366-99C9-A5F6-6D21D2E0700D}"/>
              </a:ext>
            </a:extLst>
          </p:cNvPr>
          <p:cNvSpPr txBox="1"/>
          <p:nvPr/>
        </p:nvSpPr>
        <p:spPr>
          <a:xfrm>
            <a:off x="744127" y="1766991"/>
            <a:ext cx="9583554" cy="76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较老的 </a:t>
            </a:r>
            <a:r>
              <a:rPr lang="en-US" altLang="zh-CN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 </a:t>
            </a:r>
            <a:r>
              <a:rPr lang="zh-CN" altLang="en-US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数据尚未真正写入 </a:t>
            </a:r>
            <a:r>
              <a:rPr lang="en-US" altLang="zh-CN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D-cache</a:t>
            </a:r>
            <a:r>
              <a:rPr lang="zh-CN" altLang="en-US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，而年轻 </a:t>
            </a:r>
            <a:r>
              <a:rPr lang="en-US" altLang="zh-CN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 </a:t>
            </a:r>
            <a:r>
              <a:rPr lang="zh-CN" altLang="en-US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已经访问相同地址时，直接把 </a:t>
            </a:r>
            <a:r>
              <a:rPr lang="en-US" altLang="zh-CN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 </a:t>
            </a:r>
            <a:r>
              <a:rPr lang="zh-CN" altLang="en-US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数据转发给 </a:t>
            </a:r>
            <a:r>
              <a:rPr lang="en-US" altLang="zh-CN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，避免 </a:t>
            </a:r>
            <a:r>
              <a:rPr lang="en-US" altLang="zh-CN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 </a:t>
            </a:r>
            <a:r>
              <a:rPr lang="zh-CN" altLang="en-US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读到旧值，也避免等待 </a:t>
            </a:r>
            <a:r>
              <a:rPr lang="en-US" altLang="zh-CN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 </a:t>
            </a:r>
            <a:r>
              <a:rPr lang="zh-CN" altLang="en-US" sz="1707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完成。</a:t>
            </a:r>
            <a:endParaRPr lang="en-US" altLang="zh-CN" sz="1707" dirty="0">
              <a:solidFill>
                <a:srgbClr val="17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960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EA74DD6-CDB7-A08E-22B4-B6987ECEA0B9}"/>
              </a:ext>
            </a:extLst>
          </p:cNvPr>
          <p:cNvGrpSpPr/>
          <p:nvPr/>
        </p:nvGrpSpPr>
        <p:grpSpPr>
          <a:xfrm>
            <a:off x="744127" y="2607156"/>
            <a:ext cx="8812479" cy="3521697"/>
            <a:chOff x="484868" y="2628682"/>
            <a:chExt cx="8812479" cy="3521697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EB3B9DF-DAC2-F483-1E86-0561A28FD6F2}"/>
                </a:ext>
              </a:extLst>
            </p:cNvPr>
            <p:cNvSpPr txBox="1"/>
            <p:nvPr/>
          </p:nvSpPr>
          <p:spPr>
            <a:xfrm>
              <a:off x="484868" y="4447051"/>
              <a:ext cx="8812479" cy="17033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997A8C5-D3EA-5BD6-7705-DAA0E0C6C295}"/>
                </a:ext>
              </a:extLst>
            </p:cNvPr>
            <p:cNvSpPr txBox="1"/>
            <p:nvPr/>
          </p:nvSpPr>
          <p:spPr>
            <a:xfrm>
              <a:off x="484868" y="2628682"/>
              <a:ext cx="5797817" cy="15164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78C231C-B062-EA8B-BD2C-D05BEF50118E}"/>
                </a:ext>
              </a:extLst>
            </p:cNvPr>
            <p:cNvGrpSpPr/>
            <p:nvPr/>
          </p:nvGrpSpPr>
          <p:grpSpPr>
            <a:xfrm>
              <a:off x="491103" y="2811977"/>
              <a:ext cx="5570924" cy="1234046"/>
              <a:chOff x="491103" y="2671979"/>
              <a:chExt cx="5570924" cy="1234046"/>
            </a:xfrm>
          </p:grpSpPr>
          <p:sp>
            <p:nvSpPr>
              <p:cNvPr id="10" name="Text 10">
                <a:extLst>
                  <a:ext uri="{FF2B5EF4-FFF2-40B4-BE49-F238E27FC236}">
                    <a16:creationId xmlns:a16="http://schemas.microsoft.com/office/drawing/2014/main" id="{D1D1AFDC-051E-EEF0-B747-5FA414087DD3}"/>
                  </a:ext>
                </a:extLst>
              </p:cNvPr>
              <p:cNvSpPr/>
              <p:nvPr/>
            </p:nvSpPr>
            <p:spPr>
              <a:xfrm>
                <a:off x="491103" y="2671979"/>
                <a:ext cx="1540595" cy="4927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rmAutofit/>
              </a:bodyPr>
              <a:lstStyle/>
              <a:p>
                <a:pPr algn="ctr"/>
                <a:r>
                  <a:rPr lang="zh-CN" altLang="en-US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一般</a:t>
                </a:r>
                <a:r>
                  <a:rPr lang="en-US" altLang="zh-CN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load</a:t>
                </a:r>
                <a:endParaRPr lang="en-US" sz="1707" dirty="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1B72A73-E3FF-7718-A828-522117ECEC86}"/>
                  </a:ext>
                </a:extLst>
              </p:cNvPr>
              <p:cNvSpPr/>
              <p:nvPr/>
            </p:nvSpPr>
            <p:spPr>
              <a:xfrm>
                <a:off x="1204719" y="3326881"/>
                <a:ext cx="1694046" cy="579142"/>
              </a:xfrm>
              <a:prstGeom prst="rect">
                <a:avLst/>
              </a:prstGeom>
              <a:solidFill>
                <a:srgbClr val="98B4D2"/>
              </a:solidFill>
              <a:ln w="38100">
                <a:noFill/>
                <a:prstDash val="dash"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853">
                  <a:solidFill>
                    <a:prstClr val="white"/>
                  </a:solidFill>
                  <a:ea typeface="等线" panose="02010600030101010101" charset="-122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152450E-2C2D-0CFD-7596-2CE548FC4B01}"/>
                  </a:ext>
                </a:extLst>
              </p:cNvPr>
              <p:cNvSpPr/>
              <p:nvPr/>
            </p:nvSpPr>
            <p:spPr>
              <a:xfrm>
                <a:off x="3622081" y="3326883"/>
                <a:ext cx="2252312" cy="579142"/>
              </a:xfrm>
              <a:prstGeom prst="rect">
                <a:avLst/>
              </a:prstGeom>
              <a:solidFill>
                <a:srgbClr val="98B4D2"/>
              </a:solidFill>
              <a:ln w="38100">
                <a:noFill/>
                <a:prstDash val="dash"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853">
                  <a:solidFill>
                    <a:prstClr val="white"/>
                  </a:solidFill>
                  <a:ea typeface="等线" panose="02010600030101010101" charset="-122"/>
                </a:endParaRPr>
              </a:p>
            </p:txBody>
          </p:sp>
          <p:sp>
            <p:nvSpPr>
              <p:cNvPr id="18" name="Text 10">
                <a:extLst>
                  <a:ext uri="{FF2B5EF4-FFF2-40B4-BE49-F238E27FC236}">
                    <a16:creationId xmlns:a16="http://schemas.microsoft.com/office/drawing/2014/main" id="{C3F75A19-26EC-21B7-A29E-4E22EA33A044}"/>
                  </a:ext>
                </a:extLst>
              </p:cNvPr>
              <p:cNvSpPr/>
              <p:nvPr/>
            </p:nvSpPr>
            <p:spPr>
              <a:xfrm>
                <a:off x="1425138" y="3482949"/>
                <a:ext cx="1278540" cy="32429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rmAutofit/>
              </a:bodyPr>
              <a:lstStyle/>
              <a:p>
                <a:pPr algn="ctr"/>
                <a:r>
                  <a:rPr lang="en-US" sz="1707" b="1" dirty="0" err="1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StoreBuffer</a:t>
                </a:r>
                <a:endParaRPr lang="en-US" sz="1707" dirty="0"/>
              </a:p>
            </p:txBody>
          </p:sp>
          <p:sp>
            <p:nvSpPr>
              <p:cNvPr id="20" name="Text 10">
                <a:extLst>
                  <a:ext uri="{FF2B5EF4-FFF2-40B4-BE49-F238E27FC236}">
                    <a16:creationId xmlns:a16="http://schemas.microsoft.com/office/drawing/2014/main" id="{4B1EAEBC-496D-AC44-BBB6-30A144DFC3B2}"/>
                  </a:ext>
                </a:extLst>
              </p:cNvPr>
              <p:cNvSpPr/>
              <p:nvPr/>
            </p:nvSpPr>
            <p:spPr>
              <a:xfrm>
                <a:off x="3891525" y="3482948"/>
                <a:ext cx="1700527" cy="32429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rmAutofit/>
              </a:bodyPr>
              <a:lstStyle/>
              <a:p>
                <a:pPr algn="ctr"/>
                <a:r>
                  <a:rPr lang="en-US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WBQ</a:t>
                </a:r>
                <a:r>
                  <a:rPr lang="zh-CN" altLang="en-US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中的</a:t>
                </a:r>
                <a:r>
                  <a:rPr lang="en-US" altLang="zh-CN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store</a:t>
                </a:r>
                <a:endParaRPr lang="en-US" sz="1707" dirty="0"/>
              </a:p>
            </p:txBody>
          </p:sp>
          <p:sp>
            <p:nvSpPr>
              <p:cNvPr id="22" name="Text 10">
                <a:extLst>
                  <a:ext uri="{FF2B5EF4-FFF2-40B4-BE49-F238E27FC236}">
                    <a16:creationId xmlns:a16="http://schemas.microsoft.com/office/drawing/2014/main" id="{204A4BA6-C0FF-E4EE-1989-41FF24471CEB}"/>
                  </a:ext>
                </a:extLst>
              </p:cNvPr>
              <p:cNvSpPr/>
              <p:nvPr/>
            </p:nvSpPr>
            <p:spPr>
              <a:xfrm>
                <a:off x="2480876" y="2671979"/>
                <a:ext cx="3581151" cy="4927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rmAutofit/>
              </a:bodyPr>
              <a:lstStyle/>
              <a:p>
                <a:pPr algn="ctr"/>
                <a:r>
                  <a:rPr lang="zh-CN" altLang="en-US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:r>
                  <a:rPr lang="en-US" altLang="zh-CN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EX2/MEM </a:t>
                </a:r>
                <a:r>
                  <a:rPr lang="zh-CN" altLang="en-US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级间寄存器处理</a:t>
                </a:r>
                <a:endParaRPr lang="en-US" sz="1707" dirty="0"/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7FB88E4-6597-F032-EC53-86403CDA4F18}"/>
                </a:ext>
              </a:extLst>
            </p:cNvPr>
            <p:cNvGrpSpPr/>
            <p:nvPr/>
          </p:nvGrpSpPr>
          <p:grpSpPr>
            <a:xfrm>
              <a:off x="491103" y="4617128"/>
              <a:ext cx="8514709" cy="1241978"/>
              <a:chOff x="491103" y="4174127"/>
              <a:chExt cx="8514709" cy="1241978"/>
            </a:xfrm>
          </p:grpSpPr>
          <p:sp>
            <p:nvSpPr>
              <p:cNvPr id="24" name="Text 10">
                <a:extLst>
                  <a:ext uri="{FF2B5EF4-FFF2-40B4-BE49-F238E27FC236}">
                    <a16:creationId xmlns:a16="http://schemas.microsoft.com/office/drawing/2014/main" id="{663FD370-34EE-3D36-D14A-6A7E82CD8863}"/>
                  </a:ext>
                </a:extLst>
              </p:cNvPr>
              <p:cNvSpPr/>
              <p:nvPr/>
            </p:nvSpPr>
            <p:spPr>
              <a:xfrm>
                <a:off x="491103" y="4183835"/>
                <a:ext cx="1540595" cy="4927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rmAutofit/>
              </a:bodyPr>
              <a:lstStyle/>
              <a:p>
                <a:pPr algn="ctr"/>
                <a:r>
                  <a:rPr lang="zh-CN" altLang="en-US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快速</a:t>
                </a:r>
                <a:r>
                  <a:rPr lang="en-US" altLang="zh-CN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load</a:t>
                </a:r>
                <a:endParaRPr lang="en-US" sz="1707" dirty="0"/>
              </a:p>
            </p:txBody>
          </p:sp>
          <p:sp>
            <p:nvSpPr>
              <p:cNvPr id="26" name="Text 10">
                <a:extLst>
                  <a:ext uri="{FF2B5EF4-FFF2-40B4-BE49-F238E27FC236}">
                    <a16:creationId xmlns:a16="http://schemas.microsoft.com/office/drawing/2014/main" id="{030E36A7-F523-902C-A18B-40F1C3723F4B}"/>
                  </a:ext>
                </a:extLst>
              </p:cNvPr>
              <p:cNvSpPr/>
              <p:nvPr/>
            </p:nvSpPr>
            <p:spPr>
              <a:xfrm>
                <a:off x="1695494" y="4174127"/>
                <a:ext cx="3581151" cy="4927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rmAutofit/>
              </a:bodyPr>
              <a:lstStyle/>
              <a:p>
                <a:pPr algn="ctr"/>
                <a:r>
                  <a:rPr lang="zh-CN" altLang="en-US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:r>
                  <a:rPr lang="en-US" altLang="zh-CN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EX2 </a:t>
                </a:r>
                <a:r>
                  <a:rPr lang="zh-CN" altLang="en-US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级处理</a:t>
                </a:r>
                <a:endParaRPr lang="en-US" sz="1707" dirty="0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DFAFD04D-156C-A33B-3714-9A5A35D879A1}"/>
                  </a:ext>
                </a:extLst>
              </p:cNvPr>
              <p:cNvSpPr/>
              <p:nvPr/>
            </p:nvSpPr>
            <p:spPr>
              <a:xfrm>
                <a:off x="1157662" y="4836962"/>
                <a:ext cx="1694046" cy="579142"/>
              </a:xfrm>
              <a:prstGeom prst="rect">
                <a:avLst/>
              </a:prstGeom>
              <a:solidFill>
                <a:srgbClr val="98B4D2"/>
              </a:solidFill>
              <a:ln w="38100">
                <a:noFill/>
                <a:prstDash val="dash"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853">
                  <a:solidFill>
                    <a:prstClr val="white"/>
                  </a:solidFill>
                  <a:ea typeface="等线" panose="02010600030101010101" charset="-122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BCC0941-13F0-7B4D-B13E-E1F0237A16AA}"/>
                  </a:ext>
                </a:extLst>
              </p:cNvPr>
              <p:cNvSpPr/>
              <p:nvPr/>
            </p:nvSpPr>
            <p:spPr>
              <a:xfrm>
                <a:off x="3575024" y="4836963"/>
                <a:ext cx="2252312" cy="579142"/>
              </a:xfrm>
              <a:prstGeom prst="rect">
                <a:avLst/>
              </a:prstGeom>
              <a:solidFill>
                <a:srgbClr val="98B4D2"/>
              </a:solidFill>
              <a:ln w="38100">
                <a:noFill/>
                <a:prstDash val="dash"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853">
                  <a:solidFill>
                    <a:prstClr val="white"/>
                  </a:solidFill>
                  <a:ea typeface="等线" panose="02010600030101010101" charset="-122"/>
                </a:endParaRPr>
              </a:p>
            </p:txBody>
          </p:sp>
          <p:sp>
            <p:nvSpPr>
              <p:cNvPr id="32" name="Text 10">
                <a:extLst>
                  <a:ext uri="{FF2B5EF4-FFF2-40B4-BE49-F238E27FC236}">
                    <a16:creationId xmlns:a16="http://schemas.microsoft.com/office/drawing/2014/main" id="{5D27F2A5-3347-90A8-246B-3408EDB832D7}"/>
                  </a:ext>
                </a:extLst>
              </p:cNvPr>
              <p:cNvSpPr/>
              <p:nvPr/>
            </p:nvSpPr>
            <p:spPr>
              <a:xfrm>
                <a:off x="1378081" y="4993029"/>
                <a:ext cx="1278540" cy="32429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rmAutofit/>
              </a:bodyPr>
              <a:lstStyle/>
              <a:p>
                <a:pPr algn="ctr"/>
                <a:r>
                  <a:rPr lang="en-US" sz="1707" b="1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StoreBuffer</a:t>
                </a:r>
                <a:endParaRPr lang="en-US" sz="1707" dirty="0"/>
              </a:p>
            </p:txBody>
          </p:sp>
          <p:sp>
            <p:nvSpPr>
              <p:cNvPr id="34" name="Text 10">
                <a:extLst>
                  <a:ext uri="{FF2B5EF4-FFF2-40B4-BE49-F238E27FC236}">
                    <a16:creationId xmlns:a16="http://schemas.microsoft.com/office/drawing/2014/main" id="{6534DEF7-AD3D-BFA1-3BBB-258B88FB9C67}"/>
                  </a:ext>
                </a:extLst>
              </p:cNvPr>
              <p:cNvSpPr/>
              <p:nvPr/>
            </p:nvSpPr>
            <p:spPr>
              <a:xfrm>
                <a:off x="3844468" y="4993029"/>
                <a:ext cx="1700527" cy="32429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rmAutofit/>
              </a:bodyPr>
              <a:lstStyle/>
              <a:p>
                <a:pPr algn="ctr"/>
                <a:r>
                  <a:rPr lang="en-US" sz="1707" b="1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WBQ</a:t>
                </a:r>
                <a:r>
                  <a:rPr lang="zh-CN" altLang="en-US" sz="1707" b="1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</a:t>
                </a:r>
                <a:r>
                  <a:rPr lang="zh-CN" altLang="en-US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1707" b="1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store</a:t>
                </a:r>
                <a:endParaRPr lang="en-US" sz="1707" dirty="0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8E142640-99CF-29B4-3135-60FAE8925B94}"/>
                  </a:ext>
                </a:extLst>
              </p:cNvPr>
              <p:cNvSpPr/>
              <p:nvPr/>
            </p:nvSpPr>
            <p:spPr>
              <a:xfrm>
                <a:off x="6550652" y="4836962"/>
                <a:ext cx="2455160" cy="579142"/>
              </a:xfrm>
              <a:prstGeom prst="rect">
                <a:avLst/>
              </a:prstGeom>
              <a:solidFill>
                <a:srgbClr val="98B4D2"/>
              </a:solidFill>
              <a:ln w="38100">
                <a:noFill/>
                <a:prstDash val="dash"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853">
                  <a:solidFill>
                    <a:prstClr val="white"/>
                  </a:solidFill>
                  <a:ea typeface="等线" panose="02010600030101010101" charset="-122"/>
                </a:endParaRPr>
              </a:p>
            </p:txBody>
          </p:sp>
          <p:sp>
            <p:nvSpPr>
              <p:cNvPr id="38" name="Text 10">
                <a:extLst>
                  <a:ext uri="{FF2B5EF4-FFF2-40B4-BE49-F238E27FC236}">
                    <a16:creationId xmlns:a16="http://schemas.microsoft.com/office/drawing/2014/main" id="{9DCD8D51-6400-1542-EC0B-42B3EB814557}"/>
                  </a:ext>
                </a:extLst>
              </p:cNvPr>
              <p:cNvSpPr/>
              <p:nvPr/>
            </p:nvSpPr>
            <p:spPr>
              <a:xfrm>
                <a:off x="6993351" y="4993028"/>
                <a:ext cx="1700527" cy="32429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rmAutofit/>
              </a:bodyPr>
              <a:lstStyle/>
              <a:p>
                <a:pPr algn="ctr"/>
                <a:r>
                  <a:rPr lang="en-US" altLang="zh-CN" sz="1707" b="1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EX2/MEM </a:t>
                </a:r>
                <a:r>
                  <a:rPr lang="zh-CN" altLang="en-US" sz="1707" b="1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</a:t>
                </a:r>
                <a:r>
                  <a:rPr lang="zh-CN" altLang="en-US" sz="1707" b="1" dirty="0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1707" b="1">
                    <a:solidFill>
                      <a:srgbClr val="1720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store</a:t>
                </a:r>
                <a:endParaRPr lang="en-US" sz="1707" dirty="0"/>
              </a:p>
            </p:txBody>
          </p:sp>
        </p:grp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C1A50B6C-2204-88E0-65AF-6A045570695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F33EB20D-C9DC-5B9A-CEA0-5FD9384BF4CB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9F35B951-9029-87F8-083B-BBBE0560F33B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BA828DDC-5241-3147-3D20-4C9BBF2B199A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8" name="TextBox 19">
            <a:extLst>
              <a:ext uri="{FF2B5EF4-FFF2-40B4-BE49-F238E27FC236}">
                <a16:creationId xmlns:a16="http://schemas.microsoft.com/office/drawing/2014/main" id="{ECEE5E22-12FB-37FD-91F0-4BFE6FE27A6A}"/>
              </a:ext>
            </a:extLst>
          </p:cNvPr>
          <p:cNvSpPr txBox="1"/>
          <p:nvPr/>
        </p:nvSpPr>
        <p:spPr>
          <a:xfrm>
            <a:off x="1184703" y="226295"/>
            <a:ext cx="3347540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en-US" altLang="zh-CN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 Forwarding</a:t>
            </a:r>
            <a:endParaRPr lang="en-US" sz="24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梯形 8">
            <a:extLst>
              <a:ext uri="{FF2B5EF4-FFF2-40B4-BE49-F238E27FC236}">
                <a16:creationId xmlns:a16="http://schemas.microsoft.com/office/drawing/2014/main" id="{7BAFED0E-E557-F4E3-ABF9-27B7DF0DA7CA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11" name="梯形 10">
            <a:extLst>
              <a:ext uri="{FF2B5EF4-FFF2-40B4-BE49-F238E27FC236}">
                <a16:creationId xmlns:a16="http://schemas.microsoft.com/office/drawing/2014/main" id="{DEF9AA1D-A77C-BA3A-8E22-E466E3FCD41B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52151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2844A-DAC5-4236-4678-EC87EA6F7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2810F32-8C5D-7894-8706-1AD300886502}"/>
              </a:ext>
            </a:extLst>
          </p:cNvPr>
          <p:cNvGraphicFramePr>
            <a:graphicFrameLocks noGrp="1"/>
          </p:cNvGraphicFramePr>
          <p:nvPr/>
        </p:nvGraphicFramePr>
        <p:xfrm>
          <a:off x="482725" y="4211368"/>
          <a:ext cx="11234415" cy="23026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38177">
                  <a:extLst>
                    <a:ext uri="{9D8B030D-6E8A-4147-A177-3AD203B41FA5}">
                      <a16:colId xmlns:a16="http://schemas.microsoft.com/office/drawing/2014/main" val="3821754021"/>
                    </a:ext>
                  </a:extLst>
                </a:gridCol>
                <a:gridCol w="3939941">
                  <a:extLst>
                    <a:ext uri="{9D8B030D-6E8A-4147-A177-3AD203B41FA5}">
                      <a16:colId xmlns:a16="http://schemas.microsoft.com/office/drawing/2014/main" val="3808449452"/>
                    </a:ext>
                  </a:extLst>
                </a:gridCol>
                <a:gridCol w="4656297">
                  <a:extLst>
                    <a:ext uri="{9D8B030D-6E8A-4147-A177-3AD203B41FA5}">
                      <a16:colId xmlns:a16="http://schemas.microsoft.com/office/drawing/2014/main" val="1824433043"/>
                    </a:ext>
                  </a:extLst>
                </a:gridCol>
              </a:tblGrid>
              <a:tr h="328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 kern="1200" dirty="0">
                          <a:solidFill>
                            <a:srgbClr val="273B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旁路路径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 kern="1200" dirty="0">
                          <a:solidFill>
                            <a:srgbClr val="273B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数据来源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 kern="1200" dirty="0">
                          <a:solidFill>
                            <a:srgbClr val="273B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主要作用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2617500"/>
                  </a:ext>
                </a:extLst>
              </a:tr>
              <a:tr h="328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EX2 → EX1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当前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EX2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执行结果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解决相邻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ALU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指令的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RAW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相关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4944044"/>
                  </a:ext>
                </a:extLst>
              </a:tr>
              <a:tr h="328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MEM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→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EX1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当前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MEM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可用结果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解决间隔一拍的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RAW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数据相关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以及</a:t>
                      </a:r>
                      <a:r>
                        <a:rPr lang="en-US" altLang="zh-CN" sz="1500" b="1" kern="1200" dirty="0" err="1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sc.w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前递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8873276"/>
                  </a:ext>
                </a:extLst>
              </a:tr>
              <a:tr h="328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Scoreboard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→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EX1</a:t>
                      </a:r>
                      <a:endParaRPr lang="zh-CN" altLang="en-US" sz="1500" b="1" kern="1200" dirty="0">
                        <a:solidFill>
                          <a:srgbClr val="1720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记分板中确认为最新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GPR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结果的数据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使用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WBQ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中已完成但未退休的最新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GPR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结果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2150139"/>
                  </a:ext>
                </a:extLst>
              </a:tr>
              <a:tr h="328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LQ 当拍返回 → EX1</a:t>
                      </a:r>
                      <a:endParaRPr lang="zh-CN" altLang="en-US" sz="1500" b="1" kern="1200" dirty="0">
                        <a:solidFill>
                          <a:srgbClr val="1720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本拍 D-cache 返回的 load 数据</a:t>
                      </a:r>
                      <a:endParaRPr lang="zh-CN" altLang="en-US" sz="1500" b="1" kern="1200" dirty="0">
                        <a:solidFill>
                          <a:srgbClr val="1720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消除 load 响应到记分板更新之间的一拍气泡</a:t>
                      </a:r>
                      <a:endParaRPr lang="zh-CN" altLang="en-US" sz="1500" b="1" kern="1200" dirty="0">
                        <a:solidFill>
                          <a:srgbClr val="1720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4925120"/>
                  </a:ext>
                </a:extLst>
              </a:tr>
              <a:tr h="328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WBQ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队首 →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ID</a:t>
                      </a:r>
                      <a:endParaRPr lang="zh-CN" altLang="en-US" sz="1500" b="1" kern="1200" dirty="0">
                        <a:solidFill>
                          <a:srgbClr val="1720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队首写回数据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解决同拍读写寄存器的冲突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6142106"/>
                  </a:ext>
                </a:extLst>
              </a:tr>
              <a:tr h="328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WBQ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队首寄存值 → 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EX1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EX1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停顿时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,WBQ 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已退休的结果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前端暂停时</a:t>
                      </a:r>
                      <a:r>
                        <a:rPr lang="en-US" altLang="zh-CN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,WBQ</a:t>
                      </a:r>
                      <a:r>
                        <a:rPr lang="zh-CN" altLang="en-US" sz="1500" b="1" kern="1200" dirty="0">
                          <a:solidFill>
                            <a:srgbClr val="1720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继续退休导致旁路失效</a:t>
                      </a:r>
                    </a:p>
                  </a:txBody>
                  <a:tcPr marL="48768" marR="48768" marT="24384" marB="2438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176191"/>
                  </a:ext>
                </a:extLst>
              </a:tr>
            </a:tbl>
          </a:graphicData>
        </a:graphic>
      </p:graphicFrame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F62E4F99-AF6F-A002-5FDB-7078C2AB74F6}"/>
              </a:ext>
            </a:extLst>
          </p:cNvPr>
          <p:cNvGrpSpPr/>
          <p:nvPr/>
        </p:nvGrpSpPr>
        <p:grpSpPr>
          <a:xfrm>
            <a:off x="8977377" y="1950701"/>
            <a:ext cx="1459049" cy="899559"/>
            <a:chOff x="2797182" y="8077258"/>
            <a:chExt cx="2449442" cy="1130383"/>
          </a:xfrm>
        </p:grpSpPr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BC704EC8-7B9B-1B9B-0EE3-7B4E81988F24}"/>
                </a:ext>
              </a:extLst>
            </p:cNvPr>
            <p:cNvSpPr/>
            <p:nvPr/>
          </p:nvSpPr>
          <p:spPr>
            <a:xfrm>
              <a:off x="2797182" y="8077258"/>
              <a:ext cx="2449442" cy="243995"/>
            </a:xfrm>
            <a:prstGeom prst="rect">
              <a:avLst/>
            </a:prstGeom>
            <a:solidFill>
              <a:srgbClr val="657E9A"/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427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4C139B10-DC3F-33D9-F591-3DAEA07BC7B6}"/>
                </a:ext>
              </a:extLst>
            </p:cNvPr>
            <p:cNvSpPr/>
            <p:nvPr/>
          </p:nvSpPr>
          <p:spPr>
            <a:xfrm>
              <a:off x="2797182" y="8372720"/>
              <a:ext cx="2449442" cy="243995"/>
            </a:xfrm>
            <a:prstGeom prst="rect">
              <a:avLst/>
            </a:prstGeom>
            <a:solidFill>
              <a:srgbClr val="657E9A"/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427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55C9EE77-B9BE-051F-D243-C0A5AA564CB3}"/>
                </a:ext>
              </a:extLst>
            </p:cNvPr>
            <p:cNvSpPr/>
            <p:nvPr/>
          </p:nvSpPr>
          <p:spPr>
            <a:xfrm>
              <a:off x="2797182" y="8668183"/>
              <a:ext cx="2449442" cy="243995"/>
            </a:xfrm>
            <a:prstGeom prst="rect">
              <a:avLst/>
            </a:prstGeom>
            <a:solidFill>
              <a:srgbClr val="657E9A"/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427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2BCDBEB5-E716-2574-1136-D7ED6B35035F}"/>
                </a:ext>
              </a:extLst>
            </p:cNvPr>
            <p:cNvSpPr/>
            <p:nvPr/>
          </p:nvSpPr>
          <p:spPr>
            <a:xfrm>
              <a:off x="2797182" y="8963646"/>
              <a:ext cx="2449442" cy="243995"/>
            </a:xfrm>
            <a:prstGeom prst="rect">
              <a:avLst/>
            </a:prstGeom>
            <a:solidFill>
              <a:srgbClr val="657E9A"/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427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916CE5EE-2CAC-337D-3062-729EFD02EFEB}"/>
              </a:ext>
            </a:extLst>
          </p:cNvPr>
          <p:cNvGrpSpPr/>
          <p:nvPr/>
        </p:nvGrpSpPr>
        <p:grpSpPr>
          <a:xfrm>
            <a:off x="10733128" y="1641871"/>
            <a:ext cx="1218303" cy="636331"/>
            <a:chOff x="2797182" y="8077258"/>
            <a:chExt cx="2449442" cy="1130383"/>
          </a:xfrm>
        </p:grpSpPr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348CD7D2-1EC7-7D5D-3C6D-0B4538462293}"/>
                </a:ext>
              </a:extLst>
            </p:cNvPr>
            <p:cNvSpPr/>
            <p:nvPr/>
          </p:nvSpPr>
          <p:spPr>
            <a:xfrm>
              <a:off x="2797182" y="8077258"/>
              <a:ext cx="2449442" cy="243995"/>
            </a:xfrm>
            <a:prstGeom prst="rect">
              <a:avLst/>
            </a:prstGeom>
            <a:solidFill>
              <a:srgbClr val="657E9A"/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427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42C2E533-5163-3DCA-039D-52761E80E6A2}"/>
                </a:ext>
              </a:extLst>
            </p:cNvPr>
            <p:cNvSpPr/>
            <p:nvPr/>
          </p:nvSpPr>
          <p:spPr>
            <a:xfrm>
              <a:off x="2797182" y="8372720"/>
              <a:ext cx="2449442" cy="243995"/>
            </a:xfrm>
            <a:prstGeom prst="rect">
              <a:avLst/>
            </a:prstGeom>
            <a:solidFill>
              <a:srgbClr val="657E9A"/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427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4C3200F4-4D13-264D-4866-08C9D375CFA3}"/>
                </a:ext>
              </a:extLst>
            </p:cNvPr>
            <p:cNvSpPr/>
            <p:nvPr/>
          </p:nvSpPr>
          <p:spPr>
            <a:xfrm>
              <a:off x="2797182" y="8668183"/>
              <a:ext cx="2449442" cy="243995"/>
            </a:xfrm>
            <a:prstGeom prst="rect">
              <a:avLst/>
            </a:prstGeom>
            <a:solidFill>
              <a:srgbClr val="657E9A"/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427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5BD44C25-7E57-B23C-E6A8-F19763626419}"/>
                </a:ext>
              </a:extLst>
            </p:cNvPr>
            <p:cNvSpPr/>
            <p:nvPr/>
          </p:nvSpPr>
          <p:spPr>
            <a:xfrm>
              <a:off x="2797182" y="8963646"/>
              <a:ext cx="2449442" cy="243995"/>
            </a:xfrm>
            <a:prstGeom prst="rect">
              <a:avLst/>
            </a:prstGeom>
            <a:solidFill>
              <a:srgbClr val="657E9A"/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427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F0871EFB-A011-C748-B902-64CBF5A023A2}"/>
              </a:ext>
            </a:extLst>
          </p:cNvPr>
          <p:cNvGrpSpPr/>
          <p:nvPr/>
        </p:nvGrpSpPr>
        <p:grpSpPr>
          <a:xfrm>
            <a:off x="7490385" y="2872421"/>
            <a:ext cx="1258768" cy="717000"/>
            <a:chOff x="2776655" y="6939224"/>
            <a:chExt cx="2449442" cy="539458"/>
          </a:xfrm>
        </p:grpSpPr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3229A553-5AB0-0A05-FC55-4A7B1EB85530}"/>
                </a:ext>
              </a:extLst>
            </p:cNvPr>
            <p:cNvSpPr/>
            <p:nvPr/>
          </p:nvSpPr>
          <p:spPr>
            <a:xfrm>
              <a:off x="2776655" y="6939224"/>
              <a:ext cx="2449442" cy="243995"/>
            </a:xfrm>
            <a:prstGeom prst="rect">
              <a:avLst/>
            </a:prstGeom>
            <a:solidFill>
              <a:srgbClr val="657E9A"/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427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2A14D3B5-7AAD-4A4D-935D-A5EE27A0EB2E}"/>
                </a:ext>
              </a:extLst>
            </p:cNvPr>
            <p:cNvSpPr/>
            <p:nvPr/>
          </p:nvSpPr>
          <p:spPr>
            <a:xfrm>
              <a:off x="2776655" y="7234687"/>
              <a:ext cx="2449442" cy="243995"/>
            </a:xfrm>
            <a:prstGeom prst="rect">
              <a:avLst/>
            </a:prstGeom>
            <a:solidFill>
              <a:srgbClr val="657E9A"/>
            </a:solidFill>
            <a:ln>
              <a:noFill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427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34" name="文本框 133">
            <a:extLst>
              <a:ext uri="{FF2B5EF4-FFF2-40B4-BE49-F238E27FC236}">
                <a16:creationId xmlns:a16="http://schemas.microsoft.com/office/drawing/2014/main" id="{A497A915-F9B1-F4EE-867C-FAD1A4E84F5D}"/>
              </a:ext>
            </a:extLst>
          </p:cNvPr>
          <p:cNvSpPr txBox="1"/>
          <p:nvPr/>
        </p:nvSpPr>
        <p:spPr>
          <a:xfrm>
            <a:off x="7314234" y="2896355"/>
            <a:ext cx="1542724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1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highlight>
                  <a:srgbClr val="EAEEF2"/>
                </a:highlight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2pPr>
            <a:lvl3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3pPr>
            <a:lvl4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4pPr>
            <a:lvl5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5pPr>
            <a:lvl6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6pPr>
            <a:lvl7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7pPr>
            <a:lvl8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8pPr>
            <a:lvl9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9pPr>
          </a:lstStyle>
          <a:p>
            <a:r>
              <a:rPr lang="en-US" altLang="zh-CN" sz="1280" dirty="0"/>
              <a:t>2</a:t>
            </a:r>
            <a:r>
              <a:rPr lang="zh-CN" altLang="en-US" sz="1280" dirty="0"/>
              <a:t>项</a:t>
            </a:r>
            <a:br>
              <a:rPr lang="en-US" altLang="zh-CN" sz="1280" dirty="0"/>
            </a:br>
            <a:r>
              <a:rPr lang="en-US" altLang="zh-CN" sz="1280" dirty="0"/>
              <a:t>LQ</a:t>
            </a:r>
            <a:endParaRPr lang="zh-CN" altLang="en-US" sz="1280" dirty="0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A204D765-2301-9F1B-A386-68AD2CB662C3}"/>
              </a:ext>
            </a:extLst>
          </p:cNvPr>
          <p:cNvSpPr txBox="1"/>
          <p:nvPr/>
        </p:nvSpPr>
        <p:spPr>
          <a:xfrm>
            <a:off x="8909839" y="2030747"/>
            <a:ext cx="1517947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1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highlight>
                  <a:srgbClr val="EAEEF2"/>
                </a:highlight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2pPr>
            <a:lvl3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3pPr>
            <a:lvl4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4pPr>
            <a:lvl5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5pPr>
            <a:lvl6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6pPr>
            <a:lvl7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7pPr>
            <a:lvl8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8pPr>
            <a:lvl9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9pPr>
          </a:lstStyle>
          <a:p>
            <a:r>
              <a:rPr lang="en-US" altLang="zh-CN" sz="1280" dirty="0"/>
              <a:t>4</a:t>
            </a:r>
            <a:r>
              <a:rPr lang="zh-CN" altLang="en-US" sz="1280" dirty="0"/>
              <a:t>项</a:t>
            </a:r>
            <a:br>
              <a:rPr lang="en-US" altLang="zh-CN" sz="1280" dirty="0"/>
            </a:br>
            <a:r>
              <a:rPr lang="en-US" altLang="zh-CN" sz="1280" dirty="0"/>
              <a:t>WBQ</a:t>
            </a:r>
            <a:endParaRPr lang="zh-CN" altLang="en-US" sz="1280" dirty="0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5A5E4609-03D3-31B6-7FC5-1FD89E833F24}"/>
              </a:ext>
            </a:extLst>
          </p:cNvPr>
          <p:cNvSpPr txBox="1"/>
          <p:nvPr/>
        </p:nvSpPr>
        <p:spPr>
          <a:xfrm>
            <a:off x="10548374" y="1642535"/>
            <a:ext cx="1517947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1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highlight>
                  <a:srgbClr val="EAEEF2"/>
                </a:highlight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2pPr>
            <a:lvl3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3pPr>
            <a:lvl4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4pPr>
            <a:lvl5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5pPr>
            <a:lvl6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6pPr>
            <a:lvl7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7pPr>
            <a:lvl8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8pPr>
            <a:lvl9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9pPr>
          </a:lstStyle>
          <a:p>
            <a:r>
              <a:rPr lang="en-US" altLang="zh-CN" sz="1280" dirty="0"/>
              <a:t>4</a:t>
            </a:r>
            <a:r>
              <a:rPr lang="zh-CN" altLang="en-US" sz="1280" dirty="0"/>
              <a:t>项</a:t>
            </a:r>
            <a:br>
              <a:rPr lang="en-US" altLang="zh-CN" sz="1280" dirty="0"/>
            </a:br>
            <a:r>
              <a:rPr lang="en-US" altLang="zh-CN" sz="1280" dirty="0"/>
              <a:t>SB</a:t>
            </a:r>
            <a:endParaRPr lang="zh-CN" altLang="en-US" sz="1280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9419077E-3E68-DAEE-BF9C-24A451D38FD1}"/>
              </a:ext>
            </a:extLst>
          </p:cNvPr>
          <p:cNvSpPr txBox="1"/>
          <p:nvPr/>
        </p:nvSpPr>
        <p:spPr>
          <a:xfrm>
            <a:off x="7317044" y="3330462"/>
            <a:ext cx="1517947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1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highlight>
                  <a:srgbClr val="EAEEF2"/>
                </a:highlight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2pPr>
            <a:lvl3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3pPr>
            <a:lvl4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4pPr>
            <a:lvl5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5pPr>
            <a:lvl6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6pPr>
            <a:lvl7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7pPr>
            <a:lvl8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8pPr>
            <a:lvl9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9pPr>
          </a:lstStyle>
          <a:p>
            <a:r>
              <a:rPr lang="en-US" altLang="zh-CN" sz="1280" dirty="0"/>
              <a:t>Load</a:t>
            </a:r>
            <a:r>
              <a:rPr lang="zh-CN" altLang="en-US" sz="1280" dirty="0"/>
              <a:t>类指令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CE26E7E7-B74E-FC8D-5C79-9763384F4A9A}"/>
              </a:ext>
            </a:extLst>
          </p:cNvPr>
          <p:cNvSpPr txBox="1"/>
          <p:nvPr/>
        </p:nvSpPr>
        <p:spPr>
          <a:xfrm>
            <a:off x="10548374" y="2053459"/>
            <a:ext cx="1517947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1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highlight>
                  <a:srgbClr val="EAEEF2"/>
                </a:highlight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2pPr>
            <a:lvl3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3pPr>
            <a:lvl4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4pPr>
            <a:lvl5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5pPr>
            <a:lvl6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6pPr>
            <a:lvl7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7pPr>
            <a:lvl8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8pPr>
            <a:lvl9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9pPr>
          </a:lstStyle>
          <a:p>
            <a:r>
              <a:rPr lang="zh-CN" altLang="en-US" sz="1280" dirty="0"/>
              <a:t>已退休</a:t>
            </a:r>
            <a:r>
              <a:rPr lang="en-US" altLang="zh-CN" sz="1280" dirty="0"/>
              <a:t>store</a:t>
            </a:r>
            <a:endParaRPr lang="zh-CN" altLang="en-US" sz="1280" dirty="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9B2E78DB-0E54-60F3-DCD5-4684D6A6B0FC}"/>
              </a:ext>
            </a:extLst>
          </p:cNvPr>
          <p:cNvSpPr txBox="1"/>
          <p:nvPr/>
        </p:nvSpPr>
        <p:spPr>
          <a:xfrm>
            <a:off x="8918479" y="2469859"/>
            <a:ext cx="1517947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1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highlight>
                  <a:srgbClr val="EAEEF2"/>
                </a:highlight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2pPr>
            <a:lvl3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3pPr>
            <a:lvl4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4pPr>
            <a:lvl5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5pPr>
            <a:lvl6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6pPr>
            <a:lvl7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7pPr>
            <a:lvl8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8pPr>
            <a:lvl9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9pPr>
          </a:lstStyle>
          <a:p>
            <a:r>
              <a:rPr lang="zh-CN" altLang="en-US" sz="1280" dirty="0"/>
              <a:t>顺序退休</a:t>
            </a:r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60C08EA9-B7EC-7E86-E94E-36D733B8F25B}"/>
              </a:ext>
            </a:extLst>
          </p:cNvPr>
          <p:cNvCxnSpPr/>
          <p:nvPr/>
        </p:nvCxnSpPr>
        <p:spPr>
          <a:xfrm>
            <a:off x="7244494" y="2191255"/>
            <a:ext cx="1732883" cy="0"/>
          </a:xfrm>
          <a:prstGeom prst="straightConnector1">
            <a:avLst/>
          </a:prstGeom>
          <a:ln w="34925">
            <a:solidFill>
              <a:srgbClr val="657E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连接符: 肘形 140">
            <a:extLst>
              <a:ext uri="{FF2B5EF4-FFF2-40B4-BE49-F238E27FC236}">
                <a16:creationId xmlns:a16="http://schemas.microsoft.com/office/drawing/2014/main" id="{21FDAC5D-FE67-AF87-BE2B-E7ABF8A8002F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7244494" y="2469859"/>
            <a:ext cx="841102" cy="426496"/>
          </a:xfrm>
          <a:prstGeom prst="bentConnector2">
            <a:avLst/>
          </a:prstGeom>
          <a:ln w="34925">
            <a:solidFill>
              <a:srgbClr val="63849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C5882CED-CD88-DEE4-E63E-9596991EEAF1}"/>
              </a:ext>
            </a:extLst>
          </p:cNvPr>
          <p:cNvGrpSpPr/>
          <p:nvPr/>
        </p:nvGrpSpPr>
        <p:grpSpPr>
          <a:xfrm>
            <a:off x="9270075" y="3183162"/>
            <a:ext cx="2378778" cy="425236"/>
            <a:chOff x="17256791" y="10599757"/>
            <a:chExt cx="2472482" cy="797317"/>
          </a:xfrm>
        </p:grpSpPr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9A384074-EA4D-40AE-EE0D-50D8036DEFB2}"/>
                </a:ext>
              </a:extLst>
            </p:cNvPr>
            <p:cNvSpPr/>
            <p:nvPr/>
          </p:nvSpPr>
          <p:spPr>
            <a:xfrm>
              <a:off x="17256791" y="10599757"/>
              <a:ext cx="2472482" cy="797317"/>
            </a:xfrm>
            <a:prstGeom prst="rect">
              <a:avLst/>
            </a:prstGeom>
            <a:solidFill>
              <a:srgbClr val="F6F8F9">
                <a:lumMod val="50000"/>
              </a:srgbClr>
            </a:solidFill>
            <a:ln>
              <a:solidFill>
                <a:srgbClr val="638495"/>
              </a:solidFill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82" name="Text 10">
              <a:extLst>
                <a:ext uri="{FF2B5EF4-FFF2-40B4-BE49-F238E27FC236}">
                  <a16:creationId xmlns:a16="http://schemas.microsoft.com/office/drawing/2014/main" id="{F2795E39-1E20-CA99-FBF5-61B1BF5D2E0F}"/>
                </a:ext>
              </a:extLst>
            </p:cNvPr>
            <p:cNvSpPr/>
            <p:nvPr/>
          </p:nvSpPr>
          <p:spPr>
            <a:xfrm>
              <a:off x="17722346" y="10815221"/>
              <a:ext cx="1450924" cy="3663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38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数据类</a:t>
              </a:r>
              <a:r>
                <a:rPr lang="en-US" altLang="zh-CN" sz="1387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sram</a:t>
              </a:r>
              <a:endParaRPr lang="en-US" sz="1387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B78FC241-B014-CD11-1EDA-63F61B6982AA}"/>
              </a:ext>
            </a:extLst>
          </p:cNvPr>
          <p:cNvCxnSpPr>
            <a:cxnSpLocks/>
            <a:endCxn id="181" idx="1"/>
          </p:cNvCxnSpPr>
          <p:nvPr/>
        </p:nvCxnSpPr>
        <p:spPr>
          <a:xfrm>
            <a:off x="8749153" y="3395780"/>
            <a:ext cx="520923" cy="0"/>
          </a:xfrm>
          <a:prstGeom prst="straightConnector1">
            <a:avLst/>
          </a:prstGeom>
          <a:ln w="34925">
            <a:solidFill>
              <a:srgbClr val="657E9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2F4E01B5-8CC5-6B15-7A16-53A4011AED63}"/>
              </a:ext>
            </a:extLst>
          </p:cNvPr>
          <p:cNvCxnSpPr>
            <a:stCxn id="138" idx="2"/>
          </p:cNvCxnSpPr>
          <p:nvPr/>
        </p:nvCxnSpPr>
        <p:spPr>
          <a:xfrm>
            <a:off x="11307348" y="2342768"/>
            <a:ext cx="0" cy="808119"/>
          </a:xfrm>
          <a:prstGeom prst="straightConnector1">
            <a:avLst/>
          </a:prstGeom>
          <a:ln w="34925">
            <a:solidFill>
              <a:srgbClr val="657E9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连接符: 肘形 144">
            <a:extLst>
              <a:ext uri="{FF2B5EF4-FFF2-40B4-BE49-F238E27FC236}">
                <a16:creationId xmlns:a16="http://schemas.microsoft.com/office/drawing/2014/main" id="{C4CAD1CD-CB97-CB6F-92D0-EB85A040A0E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150397" y="1970089"/>
            <a:ext cx="572057" cy="1161748"/>
          </a:xfrm>
          <a:prstGeom prst="bentConnector4">
            <a:avLst>
              <a:gd name="adj1" fmla="val -21313"/>
              <a:gd name="adj2" fmla="val 99625"/>
            </a:avLst>
          </a:prstGeom>
          <a:ln w="34925">
            <a:solidFill>
              <a:srgbClr val="63849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2865420B-A3B4-FA72-FDC2-7135D3370BB3}"/>
              </a:ext>
            </a:extLst>
          </p:cNvPr>
          <p:cNvGrpSpPr/>
          <p:nvPr/>
        </p:nvGrpSpPr>
        <p:grpSpPr>
          <a:xfrm>
            <a:off x="1559597" y="1480632"/>
            <a:ext cx="5691500" cy="2096051"/>
            <a:chOff x="1353872" y="7946493"/>
            <a:chExt cx="10671563" cy="3930095"/>
          </a:xfrm>
        </p:grpSpPr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A7E1BD4C-68F9-795E-1038-D61967BB1C8C}"/>
                </a:ext>
              </a:extLst>
            </p:cNvPr>
            <p:cNvSpPr/>
            <p:nvPr/>
          </p:nvSpPr>
          <p:spPr>
            <a:xfrm>
              <a:off x="1669477" y="8239069"/>
              <a:ext cx="1970922" cy="3064666"/>
            </a:xfrm>
            <a:prstGeom prst="rect">
              <a:avLst/>
            </a:prstGeom>
            <a:solidFill>
              <a:srgbClr val="EAEEF2"/>
            </a:solidFill>
            <a:ln w="38100">
              <a:solidFill>
                <a:srgbClr val="000000"/>
              </a:solidFill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 dirty="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62" name="Text 10">
              <a:extLst>
                <a:ext uri="{FF2B5EF4-FFF2-40B4-BE49-F238E27FC236}">
                  <a16:creationId xmlns:a16="http://schemas.microsoft.com/office/drawing/2014/main" id="{9C305DE2-3CB3-D5C7-FEBD-1FD206345B78}"/>
                </a:ext>
              </a:extLst>
            </p:cNvPr>
            <p:cNvSpPr/>
            <p:nvPr/>
          </p:nvSpPr>
          <p:spPr>
            <a:xfrm>
              <a:off x="2019132" y="8501777"/>
              <a:ext cx="904856" cy="4820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EX1</a:t>
              </a:r>
              <a:endParaRPr lang="en-US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Shape 29">
              <a:extLst>
                <a:ext uri="{FF2B5EF4-FFF2-40B4-BE49-F238E27FC236}">
                  <a16:creationId xmlns:a16="http://schemas.microsoft.com/office/drawing/2014/main" id="{6224F5CD-0319-AF44-99DF-F859E1CCCD1A}"/>
                </a:ext>
              </a:extLst>
            </p:cNvPr>
            <p:cNvSpPr/>
            <p:nvPr/>
          </p:nvSpPr>
          <p:spPr>
            <a:xfrm>
              <a:off x="3986822" y="7984157"/>
              <a:ext cx="421261" cy="3892431"/>
            </a:xfrm>
            <a:prstGeom prst="roundRect">
              <a:avLst>
                <a:gd name="adj" fmla="val 4000"/>
              </a:avLst>
            </a:prstGeom>
            <a:solidFill>
              <a:srgbClr val="273B59"/>
            </a:solidFill>
            <a:ln w="19050">
              <a:solidFill>
                <a:srgbClr val="17263E"/>
              </a:solidFill>
              <a:prstDash val="solid"/>
            </a:ln>
          </p:spPr>
          <p:txBody>
            <a:bodyPr/>
            <a:lstStyle/>
            <a:p>
              <a:endParaRPr lang="zh-CN" altLang="en-US" sz="960" dirty="0"/>
            </a:p>
          </p:txBody>
        </p:sp>
        <p:sp>
          <p:nvSpPr>
            <p:cNvPr id="164" name="Text 10">
              <a:extLst>
                <a:ext uri="{FF2B5EF4-FFF2-40B4-BE49-F238E27FC236}">
                  <a16:creationId xmlns:a16="http://schemas.microsoft.com/office/drawing/2014/main" id="{BFF8AFED-98CF-26BF-C14A-EACD40AAFA49}"/>
                </a:ext>
              </a:extLst>
            </p:cNvPr>
            <p:cNvSpPr/>
            <p:nvPr/>
          </p:nvSpPr>
          <p:spPr>
            <a:xfrm>
              <a:off x="2125477" y="9940230"/>
              <a:ext cx="1044855" cy="37223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067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操作数选择</a:t>
              </a:r>
              <a:endParaRPr lang="en-US" sz="1067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Text 10">
              <a:extLst>
                <a:ext uri="{FF2B5EF4-FFF2-40B4-BE49-F238E27FC236}">
                  <a16:creationId xmlns:a16="http://schemas.microsoft.com/office/drawing/2014/main" id="{C7CF0F99-4F08-F91D-9325-60F153591525}"/>
                </a:ext>
              </a:extLst>
            </p:cNvPr>
            <p:cNvSpPr/>
            <p:nvPr/>
          </p:nvSpPr>
          <p:spPr>
            <a:xfrm>
              <a:off x="1691415" y="10477068"/>
              <a:ext cx="1927045" cy="78851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067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条件指令跳转</a:t>
              </a:r>
              <a:endParaRPr lang="en-US" altLang="zh-CN" sz="1067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067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预测</a:t>
              </a:r>
              <a:endParaRPr lang="en-US" sz="1067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5213EDD0-F7DE-31CC-DC25-7B43A763DA56}"/>
                </a:ext>
              </a:extLst>
            </p:cNvPr>
            <p:cNvSpPr/>
            <p:nvPr/>
          </p:nvSpPr>
          <p:spPr>
            <a:xfrm>
              <a:off x="4963566" y="8270720"/>
              <a:ext cx="1401018" cy="3064666"/>
            </a:xfrm>
            <a:prstGeom prst="rect">
              <a:avLst/>
            </a:prstGeom>
            <a:solidFill>
              <a:srgbClr val="EAEEF2"/>
            </a:solidFill>
            <a:ln w="38100">
              <a:solidFill>
                <a:srgbClr val="000000"/>
              </a:solidFill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 dirty="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67" name="Text 10">
              <a:extLst>
                <a:ext uri="{FF2B5EF4-FFF2-40B4-BE49-F238E27FC236}">
                  <a16:creationId xmlns:a16="http://schemas.microsoft.com/office/drawing/2014/main" id="{55140A7A-6181-AB73-77D7-11F7D94A093F}"/>
                </a:ext>
              </a:extLst>
            </p:cNvPr>
            <p:cNvSpPr/>
            <p:nvPr/>
          </p:nvSpPr>
          <p:spPr>
            <a:xfrm>
              <a:off x="5249081" y="8567390"/>
              <a:ext cx="764855" cy="37223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 fontScale="92500" lnSpcReduction="10000"/>
            </a:bodyPr>
            <a:lstStyle/>
            <a:p>
              <a:pPr algn="ctr"/>
              <a:r>
                <a:rPr lang="en-US" altLang="zh-CN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EX2</a:t>
              </a:r>
              <a:endParaRPr lang="en-US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Text 10">
              <a:extLst>
                <a:ext uri="{FF2B5EF4-FFF2-40B4-BE49-F238E27FC236}">
                  <a16:creationId xmlns:a16="http://schemas.microsoft.com/office/drawing/2014/main" id="{4FC10B72-24D4-B598-F5F1-DF5EE265BE92}"/>
                </a:ext>
              </a:extLst>
            </p:cNvPr>
            <p:cNvSpPr/>
            <p:nvPr/>
          </p:nvSpPr>
          <p:spPr>
            <a:xfrm>
              <a:off x="5109080" y="10499089"/>
              <a:ext cx="1044855" cy="37223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Shape 29">
              <a:extLst>
                <a:ext uri="{FF2B5EF4-FFF2-40B4-BE49-F238E27FC236}">
                  <a16:creationId xmlns:a16="http://schemas.microsoft.com/office/drawing/2014/main" id="{5172ACA3-F3A7-E768-96F7-E6EE152EA1B6}"/>
                </a:ext>
              </a:extLst>
            </p:cNvPr>
            <p:cNvSpPr/>
            <p:nvPr/>
          </p:nvSpPr>
          <p:spPr>
            <a:xfrm>
              <a:off x="7009694" y="7946493"/>
              <a:ext cx="421261" cy="3892431"/>
            </a:xfrm>
            <a:prstGeom prst="roundRect">
              <a:avLst>
                <a:gd name="adj" fmla="val 4000"/>
              </a:avLst>
            </a:prstGeom>
            <a:solidFill>
              <a:srgbClr val="273B59"/>
            </a:solidFill>
            <a:ln w="19050">
              <a:solidFill>
                <a:srgbClr val="17263E"/>
              </a:solidFill>
              <a:prstDash val="solid"/>
            </a:ln>
          </p:spPr>
          <p:txBody>
            <a:bodyPr/>
            <a:lstStyle/>
            <a:p>
              <a:endParaRPr lang="zh-CN" altLang="en-US" sz="960" dirty="0"/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AF70F606-C7A5-E3F4-EF63-661BCA3EAB84}"/>
                </a:ext>
              </a:extLst>
            </p:cNvPr>
            <p:cNvSpPr/>
            <p:nvPr/>
          </p:nvSpPr>
          <p:spPr>
            <a:xfrm>
              <a:off x="7951307" y="8066068"/>
              <a:ext cx="4074128" cy="3319121"/>
            </a:xfrm>
            <a:prstGeom prst="rect">
              <a:avLst/>
            </a:prstGeom>
            <a:solidFill>
              <a:srgbClr val="EAEEF2"/>
            </a:solidFill>
            <a:ln w="38100">
              <a:solidFill>
                <a:srgbClr val="000000"/>
              </a:solidFill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 dirty="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71" name="Text 10">
              <a:extLst>
                <a:ext uri="{FF2B5EF4-FFF2-40B4-BE49-F238E27FC236}">
                  <a16:creationId xmlns:a16="http://schemas.microsoft.com/office/drawing/2014/main" id="{E8F15AFE-FE60-5D5F-88F7-6DCEDDD8A815}"/>
                </a:ext>
              </a:extLst>
            </p:cNvPr>
            <p:cNvSpPr/>
            <p:nvPr/>
          </p:nvSpPr>
          <p:spPr>
            <a:xfrm>
              <a:off x="9509358" y="8178922"/>
              <a:ext cx="1136217" cy="37223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 fontScale="92500" lnSpcReduction="10000"/>
            </a:bodyPr>
            <a:lstStyle/>
            <a:p>
              <a:pPr algn="ctr"/>
              <a:r>
                <a:rPr lang="en-US" altLang="zh-CN" sz="1493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MEM</a:t>
              </a:r>
              <a:endParaRPr lang="en-US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C971DEBB-2ECB-D8F2-5592-E4EE946A1390}"/>
                </a:ext>
              </a:extLst>
            </p:cNvPr>
            <p:cNvCxnSpPr>
              <a:cxnSpLocks/>
            </p:cNvCxnSpPr>
            <p:nvPr/>
          </p:nvCxnSpPr>
          <p:spPr>
            <a:xfrm>
              <a:off x="8214491" y="9252597"/>
              <a:ext cx="3125886" cy="13126"/>
            </a:xfrm>
            <a:prstGeom prst="line">
              <a:avLst/>
            </a:prstGeom>
            <a:ln w="31750">
              <a:solidFill>
                <a:srgbClr val="657E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 10">
              <a:extLst>
                <a:ext uri="{FF2B5EF4-FFF2-40B4-BE49-F238E27FC236}">
                  <a16:creationId xmlns:a16="http://schemas.microsoft.com/office/drawing/2014/main" id="{AC1E2C98-1474-BD47-2AB3-DE8A5C488AE9}"/>
                </a:ext>
              </a:extLst>
            </p:cNvPr>
            <p:cNvSpPr/>
            <p:nvPr/>
          </p:nvSpPr>
          <p:spPr>
            <a:xfrm>
              <a:off x="8278980" y="8690096"/>
              <a:ext cx="1566742" cy="43081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非访存类指令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Text 10">
              <a:extLst>
                <a:ext uri="{FF2B5EF4-FFF2-40B4-BE49-F238E27FC236}">
                  <a16:creationId xmlns:a16="http://schemas.microsoft.com/office/drawing/2014/main" id="{782279ED-D668-28B0-1778-876C45BCCCD0}"/>
                </a:ext>
              </a:extLst>
            </p:cNvPr>
            <p:cNvSpPr/>
            <p:nvPr/>
          </p:nvSpPr>
          <p:spPr>
            <a:xfrm>
              <a:off x="8160651" y="9482859"/>
              <a:ext cx="1566742" cy="43081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zh-CN" altLang="en-US" sz="1280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访存类指令</a:t>
              </a:r>
              <a:endParaRPr 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1FD2BB13-D662-F370-4E9B-500967A8B0A8}"/>
                </a:ext>
              </a:extLst>
            </p:cNvPr>
            <p:cNvSpPr/>
            <p:nvPr/>
          </p:nvSpPr>
          <p:spPr>
            <a:xfrm>
              <a:off x="9036608" y="10126349"/>
              <a:ext cx="1566742" cy="1088351"/>
            </a:xfrm>
            <a:prstGeom prst="rect">
              <a:avLst/>
            </a:prstGeom>
            <a:solidFill>
              <a:srgbClr val="98B4D2"/>
            </a:solidFill>
            <a:ln w="38100">
              <a:noFill/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sp>
          <p:nvSpPr>
            <p:cNvPr id="176" name="Shape 29">
              <a:extLst>
                <a:ext uri="{FF2B5EF4-FFF2-40B4-BE49-F238E27FC236}">
                  <a16:creationId xmlns:a16="http://schemas.microsoft.com/office/drawing/2014/main" id="{D94BC7C4-1BFD-5922-97AD-55688EDF68FB}"/>
                </a:ext>
              </a:extLst>
            </p:cNvPr>
            <p:cNvSpPr/>
            <p:nvPr/>
          </p:nvSpPr>
          <p:spPr>
            <a:xfrm>
              <a:off x="9743484" y="10499089"/>
              <a:ext cx="146735" cy="600502"/>
            </a:xfrm>
            <a:prstGeom prst="roundRect">
              <a:avLst>
                <a:gd name="adj" fmla="val 4000"/>
              </a:avLst>
            </a:prstGeom>
            <a:solidFill>
              <a:srgbClr val="273B59"/>
            </a:solidFill>
            <a:ln w="19050">
              <a:solidFill>
                <a:srgbClr val="17263E"/>
              </a:solidFill>
              <a:prstDash val="solid"/>
            </a:ln>
          </p:spPr>
        </p:sp>
        <p:sp>
          <p:nvSpPr>
            <p:cNvPr id="177" name="Text 10">
              <a:extLst>
                <a:ext uri="{FF2B5EF4-FFF2-40B4-BE49-F238E27FC236}">
                  <a16:creationId xmlns:a16="http://schemas.microsoft.com/office/drawing/2014/main" id="{DDAC7DE2-216B-359E-BBE6-C21662A29B2C}"/>
                </a:ext>
              </a:extLst>
            </p:cNvPr>
            <p:cNvSpPr/>
            <p:nvPr/>
          </p:nvSpPr>
          <p:spPr>
            <a:xfrm>
              <a:off x="9225784" y="10188450"/>
              <a:ext cx="1239876" cy="39105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US" altLang="zh-CN" sz="1144" b="1" dirty="0">
                  <a:solidFill>
                    <a:srgbClr val="17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TLB</a:t>
              </a:r>
              <a:endParaRPr lang="en-US" sz="1144" dirty="0"/>
            </a:p>
          </p:txBody>
        </p: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0C7FB819-ACA9-CCE1-4D20-67CCC2D66DC6}"/>
                </a:ext>
              </a:extLst>
            </p:cNvPr>
            <p:cNvCxnSpPr>
              <a:cxnSpLocks/>
            </p:cNvCxnSpPr>
            <p:nvPr/>
          </p:nvCxnSpPr>
          <p:spPr>
            <a:xfrm>
              <a:off x="1353872" y="9697579"/>
              <a:ext cx="315605" cy="0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E152B8B5-50AB-5C75-8815-65FAAFD70540}"/>
                </a:ext>
              </a:extLst>
            </p:cNvPr>
            <p:cNvCxnSpPr>
              <a:cxnSpLocks/>
            </p:cNvCxnSpPr>
            <p:nvPr/>
          </p:nvCxnSpPr>
          <p:spPr>
            <a:xfrm>
              <a:off x="6364584" y="9659863"/>
              <a:ext cx="638341" cy="0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5D96ABD9-0B97-DAAC-3F71-F53B42E4ACF6}"/>
                </a:ext>
              </a:extLst>
            </p:cNvPr>
            <p:cNvCxnSpPr>
              <a:cxnSpLocks/>
              <a:stCxn id="161" idx="3"/>
              <a:endCxn id="166" idx="1"/>
            </p:cNvCxnSpPr>
            <p:nvPr/>
          </p:nvCxnSpPr>
          <p:spPr>
            <a:xfrm>
              <a:off x="3640399" y="9771402"/>
              <a:ext cx="1323167" cy="31651"/>
            </a:xfrm>
            <a:prstGeom prst="straightConnector1">
              <a:avLst/>
            </a:prstGeom>
            <a:ln w="34925">
              <a:solidFill>
                <a:srgbClr val="6384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矩形 146">
            <a:extLst>
              <a:ext uri="{FF2B5EF4-FFF2-40B4-BE49-F238E27FC236}">
                <a16:creationId xmlns:a16="http://schemas.microsoft.com/office/drawing/2014/main" id="{E6046005-F072-2EF3-7F0D-E22CF391EBD5}"/>
              </a:ext>
            </a:extLst>
          </p:cNvPr>
          <p:cNvSpPr/>
          <p:nvPr/>
        </p:nvSpPr>
        <p:spPr>
          <a:xfrm>
            <a:off x="7765724" y="1438284"/>
            <a:ext cx="1232085" cy="443199"/>
          </a:xfrm>
          <a:prstGeom prst="rect">
            <a:avLst/>
          </a:prstGeom>
          <a:solidFill>
            <a:srgbClr val="2B4663">
              <a:lumMod val="50000"/>
            </a:srgbClr>
          </a:solidFill>
          <a:ln>
            <a:noFill/>
          </a:ln>
        </p:spPr>
        <p:style>
          <a:lnRef idx="2">
            <a:srgbClr val="2B4663">
              <a:shade val="50000"/>
            </a:srgbClr>
          </a:lnRef>
          <a:fillRef idx="1">
            <a:srgbClr val="2B4663"/>
          </a:fillRef>
          <a:effectRef idx="0">
            <a:srgbClr val="2B4663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algn="ctr" defTabSz="487650">
              <a:defRPr/>
            </a:pPr>
            <a:endParaRPr lang="zh-CN" altLang="en-US" sz="96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373C5D87-2B40-FBBD-D133-E70FE826688B}"/>
              </a:ext>
            </a:extLst>
          </p:cNvPr>
          <p:cNvSpPr txBox="1"/>
          <p:nvPr/>
        </p:nvSpPr>
        <p:spPr>
          <a:xfrm>
            <a:off x="7791712" y="1516465"/>
            <a:ext cx="1144464" cy="32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algn="ctr" defTabSz="487650">
              <a:defRPr/>
            </a:pPr>
            <a:r>
              <a:rPr lang="en-US" altLang="zh-CN" sz="1493" b="1" i="1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Scoreboard</a:t>
            </a:r>
            <a:endParaRPr lang="zh-CN" altLang="en-US" sz="1493" b="1" i="1" dirty="0">
              <a:solidFill>
                <a:prstClr val="white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49" name="Text 10">
            <a:extLst>
              <a:ext uri="{FF2B5EF4-FFF2-40B4-BE49-F238E27FC236}">
                <a16:creationId xmlns:a16="http://schemas.microsoft.com/office/drawing/2014/main" id="{030A591B-0BD7-A8B8-010D-834A1A0CCFDB}"/>
              </a:ext>
            </a:extLst>
          </p:cNvPr>
          <p:cNvSpPr/>
          <p:nvPr/>
        </p:nvSpPr>
        <p:spPr>
          <a:xfrm>
            <a:off x="9821693" y="1495288"/>
            <a:ext cx="605982" cy="198527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 fontScale="92500" lnSpcReduction="10000"/>
          </a:bodyPr>
          <a:lstStyle/>
          <a:p>
            <a:pPr algn="ctr"/>
            <a:r>
              <a:rPr lang="en-US" altLang="zh-CN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WB</a:t>
            </a:r>
            <a:endParaRPr lang="en-US" sz="1493" b="1" dirty="0">
              <a:solidFill>
                <a:srgbClr val="17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Text 10">
            <a:extLst>
              <a:ext uri="{FF2B5EF4-FFF2-40B4-BE49-F238E27FC236}">
                <a16:creationId xmlns:a16="http://schemas.microsoft.com/office/drawing/2014/main" id="{C829CE64-5307-319A-709A-FCAFEB258094}"/>
              </a:ext>
            </a:extLst>
          </p:cNvPr>
          <p:cNvSpPr/>
          <p:nvPr/>
        </p:nvSpPr>
        <p:spPr>
          <a:xfrm>
            <a:off x="7819009" y="1978042"/>
            <a:ext cx="557256" cy="198527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algn="ctr"/>
            <a:r>
              <a:rPr lang="en-US" altLang="zh-CN" sz="85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WBQ</a:t>
            </a:r>
            <a:r>
              <a:rPr lang="zh-CN" altLang="en-US" sz="85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入队</a:t>
            </a:r>
            <a:endParaRPr lang="en-US" sz="853" b="1" dirty="0">
              <a:solidFill>
                <a:srgbClr val="17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312F7BCD-CA5A-29B8-2A16-F543D2BDFF11}"/>
              </a:ext>
            </a:extLst>
          </p:cNvPr>
          <p:cNvCxnSpPr>
            <a:cxnSpLocks/>
            <a:endCxn id="147" idx="2"/>
          </p:cNvCxnSpPr>
          <p:nvPr/>
        </p:nvCxnSpPr>
        <p:spPr>
          <a:xfrm flipV="1">
            <a:off x="8376265" y="1881483"/>
            <a:ext cx="5502" cy="302739"/>
          </a:xfrm>
          <a:prstGeom prst="straightConnector1">
            <a:avLst/>
          </a:prstGeom>
          <a:ln w="34925">
            <a:solidFill>
              <a:srgbClr val="F1962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367A7B90-8565-1A6D-C5D8-49F58937125C}"/>
              </a:ext>
            </a:extLst>
          </p:cNvPr>
          <p:cNvCxnSpPr>
            <a:cxnSpLocks/>
          </p:cNvCxnSpPr>
          <p:nvPr/>
        </p:nvCxnSpPr>
        <p:spPr>
          <a:xfrm flipV="1">
            <a:off x="8532246" y="1881483"/>
            <a:ext cx="0" cy="968777"/>
          </a:xfrm>
          <a:prstGeom prst="straightConnector1">
            <a:avLst/>
          </a:prstGeom>
          <a:ln w="34925">
            <a:solidFill>
              <a:srgbClr val="F1962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 10">
            <a:extLst>
              <a:ext uri="{FF2B5EF4-FFF2-40B4-BE49-F238E27FC236}">
                <a16:creationId xmlns:a16="http://schemas.microsoft.com/office/drawing/2014/main" id="{2BA14CEA-FE0B-0444-E6F5-69D912E455C7}"/>
              </a:ext>
            </a:extLst>
          </p:cNvPr>
          <p:cNvSpPr/>
          <p:nvPr/>
        </p:nvSpPr>
        <p:spPr>
          <a:xfrm>
            <a:off x="8260364" y="2628937"/>
            <a:ext cx="557256" cy="198527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algn="ctr"/>
            <a:r>
              <a:rPr lang="en-US" altLang="zh-CN" sz="85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LQ</a:t>
            </a:r>
            <a:r>
              <a:rPr lang="zh-CN" altLang="en-US" sz="85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数据返回</a:t>
            </a:r>
            <a:endParaRPr lang="en-US" sz="853" b="1" dirty="0">
              <a:solidFill>
                <a:srgbClr val="17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4" name="连接符: 肘形 153">
            <a:extLst>
              <a:ext uri="{FF2B5EF4-FFF2-40B4-BE49-F238E27FC236}">
                <a16:creationId xmlns:a16="http://schemas.microsoft.com/office/drawing/2014/main" id="{F2EA50F3-7E8D-0808-346A-98A50A6C7F6C}"/>
              </a:ext>
            </a:extLst>
          </p:cNvPr>
          <p:cNvCxnSpPr/>
          <p:nvPr/>
        </p:nvCxnSpPr>
        <p:spPr>
          <a:xfrm rot="10800000">
            <a:off x="9009614" y="1674637"/>
            <a:ext cx="399762" cy="270913"/>
          </a:xfrm>
          <a:prstGeom prst="bentConnector3">
            <a:avLst>
              <a:gd name="adj1" fmla="val 240"/>
            </a:avLst>
          </a:prstGeom>
          <a:ln w="34925">
            <a:solidFill>
              <a:srgbClr val="F1962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 10">
            <a:extLst>
              <a:ext uri="{FF2B5EF4-FFF2-40B4-BE49-F238E27FC236}">
                <a16:creationId xmlns:a16="http://schemas.microsoft.com/office/drawing/2014/main" id="{E6BE019D-51B8-1DC5-2A05-8C7DF9FE9AC8}"/>
              </a:ext>
            </a:extLst>
          </p:cNvPr>
          <p:cNvSpPr/>
          <p:nvPr/>
        </p:nvSpPr>
        <p:spPr>
          <a:xfrm>
            <a:off x="9138162" y="1522713"/>
            <a:ext cx="557256" cy="198527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algn="ctr"/>
            <a:r>
              <a:rPr lang="en-US" altLang="zh-CN" sz="85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WBQ</a:t>
            </a:r>
            <a:r>
              <a:rPr lang="zh-CN" altLang="en-US" sz="85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队首退休</a:t>
            </a:r>
            <a:endParaRPr lang="en-US" sz="853" b="1" dirty="0">
              <a:solidFill>
                <a:srgbClr val="17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25945D70-F57E-CD78-5960-DEA959AF0B14}"/>
              </a:ext>
            </a:extLst>
          </p:cNvPr>
          <p:cNvSpPr/>
          <p:nvPr/>
        </p:nvSpPr>
        <p:spPr>
          <a:xfrm>
            <a:off x="390142" y="1642535"/>
            <a:ext cx="734660" cy="1634489"/>
          </a:xfrm>
          <a:prstGeom prst="rect">
            <a:avLst/>
          </a:prstGeom>
          <a:solidFill>
            <a:srgbClr val="EAEEF2"/>
          </a:solidFill>
          <a:ln w="38100">
            <a:solidFill>
              <a:srgbClr val="000000"/>
            </a:solidFill>
            <a:prstDash val="dash"/>
          </a:ln>
        </p:spPr>
        <p:style>
          <a:lnRef idx="2">
            <a:srgbClr val="2B4663">
              <a:shade val="50000"/>
            </a:srgbClr>
          </a:lnRef>
          <a:fillRef idx="1">
            <a:srgbClr val="2B4663"/>
          </a:fillRef>
          <a:effectRef idx="0">
            <a:srgbClr val="2B4663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algn="ctr" defTabSz="487650">
              <a:defRPr/>
            </a:pPr>
            <a:endParaRPr lang="zh-CN" altLang="en-US" sz="96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D6F303A8-B702-46BA-D7B0-182334BF44E6}"/>
              </a:ext>
            </a:extLst>
          </p:cNvPr>
          <p:cNvSpPr/>
          <p:nvPr/>
        </p:nvSpPr>
        <p:spPr>
          <a:xfrm>
            <a:off x="553511" y="1762751"/>
            <a:ext cx="407923" cy="198527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 fontScale="92500" lnSpcReduction="10000"/>
          </a:bodyPr>
          <a:lstStyle/>
          <a:p>
            <a:pPr algn="ctr"/>
            <a:r>
              <a:rPr lang="en-US" altLang="zh-CN" sz="1493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endParaRPr lang="en-US" sz="1493" b="1" dirty="0">
              <a:solidFill>
                <a:srgbClr val="17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Shape 29">
            <a:extLst>
              <a:ext uri="{FF2B5EF4-FFF2-40B4-BE49-F238E27FC236}">
                <a16:creationId xmlns:a16="http://schemas.microsoft.com/office/drawing/2014/main" id="{FC3C6AE5-57E5-1B19-BD5C-4916CBF552AF}"/>
              </a:ext>
            </a:extLst>
          </p:cNvPr>
          <p:cNvSpPr/>
          <p:nvPr/>
        </p:nvSpPr>
        <p:spPr>
          <a:xfrm>
            <a:off x="1310275" y="1494682"/>
            <a:ext cx="224673" cy="2075964"/>
          </a:xfrm>
          <a:prstGeom prst="roundRect">
            <a:avLst>
              <a:gd name="adj" fmla="val 4000"/>
            </a:avLst>
          </a:prstGeom>
          <a:solidFill>
            <a:srgbClr val="273B59"/>
          </a:solidFill>
          <a:ln w="19050">
            <a:solidFill>
              <a:srgbClr val="17263E"/>
            </a:solidFill>
            <a:prstDash val="solid"/>
          </a:ln>
        </p:spPr>
        <p:txBody>
          <a:bodyPr/>
          <a:lstStyle/>
          <a:p>
            <a:endParaRPr lang="zh-CN" altLang="en-US" sz="960" dirty="0"/>
          </a:p>
        </p:txBody>
      </p:sp>
      <p:sp>
        <p:nvSpPr>
          <p:cNvPr id="159" name="Text 10">
            <a:extLst>
              <a:ext uri="{FF2B5EF4-FFF2-40B4-BE49-F238E27FC236}">
                <a16:creationId xmlns:a16="http://schemas.microsoft.com/office/drawing/2014/main" id="{3E4FE290-81C7-D3D1-8A62-0C9CDDCA7648}"/>
              </a:ext>
            </a:extLst>
          </p:cNvPr>
          <p:cNvSpPr/>
          <p:nvPr/>
        </p:nvSpPr>
        <p:spPr>
          <a:xfrm>
            <a:off x="456596" y="2996899"/>
            <a:ext cx="557256" cy="198527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algn="ctr"/>
            <a:r>
              <a:rPr lang="zh-CN" altLang="en-US" sz="1280" b="1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  <a:endParaRPr lang="en-US" sz="1280" b="1" dirty="0">
              <a:solidFill>
                <a:srgbClr val="17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BF048700-39ED-586F-313A-22D0C2578C10}"/>
              </a:ext>
            </a:extLst>
          </p:cNvPr>
          <p:cNvCxnSpPr>
            <a:cxnSpLocks/>
          </p:cNvCxnSpPr>
          <p:nvPr/>
        </p:nvCxnSpPr>
        <p:spPr>
          <a:xfrm flipV="1">
            <a:off x="1139341" y="2412342"/>
            <a:ext cx="214029" cy="7768"/>
          </a:xfrm>
          <a:prstGeom prst="straightConnector1">
            <a:avLst/>
          </a:prstGeom>
          <a:ln w="34925">
            <a:solidFill>
              <a:srgbClr val="63849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连接符: 肘形 198">
            <a:extLst>
              <a:ext uri="{FF2B5EF4-FFF2-40B4-BE49-F238E27FC236}">
                <a16:creationId xmlns:a16="http://schemas.microsoft.com/office/drawing/2014/main" id="{D5A14C11-B7D6-C930-27CD-B9FA2BCF1A07}"/>
              </a:ext>
            </a:extLst>
          </p:cNvPr>
          <p:cNvCxnSpPr>
            <a:cxnSpLocks/>
            <a:stCxn id="166" idx="0"/>
            <a:endCxn id="161" idx="0"/>
          </p:cNvCxnSpPr>
          <p:nvPr/>
        </p:nvCxnSpPr>
        <p:spPr>
          <a:xfrm rot="16200000" flipV="1">
            <a:off x="3047496" y="842677"/>
            <a:ext cx="16881" cy="1604873"/>
          </a:xfrm>
          <a:prstGeom prst="bentConnector3">
            <a:avLst>
              <a:gd name="adj1" fmla="val 1354441"/>
            </a:avLst>
          </a:prstGeom>
          <a:ln w="34925">
            <a:solidFill>
              <a:srgbClr val="0089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连接符: 肘形 205">
            <a:extLst>
              <a:ext uri="{FF2B5EF4-FFF2-40B4-BE49-F238E27FC236}">
                <a16:creationId xmlns:a16="http://schemas.microsoft.com/office/drawing/2014/main" id="{BDFD46F5-2437-72C1-409C-617AACAA208E}"/>
              </a:ext>
            </a:extLst>
          </p:cNvPr>
          <p:cNvCxnSpPr>
            <a:stCxn id="170" idx="0"/>
          </p:cNvCxnSpPr>
          <p:nvPr/>
        </p:nvCxnSpPr>
        <p:spPr>
          <a:xfrm rot="16200000" flipH="1" flipV="1">
            <a:off x="4072518" y="-455473"/>
            <a:ext cx="92267" cy="4092023"/>
          </a:xfrm>
          <a:prstGeom prst="bentConnector4">
            <a:avLst>
              <a:gd name="adj1" fmla="val -278188"/>
              <a:gd name="adj2" fmla="val 99969"/>
            </a:avLst>
          </a:prstGeom>
          <a:ln w="34925">
            <a:solidFill>
              <a:srgbClr val="0089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连接符: 肘形 209">
            <a:extLst>
              <a:ext uri="{FF2B5EF4-FFF2-40B4-BE49-F238E27FC236}">
                <a16:creationId xmlns:a16="http://schemas.microsoft.com/office/drawing/2014/main" id="{B1838984-7EA1-B460-3E20-EEC76A4B309F}"/>
              </a:ext>
            </a:extLst>
          </p:cNvPr>
          <p:cNvCxnSpPr>
            <a:stCxn id="147" idx="0"/>
          </p:cNvCxnSpPr>
          <p:nvPr/>
        </p:nvCxnSpPr>
        <p:spPr>
          <a:xfrm rot="16200000" flipH="1" flipV="1">
            <a:off x="5056238" y="-1703552"/>
            <a:ext cx="183693" cy="6467364"/>
          </a:xfrm>
          <a:prstGeom prst="bentConnector4">
            <a:avLst>
              <a:gd name="adj1" fmla="val -149337"/>
              <a:gd name="adj2" fmla="val 100007"/>
            </a:avLst>
          </a:prstGeom>
          <a:ln w="34925">
            <a:solidFill>
              <a:srgbClr val="0089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连接符: 肘形 213">
            <a:extLst>
              <a:ext uri="{FF2B5EF4-FFF2-40B4-BE49-F238E27FC236}">
                <a16:creationId xmlns:a16="http://schemas.microsoft.com/office/drawing/2014/main" id="{D3C6E043-5253-A419-2399-0DCC3DE54B01}"/>
              </a:ext>
            </a:extLst>
          </p:cNvPr>
          <p:cNvCxnSpPr>
            <a:stCxn id="137" idx="2"/>
            <a:endCxn id="161" idx="2"/>
          </p:cNvCxnSpPr>
          <p:nvPr/>
        </p:nvCxnSpPr>
        <p:spPr>
          <a:xfrm rot="5400000" flipH="1">
            <a:off x="4990454" y="534209"/>
            <a:ext cx="348609" cy="5822519"/>
          </a:xfrm>
          <a:prstGeom prst="bentConnector3">
            <a:avLst>
              <a:gd name="adj1" fmla="val -65575"/>
            </a:avLst>
          </a:prstGeom>
          <a:ln w="34925">
            <a:solidFill>
              <a:srgbClr val="0089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连接符: 肘形 215">
            <a:extLst>
              <a:ext uri="{FF2B5EF4-FFF2-40B4-BE49-F238E27FC236}">
                <a16:creationId xmlns:a16="http://schemas.microsoft.com/office/drawing/2014/main" id="{0706CCDF-F33E-6D9F-D87E-DF86976369A7}"/>
              </a:ext>
            </a:extLst>
          </p:cNvPr>
          <p:cNvCxnSpPr>
            <a:cxnSpLocks/>
            <a:stCxn id="189" idx="0"/>
            <a:endCxn id="156" idx="0"/>
          </p:cNvCxnSpPr>
          <p:nvPr/>
        </p:nvCxnSpPr>
        <p:spPr>
          <a:xfrm rot="16200000" flipV="1">
            <a:off x="5078103" y="-2678097"/>
            <a:ext cx="308166" cy="8949429"/>
          </a:xfrm>
          <a:prstGeom prst="bentConnector3">
            <a:avLst>
              <a:gd name="adj1" fmla="val 312391"/>
            </a:avLst>
          </a:prstGeom>
          <a:ln w="34925">
            <a:solidFill>
              <a:srgbClr val="0089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矩形 226">
            <a:extLst>
              <a:ext uri="{FF2B5EF4-FFF2-40B4-BE49-F238E27FC236}">
                <a16:creationId xmlns:a16="http://schemas.microsoft.com/office/drawing/2014/main" id="{D77BD4B6-CBF3-CE02-2D83-D8CD884272D4}"/>
              </a:ext>
            </a:extLst>
          </p:cNvPr>
          <p:cNvSpPr/>
          <p:nvPr/>
        </p:nvSpPr>
        <p:spPr>
          <a:xfrm>
            <a:off x="7042475" y="3874015"/>
            <a:ext cx="1258768" cy="340028"/>
          </a:xfrm>
          <a:prstGeom prst="rect">
            <a:avLst/>
          </a:prstGeom>
          <a:solidFill>
            <a:srgbClr val="98B4D2"/>
          </a:solidFill>
          <a:ln w="38100">
            <a:noFill/>
            <a:prstDash val="dash"/>
          </a:ln>
        </p:spPr>
        <p:style>
          <a:lnRef idx="2">
            <a:srgbClr val="2B4663">
              <a:shade val="50000"/>
            </a:srgbClr>
          </a:lnRef>
          <a:fillRef idx="1">
            <a:srgbClr val="2B4663"/>
          </a:fillRef>
          <a:effectRef idx="0">
            <a:srgbClr val="2B4663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algn="ctr" defTabSz="487650">
              <a:defRPr/>
            </a:pPr>
            <a:endParaRPr lang="zh-CN" altLang="en-US" sz="96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9826073A-540A-B2C3-FD79-3B800597647D}"/>
              </a:ext>
            </a:extLst>
          </p:cNvPr>
          <p:cNvSpPr txBox="1"/>
          <p:nvPr/>
        </p:nvSpPr>
        <p:spPr>
          <a:xfrm>
            <a:off x="7042476" y="3899374"/>
            <a:ext cx="1258767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1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highlight>
                  <a:srgbClr val="EAEEF2"/>
                </a:highlight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2pPr>
            <a:lvl3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3pPr>
            <a:lvl4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4pPr>
            <a:lvl5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5pPr>
            <a:lvl6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6pPr>
            <a:lvl7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7pPr>
            <a:lvl8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8pPr>
            <a:lvl9pPr>
              <a:defRPr>
                <a:solidFill>
                  <a:srgbClr val="000000"/>
                </a:solidFill>
                <a:latin typeface="等线" panose="02010600030101010101" charset="-122"/>
                <a:cs typeface="+mn-ea"/>
              </a:defRPr>
            </a:lvl9pPr>
          </a:lstStyle>
          <a:p>
            <a:r>
              <a:rPr lang="en-US" altLang="zh-CN" sz="1280" i="0" dirty="0"/>
              <a:t>WBQ</a:t>
            </a:r>
            <a:r>
              <a:rPr lang="zh-CN" altLang="en-US" sz="1280" i="0" dirty="0"/>
              <a:t>队首寄存</a:t>
            </a:r>
          </a:p>
        </p:txBody>
      </p:sp>
      <p:cxnSp>
        <p:nvCxnSpPr>
          <p:cNvPr id="232" name="连接符: 肘形 231">
            <a:extLst>
              <a:ext uri="{FF2B5EF4-FFF2-40B4-BE49-F238E27FC236}">
                <a16:creationId xmlns:a16="http://schemas.microsoft.com/office/drawing/2014/main" id="{4F6BE42D-781F-3445-FD1A-3177EA559C95}"/>
              </a:ext>
            </a:extLst>
          </p:cNvPr>
          <p:cNvCxnSpPr>
            <a:stCxn id="192" idx="2"/>
            <a:endCxn id="227" idx="3"/>
          </p:cNvCxnSpPr>
          <p:nvPr/>
        </p:nvCxnSpPr>
        <p:spPr>
          <a:xfrm rot="5400000">
            <a:off x="8407189" y="2744315"/>
            <a:ext cx="1193769" cy="1405659"/>
          </a:xfrm>
          <a:prstGeom prst="bentConnector2">
            <a:avLst/>
          </a:prstGeom>
          <a:ln w="34925">
            <a:solidFill>
              <a:srgbClr val="0089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连接符: 肘形 235">
            <a:extLst>
              <a:ext uri="{FF2B5EF4-FFF2-40B4-BE49-F238E27FC236}">
                <a16:creationId xmlns:a16="http://schemas.microsoft.com/office/drawing/2014/main" id="{A383ECED-9CB3-7797-A675-0F24A5C86076}"/>
              </a:ext>
            </a:extLst>
          </p:cNvPr>
          <p:cNvCxnSpPr>
            <a:stCxn id="227" idx="1"/>
          </p:cNvCxnSpPr>
          <p:nvPr/>
        </p:nvCxnSpPr>
        <p:spPr>
          <a:xfrm rot="10800000">
            <a:off x="1955282" y="3322036"/>
            <a:ext cx="5087194" cy="721993"/>
          </a:xfrm>
          <a:prstGeom prst="bentConnector3">
            <a:avLst>
              <a:gd name="adj1" fmla="val 100203"/>
            </a:avLst>
          </a:prstGeom>
          <a:ln w="34925">
            <a:solidFill>
              <a:srgbClr val="0089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59C62263-E10B-F7C5-B75C-0A11DD81909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grpSp>
        <p:nvGrpSpPr>
          <p:cNvPr id="11" name="Group 2">
            <a:extLst>
              <a:ext uri="{FF2B5EF4-FFF2-40B4-BE49-F238E27FC236}">
                <a16:creationId xmlns:a16="http://schemas.microsoft.com/office/drawing/2014/main" id="{6E05D7C8-4280-1B76-211A-3047A3E36C65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1CF8AD4D-ABC6-9E4D-747E-59020F5785DA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13" name="TextBox 4">
              <a:extLst>
                <a:ext uri="{FF2B5EF4-FFF2-40B4-BE49-F238E27FC236}">
                  <a16:creationId xmlns:a16="http://schemas.microsoft.com/office/drawing/2014/main" id="{B1B64669-AF00-AD52-150D-E8EC48BBC18B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14" name="TextBox 19">
            <a:extLst>
              <a:ext uri="{FF2B5EF4-FFF2-40B4-BE49-F238E27FC236}">
                <a16:creationId xmlns:a16="http://schemas.microsoft.com/office/drawing/2014/main" id="{027D5FCA-D412-B3BF-09E0-659D923D6544}"/>
              </a:ext>
            </a:extLst>
          </p:cNvPr>
          <p:cNvSpPr txBox="1"/>
          <p:nvPr/>
        </p:nvSpPr>
        <p:spPr>
          <a:xfrm>
            <a:off x="1458152" y="225995"/>
            <a:ext cx="3347540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zh-CN" altLang="en-US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寄存器的相关</a:t>
            </a:r>
            <a:r>
              <a:rPr lang="en-US" altLang="zh-CN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旁路</a:t>
            </a:r>
            <a:endParaRPr lang="en-US" sz="24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梯形 14">
            <a:extLst>
              <a:ext uri="{FF2B5EF4-FFF2-40B4-BE49-F238E27FC236}">
                <a16:creationId xmlns:a16="http://schemas.microsoft.com/office/drawing/2014/main" id="{8D4CAB8F-0FD0-3D33-75FE-0538B3EDAF44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16" name="梯形 15">
            <a:extLst>
              <a:ext uri="{FF2B5EF4-FFF2-40B4-BE49-F238E27FC236}">
                <a16:creationId xmlns:a16="http://schemas.microsoft.com/office/drawing/2014/main" id="{B11A53D1-FEAE-57EE-6BC1-742BB22CE90B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4061030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F0ADB-1F8A-B38A-7EE0-51D97BF60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52D68EF-45DA-3CC2-EDFE-5930FF17D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466523"/>
              </p:ext>
            </p:extLst>
          </p:nvPr>
        </p:nvGraphicFramePr>
        <p:xfrm>
          <a:off x="324051" y="1228907"/>
          <a:ext cx="11543900" cy="468498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47638">
                  <a:extLst>
                    <a:ext uri="{9D8B030D-6E8A-4147-A177-3AD203B41FA5}">
                      <a16:colId xmlns:a16="http://schemas.microsoft.com/office/drawing/2014/main" val="2242781285"/>
                    </a:ext>
                  </a:extLst>
                </a:gridCol>
                <a:gridCol w="1918986">
                  <a:extLst>
                    <a:ext uri="{9D8B030D-6E8A-4147-A177-3AD203B41FA5}">
                      <a16:colId xmlns:a16="http://schemas.microsoft.com/office/drawing/2014/main" val="242780373"/>
                    </a:ext>
                  </a:extLst>
                </a:gridCol>
                <a:gridCol w="2747575">
                  <a:extLst>
                    <a:ext uri="{9D8B030D-6E8A-4147-A177-3AD203B41FA5}">
                      <a16:colId xmlns:a16="http://schemas.microsoft.com/office/drawing/2014/main" val="248779039"/>
                    </a:ext>
                  </a:extLst>
                </a:gridCol>
                <a:gridCol w="3182754">
                  <a:extLst>
                    <a:ext uri="{9D8B030D-6E8A-4147-A177-3AD203B41FA5}">
                      <a16:colId xmlns:a16="http://schemas.microsoft.com/office/drawing/2014/main" val="1473890814"/>
                    </a:ext>
                  </a:extLst>
                </a:gridCol>
                <a:gridCol w="2646947">
                  <a:extLst>
                    <a:ext uri="{9D8B030D-6E8A-4147-A177-3AD203B41FA5}">
                      <a16:colId xmlns:a16="http://schemas.microsoft.com/office/drawing/2014/main" val="219645729"/>
                    </a:ext>
                  </a:extLst>
                </a:gridCol>
              </a:tblGrid>
              <a:tr h="339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产生位置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重定向类型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涉及指令/事件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触发条件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重定向目标</a:t>
                      </a:r>
                    </a:p>
                  </a:txBody>
                  <a:tcPr marL="48768" marR="48768" marT="24384" marB="24384" anchor="ctr"/>
                </a:tc>
                <a:extLst>
                  <a:ext uri="{0D108BD9-81ED-4DB2-BD59-A6C34878D82A}">
                    <a16:rowId xmlns:a16="http://schemas.microsoft.com/office/drawing/2014/main" val="2290063866"/>
                  </a:ext>
                </a:extLst>
              </a:tr>
              <a:tr h="583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WB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精确异常/中断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ADEF、TLB、ALE、INE、SYS、BRK、中断等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异常指令到达 WBQ 队首且 ready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CSR 给出的异常入口 wb_exception_entry</a:t>
                      </a:r>
                    </a:p>
                  </a:txBody>
                  <a:tcPr marL="48768" marR="48768" marT="24384" marB="24384" anchor="ctr"/>
                </a:tc>
                <a:extLst>
                  <a:ext uri="{0D108BD9-81ED-4DB2-BD59-A6C34878D82A}">
                    <a16:rowId xmlns:a16="http://schemas.microsoft.com/office/drawing/2014/main" val="3859784149"/>
                  </a:ext>
                </a:extLst>
              </a:tr>
              <a:tr h="535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WB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异常返回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ertn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ertn 到达 WBQ 队首并精确执行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CSR 给出的返回地址 wb_ertn_pc</a:t>
                      </a:r>
                    </a:p>
                  </a:txBody>
                  <a:tcPr marL="48768" marR="48768" marT="24384" marB="24384" anchor="ctr"/>
                </a:tc>
                <a:extLst>
                  <a:ext uri="{0D108BD9-81ED-4DB2-BD59-A6C34878D82A}">
                    <a16:rowId xmlns:a16="http://schemas.microsoft.com/office/drawing/2014/main" val="1161561857"/>
                  </a:ext>
                </a:extLst>
              </a:tr>
              <a:tr h="535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WB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串行重取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修改关键 CSR、TLB 操作、I-cache CACOP、ibar 等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串行指令正常退休且带 refetch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当前指令 PC+4</a:t>
                      </a:r>
                    </a:p>
                  </a:txBody>
                  <a:tcPr marL="48768" marR="48768" marT="24384" marB="24384" anchor="ctr"/>
                </a:tc>
                <a:extLst>
                  <a:ext uri="{0D108BD9-81ED-4DB2-BD59-A6C34878D82A}">
                    <a16:rowId xmlns:a16="http://schemas.microsoft.com/office/drawing/2014/main" val="89878110"/>
                  </a:ext>
                </a:extLst>
              </a:tr>
              <a:tr h="856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EX2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完整下一 PC 校验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条件分支、b/bl、jirl、错误 BTB 命中的普通指令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pred_next_pc != actual_next_pc，且指令真正进入 MEM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taken 时为真实目标，否则为 PC+4</a:t>
                      </a:r>
                    </a:p>
                  </a:txBody>
                  <a:tcPr marL="48768" marR="48768" marT="24384" marB="24384" anchor="ctr"/>
                </a:tc>
                <a:extLst>
                  <a:ext uri="{0D108BD9-81ED-4DB2-BD59-A6C34878D82A}">
                    <a16:rowId xmlns:a16="http://schemas.microsoft.com/office/drawing/2014/main" val="383159294"/>
                  </a:ext>
                </a:extLst>
              </a:tr>
              <a:tr h="765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EX1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条件分支方向恢复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beq/bne/blt/bge/bltu/bgeu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 taken 与预测 taken 不一致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预测 taken 但实际不跳：PC+4；预测不跳但实际 taken：分支目标</a:t>
                      </a:r>
                    </a:p>
                  </a:txBody>
                  <a:tcPr marL="48768" marR="48768" marT="24384" marB="24384" anchor="ctr"/>
                </a:tc>
                <a:extLst>
                  <a:ext uri="{0D108BD9-81ED-4DB2-BD59-A6C34878D82A}">
                    <a16:rowId xmlns:a16="http://schemas.microsoft.com/office/drawing/2014/main" val="3181445515"/>
                  </a:ext>
                </a:extLst>
              </a:tr>
              <a:tr h="535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无条件直接跳转修正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b/bl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 算出的目标与预测下一 PC 不同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 + sign_ext(offset &lt;&lt; 2)</a:t>
                      </a:r>
                    </a:p>
                  </a:txBody>
                  <a:tcPr marL="48768" marR="48768" marT="24384" marB="24384" anchor="ctr"/>
                </a:tc>
                <a:extLst>
                  <a:ext uri="{0D108BD9-81ED-4DB2-BD59-A6C34878D82A}">
                    <a16:rowId xmlns:a16="http://schemas.microsoft.com/office/drawing/2014/main" val="2711966056"/>
                  </a:ext>
                </a:extLst>
              </a:tr>
              <a:tr h="535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FQ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正常预测下一 PC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条件分支、直接跳转、call、return、间接跳转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没有任何恢复重定向</a:t>
                      </a:r>
                    </a:p>
                  </a:txBody>
                  <a:tcPr marL="48768" marR="48768" marT="24384" marB="243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BTB target、RAS target 或 PC+4</a:t>
                      </a:r>
                    </a:p>
                  </a:txBody>
                  <a:tcPr marL="48768" marR="48768" marT="24384" marB="24384" anchor="ctr"/>
                </a:tc>
                <a:extLst>
                  <a:ext uri="{0D108BD9-81ED-4DB2-BD59-A6C34878D82A}">
                    <a16:rowId xmlns:a16="http://schemas.microsoft.com/office/drawing/2014/main" val="977085615"/>
                  </a:ext>
                </a:extLst>
              </a:tr>
            </a:tbl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EE13C857-CE02-8FDA-CF89-CA3D6B38035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810BA0B-D094-B875-4F01-5202F3455BEA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CAB1E36A-6515-C33B-9BFA-42382D83AC4B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30D7F325-2EBB-1BA0-D123-EBFE889E7F47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8" name="TextBox 19">
            <a:extLst>
              <a:ext uri="{FF2B5EF4-FFF2-40B4-BE49-F238E27FC236}">
                <a16:creationId xmlns:a16="http://schemas.microsoft.com/office/drawing/2014/main" id="{2BA98D8F-DF8B-8AA8-460F-0DE4325FA08A}"/>
              </a:ext>
            </a:extLst>
          </p:cNvPr>
          <p:cNvSpPr txBox="1"/>
          <p:nvPr/>
        </p:nvSpPr>
        <p:spPr>
          <a:xfrm>
            <a:off x="430878" y="226295"/>
            <a:ext cx="3347540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zh-CN" altLang="en-US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重定向</a:t>
            </a:r>
            <a:endParaRPr lang="en-US" sz="24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梯形 8">
            <a:extLst>
              <a:ext uri="{FF2B5EF4-FFF2-40B4-BE49-F238E27FC236}">
                <a16:creationId xmlns:a16="http://schemas.microsoft.com/office/drawing/2014/main" id="{3B24C093-C492-BE3B-F913-B1AD4DFAAFF0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10" name="梯形 9">
            <a:extLst>
              <a:ext uri="{FF2B5EF4-FFF2-40B4-BE49-F238E27FC236}">
                <a16:creationId xmlns:a16="http://schemas.microsoft.com/office/drawing/2014/main" id="{45362206-3D73-E7EB-B736-EC7D17028DE7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511889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9C5-F22B-41D9-FA38-A73B9052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DF4CB46B-F3C6-8A2D-FBE6-B58CF536535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597104" y="6047735"/>
            <a:ext cx="997792" cy="73599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A37D919-48F9-6635-62D0-FCD95098FB0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0B10C3E4-866B-D641-793A-73F0C082CEE9}"/>
              </a:ext>
            </a:extLst>
          </p:cNvPr>
          <p:cNvGrpSpPr/>
          <p:nvPr/>
        </p:nvGrpSpPr>
        <p:grpSpPr>
          <a:xfrm>
            <a:off x="375803" y="2951698"/>
            <a:ext cx="6900597" cy="2947309"/>
            <a:chOff x="2589853" y="1363502"/>
            <a:chExt cx="6900597" cy="294730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4CAC557-6937-4E2F-96BF-69B44C568973}"/>
                </a:ext>
              </a:extLst>
            </p:cNvPr>
            <p:cNvSpPr/>
            <p:nvPr/>
          </p:nvSpPr>
          <p:spPr>
            <a:xfrm>
              <a:off x="2589853" y="1363502"/>
              <a:ext cx="6900597" cy="2947309"/>
            </a:xfrm>
            <a:prstGeom prst="rect">
              <a:avLst/>
            </a:prstGeom>
            <a:solidFill>
              <a:srgbClr val="94ACBC">
                <a:lumMod val="20000"/>
                <a:lumOff val="80000"/>
              </a:srgbClr>
            </a:solidFill>
            <a:ln w="38100" cap="flat" cmpd="sng" algn="ctr">
              <a:solidFill>
                <a:srgbClr val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kern="0" dirty="0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94FADE6-D28C-30F2-6FC0-6135E42BB66D}"/>
                </a:ext>
              </a:extLst>
            </p:cNvPr>
            <p:cNvSpPr/>
            <p:nvPr/>
          </p:nvSpPr>
          <p:spPr>
            <a:xfrm>
              <a:off x="2815428" y="1913570"/>
              <a:ext cx="1496290" cy="779318"/>
            </a:xfrm>
            <a:prstGeom prst="rect">
              <a:avLst/>
            </a:prstGeom>
            <a:solidFill>
              <a:srgbClr val="F6F8F9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EF49631-0EB1-E389-2ABA-71A6B88CCF72}"/>
                </a:ext>
              </a:extLst>
            </p:cNvPr>
            <p:cNvSpPr txBox="1"/>
            <p:nvPr/>
          </p:nvSpPr>
          <p:spPr>
            <a:xfrm>
              <a:off x="3347884" y="1934826"/>
              <a:ext cx="5437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 b="1" i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1100" i="0" dirty="0">
                  <a:sym typeface="微软雅黑"/>
                </a:rPr>
                <a:t>输入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C68E84E-D141-7209-49B7-EE2B55F7C6BC}"/>
                </a:ext>
              </a:extLst>
            </p:cNvPr>
            <p:cNvSpPr txBox="1"/>
            <p:nvPr/>
          </p:nvSpPr>
          <p:spPr>
            <a:xfrm>
              <a:off x="2852771" y="2171838"/>
              <a:ext cx="1496290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>
                <a:defRPr sz="800" b="1" i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1100" i="0" dirty="0">
                  <a:sym typeface="Arial"/>
                </a:rPr>
                <a:t>VA + </a:t>
              </a:r>
              <a:r>
                <a:rPr lang="zh-CN" altLang="en-US" sz="1100" i="0" dirty="0">
                  <a:sym typeface="微软雅黑"/>
                </a:rPr>
                <a:t>取指</a:t>
              </a:r>
              <a:r>
                <a:rPr lang="zh-CN" altLang="en-US" sz="1100" i="0" dirty="0">
                  <a:sym typeface="Arial"/>
                </a:rPr>
                <a:t>/load/store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1843030-24A4-EAB4-CAE6-FBB4083D05AF}"/>
                </a:ext>
              </a:extLst>
            </p:cNvPr>
            <p:cNvSpPr txBox="1"/>
            <p:nvPr/>
          </p:nvSpPr>
          <p:spPr>
            <a:xfrm>
              <a:off x="2829042" y="2384647"/>
              <a:ext cx="1543748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>
                <a:defRPr sz="800" b="1" i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1100" i="0" dirty="0">
                  <a:sym typeface="Arial"/>
                </a:rPr>
                <a:t>PLV + ASID + CRMD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222549A-7E17-3C85-A15C-372007E34F25}"/>
                </a:ext>
              </a:extLst>
            </p:cNvPr>
            <p:cNvSpPr/>
            <p:nvPr/>
          </p:nvSpPr>
          <p:spPr>
            <a:xfrm>
              <a:off x="4840405" y="1851224"/>
              <a:ext cx="1050282" cy="539127"/>
            </a:xfrm>
            <a:prstGeom prst="rect">
              <a:avLst/>
            </a:prstGeom>
            <a:solidFill>
              <a:srgbClr val="94ACB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57CB5FE-F9ED-8A6F-FEE3-B0A62E14AAA1}"/>
                </a:ext>
              </a:extLst>
            </p:cNvPr>
            <p:cNvSpPr txBox="1"/>
            <p:nvPr/>
          </p:nvSpPr>
          <p:spPr>
            <a:xfrm>
              <a:off x="4855564" y="1925353"/>
              <a:ext cx="885874" cy="377290"/>
            </a:xfrm>
            <a:prstGeom prst="rect">
              <a:avLst/>
            </a:prstGeom>
            <a:solidFill>
              <a:srgbClr val="94ACB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1" i="1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1100" i="0" dirty="0">
                  <a:sym typeface="Cambria Math"/>
                </a:rPr>
                <a:t>①</a:t>
              </a:r>
              <a:r>
                <a:rPr lang="zh-CN" altLang="en-US" sz="1100" i="0" dirty="0">
                  <a:sym typeface="Arial"/>
                </a:rPr>
                <a:t> DA </a:t>
              </a:r>
              <a:r>
                <a:rPr lang="zh-CN" altLang="en-US" sz="1100" i="0" dirty="0">
                  <a:sym typeface="微软雅黑"/>
                </a:rPr>
                <a:t>直接地址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BDC9DF3-51C6-E7FC-22E3-338332D5E791}"/>
                </a:ext>
              </a:extLst>
            </p:cNvPr>
            <p:cNvSpPr/>
            <p:nvPr/>
          </p:nvSpPr>
          <p:spPr>
            <a:xfrm>
              <a:off x="4840405" y="2622347"/>
              <a:ext cx="1050282" cy="569113"/>
            </a:xfrm>
            <a:prstGeom prst="rect">
              <a:avLst/>
            </a:prstGeom>
            <a:solidFill>
              <a:srgbClr val="94ACB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9A4B54B-B1EA-3955-6444-DFD4601D1455}"/>
                </a:ext>
              </a:extLst>
            </p:cNvPr>
            <p:cNvSpPr txBox="1"/>
            <p:nvPr/>
          </p:nvSpPr>
          <p:spPr>
            <a:xfrm>
              <a:off x="4838498" y="2903877"/>
              <a:ext cx="1009587" cy="105975"/>
            </a:xfrm>
            <a:prstGeom prst="rect">
              <a:avLst/>
            </a:prstGeom>
            <a:solidFill>
              <a:srgbClr val="94ACB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1" i="1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1100" i="0" dirty="0">
                  <a:sym typeface="Cambria Math"/>
                </a:rPr>
                <a:t>②</a:t>
              </a:r>
              <a:r>
                <a:rPr lang="zh-CN" altLang="en-US" sz="1100" i="0" dirty="0">
                  <a:sym typeface="Arial"/>
                </a:rPr>
                <a:t> DMW </a:t>
              </a:r>
              <a:r>
                <a:rPr lang="zh-CN" altLang="en-US" sz="1100" i="0" dirty="0">
                  <a:sym typeface="微软雅黑"/>
                </a:rPr>
                <a:t>窗口命中</a:t>
              </a:r>
            </a:p>
            <a:p>
              <a:endParaRPr lang="zh-CN" altLang="en-US" i="0" dirty="0">
                <a:sym typeface="微软雅黑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4D7E61B6-C895-3931-989E-190AF6465B85}"/>
                </a:ext>
              </a:extLst>
            </p:cNvPr>
            <p:cNvSpPr/>
            <p:nvPr/>
          </p:nvSpPr>
          <p:spPr>
            <a:xfrm>
              <a:off x="4840406" y="3383675"/>
              <a:ext cx="1062256" cy="581477"/>
            </a:xfrm>
            <a:prstGeom prst="rect">
              <a:avLst/>
            </a:prstGeom>
            <a:solidFill>
              <a:srgbClr val="94ACB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B790A56-FF02-D8A0-91A6-7B0DE7A1A85A}"/>
                </a:ext>
              </a:extLst>
            </p:cNvPr>
            <p:cNvSpPr txBox="1"/>
            <p:nvPr/>
          </p:nvSpPr>
          <p:spPr>
            <a:xfrm>
              <a:off x="4876478" y="3532520"/>
              <a:ext cx="917239" cy="215444"/>
            </a:xfrm>
            <a:prstGeom prst="rect">
              <a:avLst/>
            </a:prstGeom>
            <a:solidFill>
              <a:srgbClr val="94ACB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1" i="1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1100" i="0" dirty="0">
                  <a:sym typeface="Cambria Math"/>
                </a:rPr>
                <a:t>③</a:t>
              </a:r>
              <a:r>
                <a:rPr lang="zh-CN" altLang="en-US" sz="1100" i="0" dirty="0">
                  <a:sym typeface="Arial"/>
                </a:rPr>
                <a:t> PG </a:t>
              </a:r>
              <a:r>
                <a:rPr lang="zh-CN" altLang="en-US" sz="1100" i="0" dirty="0">
                  <a:sym typeface="微软雅黑"/>
                </a:rPr>
                <a:t>普通</a:t>
              </a:r>
              <a:r>
                <a:rPr lang="zh-CN" altLang="en-US" sz="1100" i="0" dirty="0">
                  <a:sym typeface="Arial"/>
                </a:rPr>
                <a:t> TLB</a:t>
              </a:r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CE06BE66-2BF9-22E1-5BDC-3F2530448D4F}"/>
                </a:ext>
              </a:extLst>
            </p:cNvPr>
            <p:cNvSpPr/>
            <p:nvPr/>
          </p:nvSpPr>
          <p:spPr>
            <a:xfrm flipV="1">
              <a:off x="4297045" y="2054886"/>
              <a:ext cx="543359" cy="45719"/>
            </a:xfrm>
            <a:custGeom>
              <a:avLst/>
              <a:gdLst>
                <a:gd name="csX0" fmla="*/ 0 w 498763"/>
                <a:gd name="csY0" fmla="*/ 0 h 6234"/>
                <a:gd name="csX1" fmla="*/ 498764 w 498763"/>
                <a:gd name="csY1" fmla="*/ 0 h 62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8763" h="6234">
                  <a:moveTo>
                    <a:pt x="0" y="0"/>
                  </a:moveTo>
                  <a:lnTo>
                    <a:pt x="498764" y="0"/>
                  </a:lnTo>
                </a:path>
              </a:pathLst>
            </a:custGeom>
            <a:noFill/>
            <a:ln w="12700" cap="flat" cmpd="sng" algn="ctr">
              <a:solidFill>
                <a:srgbClr val="B9CAE1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5F7F634A-D465-F847-6115-4BFBC9270162}"/>
                </a:ext>
              </a:extLst>
            </p:cNvPr>
            <p:cNvSpPr/>
            <p:nvPr/>
          </p:nvSpPr>
          <p:spPr>
            <a:xfrm>
              <a:off x="4297045" y="2300111"/>
              <a:ext cx="543359" cy="569113"/>
            </a:xfrm>
            <a:custGeom>
              <a:avLst/>
              <a:gdLst>
                <a:gd name="csX0" fmla="*/ 0 w 498763"/>
                <a:gd name="csY0" fmla="*/ 0 h 935181"/>
                <a:gd name="csX1" fmla="*/ 498764 w 498763"/>
                <a:gd name="csY1" fmla="*/ 935182 h 935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8763" h="935181">
                  <a:moveTo>
                    <a:pt x="0" y="0"/>
                  </a:moveTo>
                  <a:cubicBezTo>
                    <a:pt x="280555" y="0"/>
                    <a:pt x="249382" y="935182"/>
                    <a:pt x="498764" y="935182"/>
                  </a:cubicBezTo>
                </a:path>
              </a:pathLst>
            </a:custGeom>
            <a:noFill/>
            <a:ln w="12700" cap="flat" cmpd="sng" algn="ctr">
              <a:solidFill>
                <a:srgbClr val="B9CAE1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95E5E9CD-E1E7-9A3A-D907-D16A3270F526}"/>
                </a:ext>
              </a:extLst>
            </p:cNvPr>
            <p:cNvSpPr/>
            <p:nvPr/>
          </p:nvSpPr>
          <p:spPr>
            <a:xfrm>
              <a:off x="4297046" y="2505852"/>
              <a:ext cx="540258" cy="1160690"/>
            </a:xfrm>
            <a:custGeom>
              <a:avLst/>
              <a:gdLst>
                <a:gd name="csX0" fmla="*/ 0 w 498763"/>
                <a:gd name="csY0" fmla="*/ 0 h 2431472"/>
                <a:gd name="csX1" fmla="*/ 498764 w 498763"/>
                <a:gd name="csY1" fmla="*/ 2431473 h 2431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8763" h="2431472">
                  <a:moveTo>
                    <a:pt x="0" y="0"/>
                  </a:moveTo>
                  <a:cubicBezTo>
                    <a:pt x="249382" y="0"/>
                    <a:pt x="249382" y="2431473"/>
                    <a:pt x="498764" y="2431473"/>
                  </a:cubicBezTo>
                </a:path>
              </a:pathLst>
            </a:custGeom>
            <a:noFill/>
            <a:ln w="12700" cap="flat" cmpd="sng" algn="ctr">
              <a:solidFill>
                <a:srgbClr val="B9CAE1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9813EBB3-CED6-65AC-CA2F-A1DED84E5C1F}"/>
                </a:ext>
              </a:extLst>
            </p:cNvPr>
            <p:cNvSpPr/>
            <p:nvPr/>
          </p:nvSpPr>
          <p:spPr>
            <a:xfrm>
              <a:off x="6598822" y="3213212"/>
              <a:ext cx="2680854" cy="829679"/>
            </a:xfrm>
            <a:prstGeom prst="rect">
              <a:avLst/>
            </a:prstGeom>
            <a:solidFill>
              <a:srgbClr val="7671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100" b="1" kern="0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EBCAFF6-AA64-64D1-0F9E-EE7C7B8AF923}"/>
                </a:ext>
              </a:extLst>
            </p:cNvPr>
            <p:cNvSpPr txBox="1"/>
            <p:nvPr/>
          </p:nvSpPr>
          <p:spPr>
            <a:xfrm>
              <a:off x="6952565" y="3313408"/>
              <a:ext cx="1898277" cy="261610"/>
            </a:xfrm>
            <a:prstGeom prst="rect">
              <a:avLst/>
            </a:prstGeom>
            <a:solidFill>
              <a:srgbClr val="7671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100" b="1" i="1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i="0" dirty="0">
                  <a:sym typeface="Arial"/>
                </a:rPr>
                <a:t>TLB </a:t>
              </a:r>
              <a:r>
                <a:rPr lang="zh-CN" altLang="en-US" i="0" dirty="0">
                  <a:sym typeface="微软雅黑"/>
                </a:rPr>
                <a:t>路径权限与存在性检查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ACBB1F98-11A4-DD4F-909F-84C4B348C587}"/>
                </a:ext>
              </a:extLst>
            </p:cNvPr>
            <p:cNvSpPr txBox="1"/>
            <p:nvPr/>
          </p:nvSpPr>
          <p:spPr>
            <a:xfrm>
              <a:off x="6902920" y="3621348"/>
              <a:ext cx="2034532" cy="261610"/>
            </a:xfrm>
            <a:prstGeom prst="rect">
              <a:avLst/>
            </a:prstGeom>
            <a:solidFill>
              <a:srgbClr val="7671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100" b="1" i="1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i="0" dirty="0">
                  <a:sym typeface="微软雅黑"/>
                </a:rPr>
                <a:t>检查通过</a:t>
              </a:r>
              <a:r>
                <a:rPr lang="zh-CN" altLang="en-US" i="0" dirty="0">
                  <a:sym typeface="Arial"/>
                </a:rPr>
                <a:t> → {PPN, page offset}</a:t>
              </a: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2CD3F9E4-8D9A-9E1F-5DFD-F8B4C2F712A5}"/>
                </a:ext>
              </a:extLst>
            </p:cNvPr>
            <p:cNvSpPr/>
            <p:nvPr/>
          </p:nvSpPr>
          <p:spPr>
            <a:xfrm>
              <a:off x="6594896" y="1948795"/>
              <a:ext cx="2680854" cy="986156"/>
            </a:xfrm>
            <a:prstGeom prst="rect">
              <a:avLst/>
            </a:prstGeom>
            <a:solidFill>
              <a:srgbClr val="7671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606FD77B-7D47-D5F9-4D46-99D4839B596C}"/>
                </a:ext>
              </a:extLst>
            </p:cNvPr>
            <p:cNvSpPr txBox="1"/>
            <p:nvPr/>
          </p:nvSpPr>
          <p:spPr>
            <a:xfrm>
              <a:off x="7498196" y="2033754"/>
              <a:ext cx="748923" cy="261610"/>
            </a:xfrm>
            <a:prstGeom prst="rect">
              <a:avLst/>
            </a:prstGeom>
            <a:solidFill>
              <a:srgbClr val="7671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100" b="1" i="1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i="0" dirty="0">
                  <a:sym typeface="微软雅黑"/>
                </a:rPr>
                <a:t>正常输出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228648EB-D297-ABE3-6CB4-6742DF4853DD}"/>
                </a:ext>
              </a:extLst>
            </p:cNvPr>
            <p:cNvSpPr txBox="1"/>
            <p:nvPr/>
          </p:nvSpPr>
          <p:spPr>
            <a:xfrm>
              <a:off x="6743993" y="2276013"/>
              <a:ext cx="2409614" cy="229675"/>
            </a:xfrm>
            <a:prstGeom prst="rect">
              <a:avLst/>
            </a:prstGeom>
            <a:solidFill>
              <a:srgbClr val="7671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100" b="1" i="1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i="0" dirty="0">
                  <a:sym typeface="Arial"/>
                </a:rPr>
                <a:t>PA</a:t>
              </a:r>
              <a:r>
                <a:rPr lang="zh-CN" altLang="en-US" i="0" dirty="0">
                  <a:sym typeface="微软雅黑"/>
                </a:rPr>
                <a:t>：送</a:t>
              </a:r>
              <a:r>
                <a:rPr lang="zh-CN" altLang="en-US" i="0" dirty="0">
                  <a:sym typeface="Arial"/>
                </a:rPr>
                <a:t> ICache / DCache / bypass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6C670E63-9450-9DD9-F8EE-A5211F5ADBA6}"/>
                </a:ext>
              </a:extLst>
            </p:cNvPr>
            <p:cNvSpPr txBox="1"/>
            <p:nvPr/>
          </p:nvSpPr>
          <p:spPr>
            <a:xfrm>
              <a:off x="6766686" y="2552017"/>
              <a:ext cx="2409613" cy="275879"/>
            </a:xfrm>
            <a:prstGeom prst="rect">
              <a:avLst/>
            </a:prstGeom>
            <a:solidFill>
              <a:srgbClr val="7671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100" b="1" i="1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i="0" dirty="0">
                  <a:sym typeface="Arial"/>
                </a:rPr>
                <a:t>MAT</a:t>
              </a:r>
              <a:r>
                <a:rPr lang="zh-CN" altLang="en-US" i="0" dirty="0">
                  <a:sym typeface="微软雅黑"/>
                </a:rPr>
                <a:t>：决定</a:t>
              </a:r>
              <a:r>
                <a:rPr lang="zh-CN" altLang="en-US" i="0" dirty="0">
                  <a:sym typeface="Arial"/>
                </a:rPr>
                <a:t> cached </a:t>
              </a:r>
              <a:r>
                <a:rPr lang="zh-CN" altLang="en-US" i="0" dirty="0">
                  <a:sym typeface="微软雅黑"/>
                </a:rPr>
                <a:t>还是</a:t>
              </a:r>
              <a:r>
                <a:rPr lang="zh-CN" altLang="en-US" i="0" dirty="0">
                  <a:sym typeface="Arial"/>
                </a:rPr>
                <a:t> uncached</a:t>
              </a:r>
            </a:p>
          </p:txBody>
        </p:sp>
        <p:sp>
          <p:nvSpPr>
            <p:cNvPr id="93" name="右中括号 92">
              <a:extLst>
                <a:ext uri="{FF2B5EF4-FFF2-40B4-BE49-F238E27FC236}">
                  <a16:creationId xmlns:a16="http://schemas.microsoft.com/office/drawing/2014/main" id="{83DBCE3A-F550-4C6E-4962-49D7C29BAA56}"/>
                </a:ext>
              </a:extLst>
            </p:cNvPr>
            <p:cNvSpPr/>
            <p:nvPr/>
          </p:nvSpPr>
          <p:spPr>
            <a:xfrm>
              <a:off x="5842959" y="2147265"/>
              <a:ext cx="398815" cy="862587"/>
            </a:xfrm>
            <a:prstGeom prst="rightBracket">
              <a:avLst/>
            </a:prstGeom>
            <a:noFill/>
            <a:ln w="19050" cap="flat" cmpd="sng" algn="ctr">
              <a:solidFill>
                <a:srgbClr val="B9CAE1">
                  <a:lumMod val="75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BF0237E3-5D3F-D148-01AC-0F0E26FA86A0}"/>
                </a:ext>
              </a:extLst>
            </p:cNvPr>
            <p:cNvCxnSpPr>
              <a:cxnSpLocks/>
            </p:cNvCxnSpPr>
            <p:nvPr/>
          </p:nvCxnSpPr>
          <p:spPr>
            <a:xfrm>
              <a:off x="5902662" y="3672995"/>
              <a:ext cx="65803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B9CAE1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CA6F897F-23C9-53A4-5E45-1A727E498085}"/>
                </a:ext>
              </a:extLst>
            </p:cNvPr>
            <p:cNvCxnSpPr/>
            <p:nvPr/>
          </p:nvCxnSpPr>
          <p:spPr>
            <a:xfrm flipV="1">
              <a:off x="6281357" y="2505851"/>
              <a:ext cx="279339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B9CAE1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6D7AB4F7-5F31-B52F-7D13-180C023B84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6831" y="2934951"/>
              <a:ext cx="0" cy="256358"/>
            </a:xfrm>
            <a:prstGeom prst="straightConnector1">
              <a:avLst/>
            </a:prstGeom>
            <a:noFill/>
            <a:ln w="12700" cap="flat" cmpd="sng" algn="ctr">
              <a:solidFill>
                <a:srgbClr val="B9CAE1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107" name="文本框 106">
            <a:extLst>
              <a:ext uri="{FF2B5EF4-FFF2-40B4-BE49-F238E27FC236}">
                <a16:creationId xmlns:a16="http://schemas.microsoft.com/office/drawing/2014/main" id="{1BC46972-B5FE-9C26-56F6-A3E1D87BCD88}"/>
              </a:ext>
            </a:extLst>
          </p:cNvPr>
          <p:cNvSpPr txBox="1"/>
          <p:nvPr/>
        </p:nvSpPr>
        <p:spPr>
          <a:xfrm>
            <a:off x="359075" y="1425770"/>
            <a:ext cx="57484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项全相联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②奇偶页设计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③双查询端口，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用于取值，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用于访存和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TLBSRCH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④支持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4KB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2MB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页两种大小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08824DD0-94FF-DD45-9948-1F69E156B05D}"/>
              </a:ext>
            </a:extLst>
          </p:cNvPr>
          <p:cNvSpPr txBox="1"/>
          <p:nvPr/>
        </p:nvSpPr>
        <p:spPr>
          <a:xfrm>
            <a:off x="375803" y="1010109"/>
            <a:ext cx="6096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设计要点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2" name="Group 2">
            <a:extLst>
              <a:ext uri="{FF2B5EF4-FFF2-40B4-BE49-F238E27FC236}">
                <a16:creationId xmlns:a16="http://schemas.microsoft.com/office/drawing/2014/main" id="{E27C7FDE-9A25-098E-B223-C5E76B123C33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117" name="Freeform 3">
              <a:extLst>
                <a:ext uri="{FF2B5EF4-FFF2-40B4-BE49-F238E27FC236}">
                  <a16:creationId xmlns:a16="http://schemas.microsoft.com/office/drawing/2014/main" id="{882B848A-3EFA-96B3-457E-6357AE4DDD79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118" name="TextBox 4">
              <a:extLst>
                <a:ext uri="{FF2B5EF4-FFF2-40B4-BE49-F238E27FC236}">
                  <a16:creationId xmlns:a16="http://schemas.microsoft.com/office/drawing/2014/main" id="{8F88CD47-A5FC-9875-841E-053236B35581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113" name="TextBox 19">
            <a:extLst>
              <a:ext uri="{FF2B5EF4-FFF2-40B4-BE49-F238E27FC236}">
                <a16:creationId xmlns:a16="http://schemas.microsoft.com/office/drawing/2014/main" id="{6D6A28CF-25B2-0904-C026-851D6956F880}"/>
              </a:ext>
            </a:extLst>
          </p:cNvPr>
          <p:cNvSpPr txBox="1"/>
          <p:nvPr/>
        </p:nvSpPr>
        <p:spPr>
          <a:xfrm>
            <a:off x="1268958" y="223657"/>
            <a:ext cx="2677997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zh-CN" altLang="en-US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虚拟内存管理</a:t>
            </a:r>
            <a:endParaRPr lang="en-US" sz="20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梯形 113">
            <a:extLst>
              <a:ext uri="{FF2B5EF4-FFF2-40B4-BE49-F238E27FC236}">
                <a16:creationId xmlns:a16="http://schemas.microsoft.com/office/drawing/2014/main" id="{2792DC2D-A2F1-4C91-FA52-8D9113B2281F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115" name="梯形 114">
            <a:extLst>
              <a:ext uri="{FF2B5EF4-FFF2-40B4-BE49-F238E27FC236}">
                <a16:creationId xmlns:a16="http://schemas.microsoft.com/office/drawing/2014/main" id="{63B98A3B-AB7B-4FFF-017B-A766FA0D5920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  <p:graphicFrame>
        <p:nvGraphicFramePr>
          <p:cNvPr id="125" name="表格 124">
            <a:extLst>
              <a:ext uri="{FF2B5EF4-FFF2-40B4-BE49-F238E27FC236}">
                <a16:creationId xmlns:a16="http://schemas.microsoft.com/office/drawing/2014/main" id="{87E282A5-786D-AA41-95F4-704B8DA7E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417075"/>
              </p:ext>
            </p:extLst>
          </p:nvPr>
        </p:nvGraphicFramePr>
        <p:xfrm>
          <a:off x="7477605" y="1610250"/>
          <a:ext cx="4457973" cy="392916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77121">
                  <a:extLst>
                    <a:ext uri="{9D8B030D-6E8A-4147-A177-3AD203B41FA5}">
                      <a16:colId xmlns:a16="http://schemas.microsoft.com/office/drawing/2014/main" val="2833318145"/>
                    </a:ext>
                  </a:extLst>
                </a:gridCol>
                <a:gridCol w="1540426">
                  <a:extLst>
                    <a:ext uri="{9D8B030D-6E8A-4147-A177-3AD203B41FA5}">
                      <a16:colId xmlns:a16="http://schemas.microsoft.com/office/drawing/2014/main" val="2274518507"/>
                    </a:ext>
                  </a:extLst>
                </a:gridCol>
                <a:gridCol w="1540426">
                  <a:extLst>
                    <a:ext uri="{9D8B030D-6E8A-4147-A177-3AD203B41FA5}">
                      <a16:colId xmlns:a16="http://schemas.microsoft.com/office/drawing/2014/main" val="4123446152"/>
                    </a:ext>
                  </a:extLst>
                </a:gridCol>
              </a:tblGrid>
              <a:tr h="52092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异常处理</a:t>
                      </a:r>
                      <a:endParaRPr lang="zh-CN" sz="11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738" marR="71449" marT="44655" marB="4465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IF 取指异常</a:t>
                      </a:r>
                    </a:p>
                  </a:txBody>
                  <a:tcPr marL="71449" marR="71449" marT="44655" marB="4465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MEM 访存 TLB 异常</a:t>
                      </a:r>
                    </a:p>
                  </a:txBody>
                  <a:tcPr marL="71449" marR="71449" marT="44655" marB="44655" anchor="ctr"/>
                </a:tc>
                <a:extLst>
                  <a:ext uri="{0D108BD9-81ED-4DB2-BD59-A6C34878D82A}">
                    <a16:rowId xmlns:a16="http://schemas.microsoft.com/office/drawing/2014/main" val="596380683"/>
                  </a:ext>
                </a:extLst>
              </a:tr>
              <a:tr h="5209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产生阶段</a:t>
                      </a:r>
                      <a:endParaRPr lang="zh-CN" sz="11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738" marR="71449" marT="44655" marB="446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IF（取指地址翻译）</a:t>
                      </a:r>
                    </a:p>
                  </a:txBody>
                  <a:tcPr marL="71449" marR="71449" marT="44655" marB="446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MEM（访存地址翻译）</a:t>
                      </a:r>
                    </a:p>
                  </a:txBody>
                  <a:tcPr marL="71449" marR="85738" marT="44655" marB="44655" anchor="ctr"/>
                </a:tc>
                <a:extLst>
                  <a:ext uri="{0D108BD9-81ED-4DB2-BD59-A6C34878D82A}">
                    <a16:rowId xmlns:a16="http://schemas.microsoft.com/office/drawing/2014/main" val="4070341847"/>
                  </a:ext>
                </a:extLst>
              </a:tr>
              <a:tr h="29466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访问端口</a:t>
                      </a:r>
                      <a:endParaRPr lang="zh-CN" sz="11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738" marR="71449" marT="44655" marB="446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s0（取指专用）</a:t>
                      </a:r>
                    </a:p>
                  </a:txBody>
                  <a:tcPr marL="71449" marR="71449" marT="44655" marB="446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s1（访存专用）</a:t>
                      </a:r>
                    </a:p>
                  </a:txBody>
                  <a:tcPr marL="71449" marR="85738" marT="44655" marB="44655" anchor="ctr"/>
                </a:tc>
                <a:extLst>
                  <a:ext uri="{0D108BD9-81ED-4DB2-BD59-A6C34878D82A}">
                    <a16:rowId xmlns:a16="http://schemas.microsoft.com/office/drawing/2014/main" val="211938047"/>
                  </a:ext>
                </a:extLst>
              </a:tr>
              <a:tr h="5209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是否发 Cache 请求</a:t>
                      </a:r>
                      <a:endParaRPr lang="zh-CN" sz="11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738" marR="71449" marT="44655" marB="446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抑制，直接伪造空指令</a:t>
                      </a:r>
                    </a:p>
                  </a:txBody>
                  <a:tcPr marL="71449" marR="71449" marT="44655" marB="446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抑制，不分配 LQ/SB/写操作</a:t>
                      </a:r>
                    </a:p>
                  </a:txBody>
                  <a:tcPr marL="71449" marR="85738" marT="44655" marB="44655" anchor="ctr"/>
                </a:tc>
                <a:extLst>
                  <a:ext uri="{0D108BD9-81ED-4DB2-BD59-A6C34878D82A}">
                    <a16:rowId xmlns:a16="http://schemas.microsoft.com/office/drawing/2014/main" val="1676659890"/>
                  </a:ext>
                </a:extLst>
              </a:tr>
              <a:tr h="52062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异常类型</a:t>
                      </a:r>
                      <a:endParaRPr lang="zh-CN" sz="11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738" marR="71449" marT="44655" marB="446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ADEF, TLBR, PIF, PPI</a:t>
                      </a:r>
                    </a:p>
                  </a:txBody>
                  <a:tcPr marL="71449" marR="71449" marT="44655" marB="446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TLBR, PIL/PIS, PPI, PME</a:t>
                      </a:r>
                    </a:p>
                  </a:txBody>
                  <a:tcPr marL="71449" marR="85738" marT="44655" marB="44655" anchor="ctr"/>
                </a:tc>
                <a:extLst>
                  <a:ext uri="{0D108BD9-81ED-4DB2-BD59-A6C34878D82A}">
                    <a16:rowId xmlns:a16="http://schemas.microsoft.com/office/drawing/2014/main" val="393340616"/>
                  </a:ext>
                </a:extLst>
              </a:tr>
              <a:tr h="52062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BADV 填充</a:t>
                      </a:r>
                      <a:endParaRPr lang="zh-CN" sz="11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738" marR="71449" marT="44655" marB="446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取指令 PC</a:t>
                      </a:r>
                    </a:p>
                  </a:txBody>
                  <a:tcPr marL="71449" marR="71449" marT="44655" marB="446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访存虚地址 (VAddr)</a:t>
                      </a:r>
                    </a:p>
                  </a:txBody>
                  <a:tcPr marL="71449" marR="85738" marT="44655" marB="44655" anchor="ctr"/>
                </a:tc>
                <a:extLst>
                  <a:ext uri="{0D108BD9-81ED-4DB2-BD59-A6C34878D82A}">
                    <a16:rowId xmlns:a16="http://schemas.microsoft.com/office/drawing/2014/main" val="908270470"/>
                  </a:ext>
                </a:extLst>
              </a:tr>
              <a:tr h="97342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TLBEHI 自动填充</a:t>
                      </a:r>
                      <a:endParaRPr lang="zh-CN" sz="11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738" marR="71449" marT="44655" marB="446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 TLBR/PIF/PPI 时填入 PC 高位</a:t>
                      </a:r>
                    </a:p>
                  </a:txBody>
                  <a:tcPr marL="71449" marR="71449" marT="44655" marB="446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</a:t>
                      </a:r>
                      <a:r>
                        <a:rPr lang="zh-CN" sz="1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TLBR/PIL/PIS/PPI</a:t>
                      </a:r>
                      <a:endParaRPr lang="en-US" altLang="zh-CN" sz="11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/PME 时填入 VAddr 高位</a:t>
                      </a:r>
                    </a:p>
                  </a:txBody>
                  <a:tcPr marL="71449" marR="85738" marT="44655" marB="44655" anchor="ctr"/>
                </a:tc>
                <a:extLst>
                  <a:ext uri="{0D108BD9-81ED-4DB2-BD59-A6C34878D82A}">
                    <a16:rowId xmlns:a16="http://schemas.microsoft.com/office/drawing/2014/main" val="3610122766"/>
                  </a:ext>
                </a:extLst>
              </a:tr>
            </a:tbl>
          </a:graphicData>
        </a:graphic>
      </p:graphicFrame>
      <p:sp>
        <p:nvSpPr>
          <p:cNvPr id="127" name="文本框 126">
            <a:extLst>
              <a:ext uri="{FF2B5EF4-FFF2-40B4-BE49-F238E27FC236}">
                <a16:creationId xmlns:a16="http://schemas.microsoft.com/office/drawing/2014/main" id="{4B435362-7E3D-225C-9733-3261DDC5523B}"/>
              </a:ext>
            </a:extLst>
          </p:cNvPr>
          <p:cNvSpPr txBox="1"/>
          <p:nvPr/>
        </p:nvSpPr>
        <p:spPr>
          <a:xfrm>
            <a:off x="1133834" y="6188910"/>
            <a:ext cx="958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buNone/>
            </a:pPr>
            <a:r>
              <a:rPr lang="zh-CN" altLang="zh-CN" sz="18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无论异常多早（IF）或多晚（MEM）发现，流水线都把它“拖”到退休站再执行 CSR 写入</a:t>
            </a:r>
            <a:r>
              <a:rPr lang="zh-CN" altLang="zh-CN" sz="18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39313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771AF-C64D-8E52-0BC9-AE1C85DE9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B7EDEF29-D70B-DE59-E27C-F70F475A244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597104" y="6047735"/>
            <a:ext cx="997792" cy="73599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3895272-9F44-1BE6-43BE-A1480C839DD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grpSp>
        <p:nvGrpSpPr>
          <p:cNvPr id="127" name="组合 126"/>
          <p:cNvGrpSpPr/>
          <p:nvPr/>
        </p:nvGrpSpPr>
        <p:grpSpPr>
          <a:xfrm>
            <a:off x="502751" y="1042059"/>
            <a:ext cx="10668832" cy="5648396"/>
            <a:chOff x="532852" y="87902"/>
            <a:chExt cx="11202510" cy="6336606"/>
          </a:xfrm>
        </p:grpSpPr>
        <p:sp>
          <p:nvSpPr>
            <p:cNvPr id="3" name="矩形 2"/>
            <p:cNvSpPr/>
            <p:nvPr/>
          </p:nvSpPr>
          <p:spPr>
            <a:xfrm>
              <a:off x="997205" y="164880"/>
              <a:ext cx="1698207" cy="315472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91160"/>
              <a:endParaRPr lang="en-US" altLang="zh-CN" sz="51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335885" y="94102"/>
              <a:ext cx="8399477" cy="334826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259667" y="3910197"/>
              <a:ext cx="8399481" cy="2514311"/>
            </a:xfrm>
            <a:prstGeom prst="rect">
              <a:avLst/>
            </a:prstGeom>
            <a:solidFill>
              <a:srgbClr val="B9CAE1">
                <a:lumMod val="20000"/>
                <a:lumOff val="80000"/>
              </a:srgbClr>
            </a:solidFill>
            <a:ln w="38100" cap="flat" cmpd="sng" algn="ctr">
              <a:solidFill>
                <a:srgbClr val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532852" y="4158456"/>
              <a:ext cx="1511705" cy="2194560"/>
            </a:xfrm>
            <a:prstGeom prst="rect">
              <a:avLst/>
            </a:prstGeom>
            <a:solidFill>
              <a:srgbClr val="5C7885">
                <a:lumMod val="20000"/>
                <a:lumOff val="80000"/>
              </a:srgbClr>
            </a:solidFill>
            <a:ln w="38100" cap="flat" cmpd="sng" algn="ctr">
              <a:solidFill>
                <a:srgbClr val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234121" y="139982"/>
              <a:ext cx="1368042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b="1" dirty="0" err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Cpu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内核侧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094601" y="734764"/>
              <a:ext cx="1535971" cy="100747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取指单元</a:t>
              </a:r>
              <a:r>
                <a:rPr lang="en-US" altLang="zh-CN" sz="1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IFU</a:t>
              </a:r>
            </a:p>
            <a:p>
              <a:pPr algn="ctr"/>
              <a:r>
                <a:rPr lang="en-US" altLang="zh-CN" sz="1400" b="1" dirty="0" err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类SRAM接口</a:t>
              </a:r>
              <a:r>
                <a:rPr lang="en-US" altLang="zh-CN" sz="1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 req/</a:t>
              </a:r>
              <a:r>
                <a:rPr lang="en-US" altLang="zh-CN" sz="1400" b="1" dirty="0" err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addr_ok</a:t>
              </a:r>
              <a:r>
                <a:rPr lang="en-US" altLang="zh-CN" sz="1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zh-CN" sz="1400" b="1" dirty="0" err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data_ok</a:t>
              </a:r>
              <a:endParaRPr lang="en-US" altLang="zh-CN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094601" y="2024206"/>
              <a:ext cx="1535971" cy="107299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加载存储单元</a:t>
              </a:r>
              <a:r>
                <a:rPr lang="en-US" altLang="zh-CN" sz="1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LSU</a:t>
              </a:r>
            </a:p>
            <a:p>
              <a:pPr algn="ctr"/>
              <a:r>
                <a:rPr lang="en-US" altLang="zh-CN" sz="1400" b="1" dirty="0" err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类SRAM接口</a:t>
              </a:r>
              <a:r>
                <a:rPr lang="en-US" altLang="zh-CN" sz="1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 req/</a:t>
              </a:r>
              <a:r>
                <a:rPr lang="en-US" altLang="zh-CN" sz="1400" b="1" dirty="0" err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wr</a:t>
              </a:r>
              <a:r>
                <a:rPr lang="en-US" altLang="zh-CN" sz="1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zh-CN" sz="1400" b="1" dirty="0" err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wstrb</a:t>
              </a:r>
              <a:r>
                <a:rPr lang="en-US" altLang="zh-CN" sz="1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zh-CN" sz="1400" b="1" dirty="0" err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data_ok</a:t>
              </a:r>
              <a:endParaRPr lang="en-US" altLang="zh-CN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 flipV="1">
              <a:off x="2792807" y="2560702"/>
              <a:ext cx="766445" cy="508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 flipV="1">
              <a:off x="2792806" y="1233423"/>
              <a:ext cx="766445" cy="508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4459394" y="433492"/>
              <a:ext cx="7029450" cy="1290609"/>
            </a:xfrm>
            <a:prstGeom prst="rect">
              <a:avLst/>
            </a:prstGeom>
            <a:solidFill>
              <a:srgbClr val="E7E6E6"/>
            </a:solidFill>
            <a:ln w="19050" cap="flat" cmpd="sng" algn="ctr">
              <a:solidFill>
                <a:srgbClr val="94ACBC">
                  <a:lumMod val="75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algn="ctr" defTabSz="391160"/>
              <a:endParaRPr lang="en-US" altLang="zh-CN" sz="800" dirty="0">
                <a:solidFill>
                  <a:srgbClr val="F2F2F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4505961" y="1835069"/>
              <a:ext cx="6982883" cy="1353129"/>
            </a:xfrm>
            <a:prstGeom prst="rect">
              <a:avLst/>
            </a:prstGeom>
            <a:solidFill>
              <a:srgbClr val="E7E6E6"/>
            </a:solidFill>
            <a:ln w="19050" cap="flat" cmpd="sng" algn="ctr">
              <a:solidFill>
                <a:srgbClr val="94ACBC">
                  <a:lumMod val="75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u="none" strike="noStrike" kern="0" cap="none" spc="0" normalizeH="0" baseline="0" noProof="0">
                <a:ln>
                  <a:noFill/>
                </a:ln>
                <a:solidFill>
                  <a:srgbClr val="DAE3F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846814" y="87902"/>
              <a:ext cx="540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91160"/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L1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缓存层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229413" y="4040433"/>
              <a:ext cx="37057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L2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缓存层 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128KB 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四路组相联 </a:t>
              </a:r>
            </a:p>
          </p:txBody>
        </p:sp>
        <p:cxnSp>
          <p:nvCxnSpPr>
            <p:cNvPr id="24" name="直接箭头连接符 23"/>
            <p:cNvCxnSpPr/>
            <p:nvPr/>
          </p:nvCxnSpPr>
          <p:spPr>
            <a:xfrm flipH="1">
              <a:off x="2124870" y="5681186"/>
              <a:ext cx="974170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785881" y="4258854"/>
              <a:ext cx="1368042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AXI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总线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676516" y="4727552"/>
              <a:ext cx="1222133" cy="1381148"/>
            </a:xfrm>
            <a:prstGeom prst="rect">
              <a:avLst/>
            </a:prstGeom>
            <a:solidFill>
              <a:srgbClr val="5C788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91160"/>
              <a:r>
                <a:rPr lang="en-US" altLang="zh-CN" sz="1400" b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主存控制器</a:t>
              </a:r>
              <a:endParaRPr lang="en-US" altLang="zh-CN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391160"/>
              <a:r>
                <a:rPr lang="en-US" altLang="zh-CN" sz="1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 beat </a:t>
              </a:r>
              <a:r>
                <a:rPr lang="en-US" altLang="zh-CN" sz="1400" b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WRAP突发传输</a:t>
              </a:r>
              <a:endParaRPr lang="en-US" altLang="zh-CN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9094314" y="1240347"/>
              <a:ext cx="2234488" cy="442201"/>
            </a:xfrm>
            <a:prstGeom prst="rect">
              <a:avLst/>
            </a:prstGeom>
            <a:solidFill>
              <a:srgbClr val="7671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4项有序响应队列</a:t>
              </a:r>
            </a:p>
            <a:p>
              <a:pPr algn="ctr"/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保证按请求顺序返回</a:t>
              </a:r>
              <a:endParaRPr lang="en-US" altLang="zh-CN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9621771" y="2098018"/>
              <a:ext cx="1453651" cy="848283"/>
            </a:xfrm>
            <a:prstGeom prst="rect">
              <a:avLst/>
            </a:prstGeom>
            <a:solidFill>
              <a:srgbClr val="7671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次级MSHR</a:t>
              </a:r>
              <a:r>
                <a:rPr lang="en-US" altLang="zh-CN" sz="1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后台Lookup</a:t>
              </a:r>
              <a:endParaRPr lang="en-US" altLang="zh-CN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778998" y="671038"/>
              <a:ext cx="1567122" cy="888045"/>
            </a:xfrm>
            <a:prstGeom prst="rect">
              <a:avLst/>
            </a:prstGeom>
            <a:solidFill>
              <a:srgbClr val="7671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同步BRAM存储阵列</a:t>
              </a:r>
              <a:endParaRPr lang="en-US" altLang="zh-CN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tag + data +dirty metadata</a:t>
              </a:r>
            </a:p>
          </p:txBody>
        </p:sp>
        <p:sp>
          <p:nvSpPr>
            <p:cNvPr id="43" name="矩形 42"/>
            <p:cNvSpPr/>
            <p:nvPr/>
          </p:nvSpPr>
          <p:spPr>
            <a:xfrm>
              <a:off x="5835821" y="1953312"/>
              <a:ext cx="1361251" cy="1141179"/>
            </a:xfrm>
            <a:prstGeom prst="rect">
              <a:avLst/>
            </a:prstGeom>
            <a:solidFill>
              <a:srgbClr val="7671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同步BRAM存储阵列</a:t>
              </a:r>
              <a:endParaRPr lang="en-US" altLang="zh-CN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tag + data + metadata</a:t>
              </a:r>
            </a:p>
          </p:txBody>
        </p:sp>
        <p:sp>
          <p:nvSpPr>
            <p:cNvPr id="44" name="矩形 43"/>
            <p:cNvSpPr/>
            <p:nvPr/>
          </p:nvSpPr>
          <p:spPr>
            <a:xfrm>
              <a:off x="4666299" y="2072392"/>
              <a:ext cx="799358" cy="937178"/>
            </a:xfrm>
            <a:prstGeom prst="rect">
              <a:avLst/>
            </a:prstGeom>
            <a:solidFill>
              <a:srgbClr val="7671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上游请求接收</a:t>
              </a:r>
              <a:r>
                <a:rPr lang="en-US" altLang="zh-CN" sz="1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zh-CN" altLang="en-US" sz="1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热行命中</a:t>
              </a:r>
              <a:endParaRPr lang="en-US" altLang="zh-CN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>
            <a:xfrm>
              <a:off x="5465657" y="1117753"/>
              <a:ext cx="313342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>
              <a:off x="5465657" y="2686353"/>
              <a:ext cx="344144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flipV="1">
              <a:off x="7361993" y="734764"/>
              <a:ext cx="520700" cy="332806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cxnSpLocks/>
            </p:cNvCxnSpPr>
            <p:nvPr/>
          </p:nvCxnSpPr>
          <p:spPr>
            <a:xfrm>
              <a:off x="7361993" y="1436933"/>
              <a:ext cx="1732320" cy="117505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5" name="矩形 54"/>
            <p:cNvSpPr/>
            <p:nvPr/>
          </p:nvSpPr>
          <p:spPr>
            <a:xfrm>
              <a:off x="4666299" y="633370"/>
              <a:ext cx="799358" cy="937178"/>
            </a:xfrm>
            <a:prstGeom prst="rect">
              <a:avLst/>
            </a:prstGeom>
            <a:solidFill>
              <a:srgbClr val="7671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上游请求接收</a:t>
              </a:r>
              <a:r>
                <a:rPr lang="en-US" altLang="zh-CN" sz="1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预检查</a:t>
              </a:r>
              <a:endParaRPr lang="en-US" altLang="zh-CN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7858235" y="566642"/>
              <a:ext cx="2220738" cy="413268"/>
            </a:xfrm>
            <a:prstGeom prst="rect">
              <a:avLst/>
            </a:prstGeom>
            <a:solidFill>
              <a:srgbClr val="7671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双MSHR非阻塞</a:t>
              </a:r>
              <a:r>
                <a:rPr lang="en-US" altLang="zh-CN" sz="1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下一行预取</a:t>
              </a:r>
              <a:endParaRPr lang="en-US" altLang="zh-CN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直接箭头连接符 34"/>
            <p:cNvCxnSpPr/>
            <p:nvPr/>
          </p:nvCxnSpPr>
          <p:spPr>
            <a:xfrm>
              <a:off x="2124870" y="5184045"/>
              <a:ext cx="974170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>
            <a:xfrm>
              <a:off x="10117848" y="926602"/>
              <a:ext cx="436075" cy="200165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9" name="矩形 68"/>
            <p:cNvSpPr/>
            <p:nvPr/>
          </p:nvSpPr>
          <p:spPr>
            <a:xfrm>
              <a:off x="7823879" y="2204434"/>
              <a:ext cx="1223454" cy="673093"/>
            </a:xfrm>
            <a:prstGeom prst="rect">
              <a:avLst/>
            </a:prstGeom>
            <a:solidFill>
              <a:srgbClr val="7671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主状态机</a:t>
              </a:r>
              <a:r>
                <a:rPr lang="en-US" altLang="zh-CN" sz="1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写回</a:t>
              </a:r>
              <a:r>
                <a:rPr lang="en-US" altLang="zh-CN" sz="1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zh-CN" sz="1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Refill缓冲</a:t>
              </a:r>
              <a:endParaRPr lang="en-US" altLang="zh-CN" sz="1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0" name="直接箭头连接符 69"/>
            <p:cNvCxnSpPr/>
            <p:nvPr/>
          </p:nvCxnSpPr>
          <p:spPr>
            <a:xfrm>
              <a:off x="7223476" y="2661369"/>
              <a:ext cx="503010" cy="777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/>
            <p:nvPr/>
          </p:nvCxnSpPr>
          <p:spPr>
            <a:xfrm>
              <a:off x="9073737" y="2661369"/>
              <a:ext cx="465657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8" name="直接箭头连接符 87"/>
            <p:cNvCxnSpPr/>
            <p:nvPr/>
          </p:nvCxnSpPr>
          <p:spPr>
            <a:xfrm flipV="1">
              <a:off x="6952921" y="3319606"/>
              <a:ext cx="0" cy="720827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2" name="直接箭头连接符 91"/>
            <p:cNvCxnSpPr/>
            <p:nvPr/>
          </p:nvCxnSpPr>
          <p:spPr>
            <a:xfrm>
              <a:off x="7570312" y="3319606"/>
              <a:ext cx="0" cy="720827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8" name="矩形 37"/>
            <p:cNvSpPr/>
            <p:nvPr/>
          </p:nvSpPr>
          <p:spPr>
            <a:xfrm>
              <a:off x="10246854" y="4540001"/>
              <a:ext cx="1147369" cy="1659075"/>
            </a:xfrm>
            <a:prstGeom prst="rect">
              <a:avLst/>
            </a:prstGeom>
            <a:solidFill>
              <a:srgbClr val="F6F8F9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91160"/>
              <a:r>
                <a:rPr lang="en-US" altLang="zh-CN" sz="16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输入Skid缓冲</a:t>
              </a:r>
              <a:endPara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391160"/>
              <a:r>
                <a:rPr lang="en-US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I/D各1项，解耦握手</a:t>
              </a:r>
            </a:p>
          </p:txBody>
        </p:sp>
        <p:sp>
          <p:nvSpPr>
            <p:cNvPr id="100" name="矩形 99"/>
            <p:cNvSpPr/>
            <p:nvPr/>
          </p:nvSpPr>
          <p:spPr>
            <a:xfrm>
              <a:off x="8599079" y="4540001"/>
              <a:ext cx="1147369" cy="1659075"/>
            </a:xfrm>
            <a:prstGeom prst="rect">
              <a:avLst/>
            </a:prstGeom>
            <a:solidFill>
              <a:srgbClr val="F6F8F9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91160"/>
              <a:r>
                <a:rPr lang="en-US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I/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D读写仲裁器</a:t>
              </a:r>
              <a:endPara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391160"/>
              <a:r>
                <a:rPr lang="en-US" altLang="zh-CN" sz="16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写优先</a:t>
              </a:r>
              <a:r>
                <a:rPr lang="en-US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轮询调度</a:t>
              </a:r>
              <a:endPara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6844155" y="4540001"/>
              <a:ext cx="1147369" cy="1659075"/>
            </a:xfrm>
            <a:prstGeom prst="rect">
              <a:avLst/>
            </a:prstGeom>
            <a:solidFill>
              <a:srgbClr val="F6F8F9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91160"/>
              <a:r>
                <a:rPr lang="en-US" altLang="zh-CN" sz="16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四路同步存储阵列</a:t>
              </a:r>
              <a:endPara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391160"/>
              <a:r>
                <a:rPr lang="en-US" altLang="zh-CN" sz="16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PLRU替换算法</a:t>
              </a:r>
              <a:endPara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5092393" y="4540001"/>
              <a:ext cx="1147369" cy="1659075"/>
            </a:xfrm>
            <a:prstGeom prst="rect">
              <a:avLst/>
            </a:prstGeom>
            <a:solidFill>
              <a:srgbClr val="F6F8F9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91160"/>
              <a:r>
                <a:rPr lang="en-US" altLang="zh-CN" sz="16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双读MSHR</a:t>
              </a:r>
              <a:r>
                <a:rPr lang="en-US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独立写上下文</a:t>
              </a:r>
              <a:endPara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3508184" y="4540001"/>
              <a:ext cx="1147369" cy="1659075"/>
            </a:xfrm>
            <a:prstGeom prst="rect">
              <a:avLst/>
            </a:prstGeom>
            <a:solidFill>
              <a:srgbClr val="F6F8F9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91160"/>
              <a:r>
                <a:rPr lang="en-US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4项响应表</a:t>
              </a:r>
            </a:p>
            <a:p>
              <a:pPr algn="ctr" defTabSz="391160"/>
              <a:r>
                <a:rPr lang="en-US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I/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D独立调度输出</a:t>
              </a:r>
              <a:endPara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3552503" y="1028663"/>
              <a:ext cx="931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b="1" dirty="0" err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ICache</a:t>
              </a:r>
              <a:endPara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3533746" y="2337493"/>
              <a:ext cx="1116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b="1" dirty="0" err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DCache</a:t>
              </a:r>
              <a:endPara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6" name="直接箭头连接符 115"/>
            <p:cNvCxnSpPr/>
            <p:nvPr/>
          </p:nvCxnSpPr>
          <p:spPr>
            <a:xfrm flipH="1">
              <a:off x="9795923" y="5333073"/>
              <a:ext cx="418142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8" name="直接箭头连接符 117"/>
            <p:cNvCxnSpPr/>
            <p:nvPr/>
          </p:nvCxnSpPr>
          <p:spPr>
            <a:xfrm flipH="1">
              <a:off x="8071396" y="5312895"/>
              <a:ext cx="418142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/>
            <p:nvPr/>
          </p:nvCxnSpPr>
          <p:spPr>
            <a:xfrm flipH="1">
              <a:off x="6309973" y="5311968"/>
              <a:ext cx="418142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0" name="直接箭头连接符 119"/>
            <p:cNvCxnSpPr/>
            <p:nvPr/>
          </p:nvCxnSpPr>
          <p:spPr>
            <a:xfrm flipH="1">
              <a:off x="4637743" y="5332146"/>
              <a:ext cx="418142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47" name="Group 2">
            <a:extLst>
              <a:ext uri="{FF2B5EF4-FFF2-40B4-BE49-F238E27FC236}">
                <a16:creationId xmlns:a16="http://schemas.microsoft.com/office/drawing/2014/main" id="{7568BB84-6E02-2708-EA53-BB52F4063778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54" name="Freeform 3">
              <a:extLst>
                <a:ext uri="{FF2B5EF4-FFF2-40B4-BE49-F238E27FC236}">
                  <a16:creationId xmlns:a16="http://schemas.microsoft.com/office/drawing/2014/main" id="{DC984305-03F7-2FA5-275B-881E45126FEC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57" name="TextBox 4">
              <a:extLst>
                <a:ext uri="{FF2B5EF4-FFF2-40B4-BE49-F238E27FC236}">
                  <a16:creationId xmlns:a16="http://schemas.microsoft.com/office/drawing/2014/main" id="{04A9D05D-4098-B53E-68BD-768DF58EFBBD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59" name="TextBox 19">
            <a:extLst>
              <a:ext uri="{FF2B5EF4-FFF2-40B4-BE49-F238E27FC236}">
                <a16:creationId xmlns:a16="http://schemas.microsoft.com/office/drawing/2014/main" id="{04D9DC16-F551-D292-E449-BBA4E0613149}"/>
              </a:ext>
            </a:extLst>
          </p:cNvPr>
          <p:cNvSpPr txBox="1"/>
          <p:nvPr/>
        </p:nvSpPr>
        <p:spPr>
          <a:xfrm>
            <a:off x="1010652" y="251246"/>
            <a:ext cx="2071888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en-US" altLang="zh-CN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en-US" sz="24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梯形 59">
            <a:extLst>
              <a:ext uri="{FF2B5EF4-FFF2-40B4-BE49-F238E27FC236}">
                <a16:creationId xmlns:a16="http://schemas.microsoft.com/office/drawing/2014/main" id="{2390ECFD-4342-3822-AF0B-4E509BBE61F1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61" name="梯形 60">
            <a:extLst>
              <a:ext uri="{FF2B5EF4-FFF2-40B4-BE49-F238E27FC236}">
                <a16:creationId xmlns:a16="http://schemas.microsoft.com/office/drawing/2014/main" id="{24B27C2E-260F-02F2-8BEA-754E8A343899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606976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CBF17F4-D0A8-982A-D21C-1FB61097EA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BFF2013-C312-9931-5159-5A89A4C872C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4329515"/>
              </p:ext>
            </p:extLst>
          </p:nvPr>
        </p:nvGraphicFramePr>
        <p:xfrm>
          <a:off x="298364" y="1049919"/>
          <a:ext cx="10400116" cy="22707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52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6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9918">
                  <a:extLst>
                    <a:ext uri="{9D8B030D-6E8A-4147-A177-3AD203B41FA5}">
                      <a16:colId xmlns:a16="http://schemas.microsoft.com/office/drawing/2014/main" val="832961772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组织形式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INDEX_BITS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L1ICahce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路组相联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只读、读分配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L1DCache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路组相联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写回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+ 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写分配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L2Cache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路组相联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Clean 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只读、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 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写绕行失效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E81BD3A-1CC3-93CB-99B3-42FC9C24757D}"/>
              </a:ext>
            </a:extLst>
          </p:cNvPr>
          <p:cNvSpPr txBox="1"/>
          <p:nvPr/>
        </p:nvSpPr>
        <p:spPr>
          <a:xfrm>
            <a:off x="298364" y="3344186"/>
            <a:ext cx="10400116" cy="34163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设计要点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非阻塞并发访存：两级缓存均配置多组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MSHR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缺失状态寄存器，主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miss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期间可继续服务命中请求、同缓存行合并请求，以及不同组的第二路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miss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关键字优先返回：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miss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首拍数据直达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，无需等待整行填满，降低缺失惩罚。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访存延迟优化：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DCache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项热行寄存器栈：缓存最近访问行，命中时单拍返回，规避同步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BRAM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一拍延迟。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ICache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下一行流缓冲预取：独立预取上下文，顺序代码流提前填充，不占用需求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MSHR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同请求行合并：多消费者共享一次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refill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填充，降低下级访存带宽压力。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0CC2D2BE-78B9-57B4-59CB-612455505603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79C85D1C-1D0A-A781-F144-D481AC50D771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686439C7-BF1A-07D5-7C42-75F57975F01A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10" name="TextBox 19">
            <a:extLst>
              <a:ext uri="{FF2B5EF4-FFF2-40B4-BE49-F238E27FC236}">
                <a16:creationId xmlns:a16="http://schemas.microsoft.com/office/drawing/2014/main" id="{73E77217-1B53-72FB-28CE-F4779499F197}"/>
              </a:ext>
            </a:extLst>
          </p:cNvPr>
          <p:cNvSpPr txBox="1"/>
          <p:nvPr/>
        </p:nvSpPr>
        <p:spPr>
          <a:xfrm>
            <a:off x="1004136" y="237069"/>
            <a:ext cx="2071888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en-US" altLang="zh-CN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en-US" sz="24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梯形 10">
            <a:extLst>
              <a:ext uri="{FF2B5EF4-FFF2-40B4-BE49-F238E27FC236}">
                <a16:creationId xmlns:a16="http://schemas.microsoft.com/office/drawing/2014/main" id="{12F88548-57DA-3CDC-1649-7C6DD1696341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12" name="梯形 11">
            <a:extLst>
              <a:ext uri="{FF2B5EF4-FFF2-40B4-BE49-F238E27FC236}">
                <a16:creationId xmlns:a16="http://schemas.microsoft.com/office/drawing/2014/main" id="{1A93CEEF-5860-4E1F-AE66-1A1AE2541B73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772368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00E4E-BFF9-A0EA-EA16-C45C4C954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A98595AD-DEA7-D15D-CBFE-357373C9806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/>
          <a:srcRect/>
          <a:stretch>
            <a:fillRect/>
          </a:stretch>
        </p:blipFill>
        <p:spPr>
          <a:xfrm>
            <a:off x="5597104" y="6047735"/>
            <a:ext cx="997792" cy="73599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40DB110-789E-D0C8-E549-1460B2C97D8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D6983FB-1A10-5E34-A5D4-CC48090C2990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D9CA041-1DB1-40B4-B49C-B340C2CB85BE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BE2E1C-4AEE-AC96-4C27-816092B50437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6" name="TextBox 19">
            <a:extLst>
              <a:ext uri="{FF2B5EF4-FFF2-40B4-BE49-F238E27FC236}">
                <a16:creationId xmlns:a16="http://schemas.microsoft.com/office/drawing/2014/main" id="{89D7DBCD-45C1-D7CA-F95D-0F490A1195AF}"/>
              </a:ext>
            </a:extLst>
          </p:cNvPr>
          <p:cNvSpPr txBox="1"/>
          <p:nvPr/>
        </p:nvSpPr>
        <p:spPr>
          <a:xfrm>
            <a:off x="1184703" y="226295"/>
            <a:ext cx="2071888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zh-CN" altLang="en-US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性能表现</a:t>
            </a:r>
            <a:endParaRPr lang="en-US" sz="24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D01A1487-FA6C-B0E1-485B-142D4EB8E58D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8" name="梯形 7">
            <a:extLst>
              <a:ext uri="{FF2B5EF4-FFF2-40B4-BE49-F238E27FC236}">
                <a16:creationId xmlns:a16="http://schemas.microsoft.com/office/drawing/2014/main" id="{EF1AF29D-03A5-7B0A-7292-8DB083B7A708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  <p:grpSp>
        <p:nvGrpSpPr>
          <p:cNvPr id="12" name="图形 9">
            <a:extLst>
              <a:ext uri="{FF2B5EF4-FFF2-40B4-BE49-F238E27FC236}">
                <a16:creationId xmlns:a16="http://schemas.microsoft.com/office/drawing/2014/main" id="{FB59E11E-A6A0-8287-C71F-D5472370F305}"/>
              </a:ext>
            </a:extLst>
          </p:cNvPr>
          <p:cNvGrpSpPr/>
          <p:nvPr/>
        </p:nvGrpSpPr>
        <p:grpSpPr>
          <a:xfrm>
            <a:off x="4951550" y="1300325"/>
            <a:ext cx="6509688" cy="5038000"/>
            <a:chOff x="3043237" y="1323974"/>
            <a:chExt cx="6096000" cy="41910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4A12218-DD83-2CD2-A708-D9DBCD294D61}"/>
                </a:ext>
              </a:extLst>
            </p:cNvPr>
            <p:cNvSpPr/>
            <p:nvPr/>
          </p:nvSpPr>
          <p:spPr>
            <a:xfrm>
              <a:off x="3043237" y="1323974"/>
              <a:ext cx="6096000" cy="381000"/>
            </a:xfrm>
            <a:prstGeom prst="rect">
              <a:avLst/>
            </a:prstGeom>
            <a:solidFill>
              <a:srgbClr val="E2E9EE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A97997-94BC-62D6-5AC5-D444858DD3A1}"/>
                </a:ext>
              </a:extLst>
            </p:cNvPr>
            <p:cNvSpPr/>
            <p:nvPr/>
          </p:nvSpPr>
          <p:spPr>
            <a:xfrm>
              <a:off x="3043237" y="1704974"/>
              <a:ext cx="6096000" cy="3810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19F6AFD-A625-575D-000B-5763C12250DF}"/>
                </a:ext>
              </a:extLst>
            </p:cNvPr>
            <p:cNvSpPr/>
            <p:nvPr/>
          </p:nvSpPr>
          <p:spPr>
            <a:xfrm>
              <a:off x="3043237" y="2085974"/>
              <a:ext cx="6096000" cy="381000"/>
            </a:xfrm>
            <a:prstGeom prst="rect">
              <a:avLst/>
            </a:prstGeom>
            <a:solidFill>
              <a:srgbClr val="E2E9EE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9E5724D-EB03-A001-524B-769CA2CAEAF3}"/>
                </a:ext>
              </a:extLst>
            </p:cNvPr>
            <p:cNvSpPr/>
            <p:nvPr/>
          </p:nvSpPr>
          <p:spPr>
            <a:xfrm>
              <a:off x="3043237" y="2466974"/>
              <a:ext cx="6096000" cy="3810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07FA5D4-F609-1EBA-DF0C-74E6C5C768E8}"/>
                </a:ext>
              </a:extLst>
            </p:cNvPr>
            <p:cNvSpPr/>
            <p:nvPr/>
          </p:nvSpPr>
          <p:spPr>
            <a:xfrm>
              <a:off x="3043237" y="2847974"/>
              <a:ext cx="6096000" cy="381000"/>
            </a:xfrm>
            <a:prstGeom prst="rect">
              <a:avLst/>
            </a:prstGeom>
            <a:solidFill>
              <a:srgbClr val="E2E9EE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FC07CEB-0626-4C2F-C8AC-7A2AF4E5E2F0}"/>
                </a:ext>
              </a:extLst>
            </p:cNvPr>
            <p:cNvSpPr/>
            <p:nvPr/>
          </p:nvSpPr>
          <p:spPr>
            <a:xfrm>
              <a:off x="3043237" y="3228974"/>
              <a:ext cx="6096000" cy="3810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E4EB4E7-5839-F431-81E8-30B2AF6518BF}"/>
                </a:ext>
              </a:extLst>
            </p:cNvPr>
            <p:cNvSpPr/>
            <p:nvPr/>
          </p:nvSpPr>
          <p:spPr>
            <a:xfrm>
              <a:off x="3043237" y="3609974"/>
              <a:ext cx="6096000" cy="381000"/>
            </a:xfrm>
            <a:prstGeom prst="rect">
              <a:avLst/>
            </a:prstGeom>
            <a:solidFill>
              <a:srgbClr val="E2E9EE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93854EE-A53E-D69D-13C0-94BEAD1B4956}"/>
                </a:ext>
              </a:extLst>
            </p:cNvPr>
            <p:cNvSpPr/>
            <p:nvPr/>
          </p:nvSpPr>
          <p:spPr>
            <a:xfrm>
              <a:off x="3043237" y="3990974"/>
              <a:ext cx="6096000" cy="3810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BEA8301-7998-59B5-3574-F5136482BDD6}"/>
                </a:ext>
              </a:extLst>
            </p:cNvPr>
            <p:cNvSpPr/>
            <p:nvPr/>
          </p:nvSpPr>
          <p:spPr>
            <a:xfrm>
              <a:off x="3043237" y="4371974"/>
              <a:ext cx="6096000" cy="381000"/>
            </a:xfrm>
            <a:prstGeom prst="rect">
              <a:avLst/>
            </a:prstGeom>
            <a:solidFill>
              <a:srgbClr val="E2E9EE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DF943EE-E3CA-D742-5DB4-F2B540D2F851}"/>
                </a:ext>
              </a:extLst>
            </p:cNvPr>
            <p:cNvSpPr/>
            <p:nvPr/>
          </p:nvSpPr>
          <p:spPr>
            <a:xfrm>
              <a:off x="3043237" y="4752974"/>
              <a:ext cx="6096000" cy="3810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19E8BC2E-FCC2-2ED5-B319-FCA0D57D2DEF}"/>
                </a:ext>
              </a:extLst>
            </p:cNvPr>
            <p:cNvSpPr/>
            <p:nvPr/>
          </p:nvSpPr>
          <p:spPr>
            <a:xfrm>
              <a:off x="4567237" y="1323974"/>
              <a:ext cx="9525" cy="3810000"/>
            </a:xfrm>
            <a:custGeom>
              <a:avLst/>
              <a:gdLst>
                <a:gd name="csX0" fmla="*/ 1 w 9525"/>
                <a:gd name="csY0" fmla="*/ 1 h 3810000"/>
                <a:gd name="csX1" fmla="*/ 1 w 9525"/>
                <a:gd name="csY1" fmla="*/ 3810001 h 38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3810000">
                  <a:moveTo>
                    <a:pt x="1" y="1"/>
                  </a:moveTo>
                  <a:lnTo>
                    <a:pt x="1" y="381000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050174D3-FC17-3092-C810-0C8B36ACBC01}"/>
                </a:ext>
              </a:extLst>
            </p:cNvPr>
            <p:cNvSpPr/>
            <p:nvPr/>
          </p:nvSpPr>
          <p:spPr>
            <a:xfrm>
              <a:off x="6091237" y="1323974"/>
              <a:ext cx="9525" cy="3810000"/>
            </a:xfrm>
            <a:custGeom>
              <a:avLst/>
              <a:gdLst>
                <a:gd name="csX0" fmla="*/ 1 w 9525"/>
                <a:gd name="csY0" fmla="*/ 1 h 3810000"/>
                <a:gd name="csX1" fmla="*/ 1 w 9525"/>
                <a:gd name="csY1" fmla="*/ 3810001 h 38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3810000">
                  <a:moveTo>
                    <a:pt x="1" y="1"/>
                  </a:moveTo>
                  <a:lnTo>
                    <a:pt x="1" y="381000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C8ACA5B4-D829-3960-615E-C10519490A82}"/>
                </a:ext>
              </a:extLst>
            </p:cNvPr>
            <p:cNvSpPr/>
            <p:nvPr/>
          </p:nvSpPr>
          <p:spPr>
            <a:xfrm>
              <a:off x="7615237" y="1323974"/>
              <a:ext cx="9525" cy="3810000"/>
            </a:xfrm>
            <a:custGeom>
              <a:avLst/>
              <a:gdLst>
                <a:gd name="csX0" fmla="*/ 1 w 9525"/>
                <a:gd name="csY0" fmla="*/ 3810001 h 3810000"/>
                <a:gd name="csX1" fmla="*/ 1 w 9525"/>
                <a:gd name="csY1" fmla="*/ 1 h 38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3810000">
                  <a:moveTo>
                    <a:pt x="1" y="3810001"/>
                  </a:moveTo>
                  <a:lnTo>
                    <a:pt x="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35" name="图形 9">
              <a:extLst>
                <a:ext uri="{FF2B5EF4-FFF2-40B4-BE49-F238E27FC236}">
                  <a16:creationId xmlns:a16="http://schemas.microsoft.com/office/drawing/2014/main" id="{582BB7A1-CBC9-C07D-F99E-F02ED71C957F}"/>
                </a:ext>
              </a:extLst>
            </p:cNvPr>
            <p:cNvGrpSpPr/>
            <p:nvPr/>
          </p:nvGrpSpPr>
          <p:grpSpPr>
            <a:xfrm>
              <a:off x="3480435" y="1366837"/>
              <a:ext cx="728394" cy="291312"/>
              <a:chOff x="3480435" y="1366837"/>
              <a:chExt cx="728394" cy="291312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E6E6623-01B1-02A5-A8D7-68DFE18CDE64}"/>
                  </a:ext>
                </a:extLst>
              </p:cNvPr>
              <p:cNvSpPr/>
              <p:nvPr/>
            </p:nvSpPr>
            <p:spPr>
              <a:xfrm>
                <a:off x="3514725" y="1366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E912A2A-9A9E-14EF-95F4-E317F892190D}"/>
                  </a:ext>
                </a:extLst>
              </p:cNvPr>
              <p:cNvSpPr txBox="1"/>
              <p:nvPr/>
            </p:nvSpPr>
            <p:spPr>
              <a:xfrm>
                <a:off x="3480435" y="1381150"/>
                <a:ext cx="7283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测试程序</a:t>
                </a:r>
              </a:p>
            </p:txBody>
          </p:sp>
        </p:grpSp>
        <p:grpSp>
          <p:nvGrpSpPr>
            <p:cNvPr id="40" name="图形 9">
              <a:extLst>
                <a:ext uri="{FF2B5EF4-FFF2-40B4-BE49-F238E27FC236}">
                  <a16:creationId xmlns:a16="http://schemas.microsoft.com/office/drawing/2014/main" id="{49D7FE82-5CBE-42D6-911C-FFB534F1D086}"/>
                </a:ext>
              </a:extLst>
            </p:cNvPr>
            <p:cNvGrpSpPr/>
            <p:nvPr/>
          </p:nvGrpSpPr>
          <p:grpSpPr>
            <a:xfrm>
              <a:off x="6528435" y="1366837"/>
              <a:ext cx="728394" cy="291312"/>
              <a:chOff x="6528435" y="1366837"/>
              <a:chExt cx="728394" cy="291312"/>
            </a:xfrm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1B912FF3-3838-0702-5437-E886406BE154}"/>
                  </a:ext>
                </a:extLst>
              </p:cNvPr>
              <p:cNvSpPr/>
              <p:nvPr/>
            </p:nvSpPr>
            <p:spPr>
              <a:xfrm>
                <a:off x="6562725" y="1366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BFDE1FD-213E-8DDF-BF17-F70841324F50}"/>
                  </a:ext>
                </a:extLst>
              </p:cNvPr>
              <p:cNvSpPr txBox="1"/>
              <p:nvPr/>
            </p:nvSpPr>
            <p:spPr>
              <a:xfrm>
                <a:off x="6528435" y="1381150"/>
                <a:ext cx="7283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测试程序</a:t>
                </a:r>
              </a:p>
            </p:txBody>
          </p:sp>
        </p:grpSp>
        <p:grpSp>
          <p:nvGrpSpPr>
            <p:cNvPr id="43" name="图形 9">
              <a:extLst>
                <a:ext uri="{FF2B5EF4-FFF2-40B4-BE49-F238E27FC236}">
                  <a16:creationId xmlns:a16="http://schemas.microsoft.com/office/drawing/2014/main" id="{0BB47882-3040-30BA-F76C-6EFD0EE0A680}"/>
                </a:ext>
              </a:extLst>
            </p:cNvPr>
            <p:cNvGrpSpPr/>
            <p:nvPr/>
          </p:nvGrpSpPr>
          <p:grpSpPr>
            <a:xfrm>
              <a:off x="5023466" y="1366837"/>
              <a:ext cx="681702" cy="291312"/>
              <a:chOff x="5023466" y="1366837"/>
              <a:chExt cx="681702" cy="291312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EB700C75-7C6C-3F1B-4B84-A5553FE8F65E}"/>
                  </a:ext>
                </a:extLst>
              </p:cNvPr>
              <p:cNvSpPr/>
              <p:nvPr/>
            </p:nvSpPr>
            <p:spPr>
              <a:xfrm>
                <a:off x="5038725" y="1366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BC028EF-1C69-274E-19C1-AA55B905CC62}"/>
                  </a:ext>
                </a:extLst>
              </p:cNvPr>
              <p:cNvSpPr txBox="1"/>
              <p:nvPr/>
            </p:nvSpPr>
            <p:spPr>
              <a:xfrm>
                <a:off x="5023466" y="1381150"/>
                <a:ext cx="6817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IPC</a:t>
                </a:r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微软雅黑"/>
                    <a:ea typeface="微软雅黑"/>
                    <a:cs typeface="Helvetica"/>
                    <a:sym typeface="微软雅黑"/>
                    <a:rtl val="0"/>
                  </a:rPr>
                  <a:t>之比</a:t>
                </a:r>
              </a:p>
            </p:txBody>
          </p:sp>
        </p:grpSp>
        <p:grpSp>
          <p:nvGrpSpPr>
            <p:cNvPr id="46" name="图形 9">
              <a:extLst>
                <a:ext uri="{FF2B5EF4-FFF2-40B4-BE49-F238E27FC236}">
                  <a16:creationId xmlns:a16="http://schemas.microsoft.com/office/drawing/2014/main" id="{9EC8F758-030F-C48C-FC70-9E22AF5BBD62}"/>
                </a:ext>
              </a:extLst>
            </p:cNvPr>
            <p:cNvGrpSpPr/>
            <p:nvPr/>
          </p:nvGrpSpPr>
          <p:grpSpPr>
            <a:xfrm>
              <a:off x="8071466" y="1366837"/>
              <a:ext cx="681702" cy="291312"/>
              <a:chOff x="8071466" y="1366837"/>
              <a:chExt cx="681702" cy="291312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A8C89731-9539-8A65-FEDF-76C2BC738A44}"/>
                  </a:ext>
                </a:extLst>
              </p:cNvPr>
              <p:cNvSpPr/>
              <p:nvPr/>
            </p:nvSpPr>
            <p:spPr>
              <a:xfrm>
                <a:off x="8086725" y="1366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EDFCAC7-F11F-CA92-3A31-0D516483792F}"/>
                  </a:ext>
                </a:extLst>
              </p:cNvPr>
              <p:cNvSpPr txBox="1"/>
              <p:nvPr/>
            </p:nvSpPr>
            <p:spPr>
              <a:xfrm>
                <a:off x="8071466" y="1381150"/>
                <a:ext cx="6817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IPC</a:t>
                </a:r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微软雅黑"/>
                    <a:ea typeface="微软雅黑"/>
                    <a:cs typeface="Helvetica"/>
                    <a:sym typeface="微软雅黑"/>
                    <a:rtl val="0"/>
                  </a:rPr>
                  <a:t>之比</a:t>
                </a:r>
              </a:p>
            </p:txBody>
          </p:sp>
        </p:grpSp>
        <p:grpSp>
          <p:nvGrpSpPr>
            <p:cNvPr id="55" name="图形 9">
              <a:extLst>
                <a:ext uri="{FF2B5EF4-FFF2-40B4-BE49-F238E27FC236}">
                  <a16:creationId xmlns:a16="http://schemas.microsoft.com/office/drawing/2014/main" id="{844EFDBB-8503-6F3D-9DC2-28218B02F3A4}"/>
                </a:ext>
              </a:extLst>
            </p:cNvPr>
            <p:cNvGrpSpPr/>
            <p:nvPr/>
          </p:nvGrpSpPr>
          <p:grpSpPr>
            <a:xfrm>
              <a:off x="3508870" y="1747837"/>
              <a:ext cx="656897" cy="308781"/>
              <a:chOff x="3508870" y="1747837"/>
              <a:chExt cx="656897" cy="308781"/>
            </a:xfrm>
          </p:grpSpPr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1F041DCB-32C3-C38E-A06E-EA69CD121E60}"/>
                  </a:ext>
                </a:extLst>
              </p:cNvPr>
              <p:cNvSpPr/>
              <p:nvPr/>
            </p:nvSpPr>
            <p:spPr>
              <a:xfrm>
                <a:off x="3514725" y="1747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297D3647-CC32-06DC-E19D-6302D8773AAD}"/>
                  </a:ext>
                </a:extLst>
              </p:cNvPr>
              <p:cNvSpPr txBox="1"/>
              <p:nvPr/>
            </p:nvSpPr>
            <p:spPr>
              <a:xfrm>
                <a:off x="3508870" y="1779619"/>
                <a:ext cx="6568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bitcount</a:t>
                </a:r>
              </a:p>
            </p:txBody>
          </p:sp>
        </p:grpSp>
        <p:grpSp>
          <p:nvGrpSpPr>
            <p:cNvPr id="59" name="图形 9">
              <a:extLst>
                <a:ext uri="{FF2B5EF4-FFF2-40B4-BE49-F238E27FC236}">
                  <a16:creationId xmlns:a16="http://schemas.microsoft.com/office/drawing/2014/main" id="{B782A708-5F81-7750-AB65-BF427EC16F3E}"/>
                </a:ext>
              </a:extLst>
            </p:cNvPr>
            <p:cNvGrpSpPr/>
            <p:nvPr/>
          </p:nvGrpSpPr>
          <p:grpSpPr>
            <a:xfrm>
              <a:off x="3410364" y="2128837"/>
              <a:ext cx="896194" cy="308781"/>
              <a:chOff x="3410364" y="2128837"/>
              <a:chExt cx="896194" cy="308781"/>
            </a:xfrm>
          </p:grpSpPr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BDED107-EEBF-A838-73BB-C1E8B54ACC62}"/>
                  </a:ext>
                </a:extLst>
              </p:cNvPr>
              <p:cNvSpPr/>
              <p:nvPr/>
            </p:nvSpPr>
            <p:spPr>
              <a:xfrm>
                <a:off x="3514725" y="2128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1395EC8-0356-4B94-DEAE-6809D2A171C8}"/>
                  </a:ext>
                </a:extLst>
              </p:cNvPr>
              <p:cNvSpPr txBox="1"/>
              <p:nvPr/>
            </p:nvSpPr>
            <p:spPr>
              <a:xfrm>
                <a:off x="3410364" y="2160619"/>
                <a:ext cx="8961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bubble_sort</a:t>
                </a:r>
              </a:p>
            </p:txBody>
          </p:sp>
        </p:grpSp>
        <p:grpSp>
          <p:nvGrpSpPr>
            <p:cNvPr id="66" name="图形 9">
              <a:extLst>
                <a:ext uri="{FF2B5EF4-FFF2-40B4-BE49-F238E27FC236}">
                  <a16:creationId xmlns:a16="http://schemas.microsoft.com/office/drawing/2014/main" id="{DD9D86E1-345E-0BE4-6819-FF25ACE063C6}"/>
                </a:ext>
              </a:extLst>
            </p:cNvPr>
            <p:cNvGrpSpPr/>
            <p:nvPr/>
          </p:nvGrpSpPr>
          <p:grpSpPr>
            <a:xfrm>
              <a:off x="3470863" y="2509837"/>
              <a:ext cx="750282" cy="308781"/>
              <a:chOff x="3470863" y="2509837"/>
              <a:chExt cx="750282" cy="308781"/>
            </a:xfrm>
          </p:grpSpPr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E83A436C-31FB-9EDF-4790-577F94BC4480}"/>
                  </a:ext>
                </a:extLst>
              </p:cNvPr>
              <p:cNvSpPr/>
              <p:nvPr/>
            </p:nvSpPr>
            <p:spPr>
              <a:xfrm>
                <a:off x="3514725" y="2509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B7FAB35F-5FC7-1FB5-79EC-72CD38696ABD}"/>
                  </a:ext>
                </a:extLst>
              </p:cNvPr>
              <p:cNvSpPr txBox="1"/>
              <p:nvPr/>
            </p:nvSpPr>
            <p:spPr>
              <a:xfrm>
                <a:off x="3470863" y="2541619"/>
                <a:ext cx="7502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coremark</a:t>
                </a:r>
              </a:p>
            </p:txBody>
          </p:sp>
        </p:grpSp>
        <p:grpSp>
          <p:nvGrpSpPr>
            <p:cNvPr id="69" name="图形 9">
              <a:extLst>
                <a:ext uri="{FF2B5EF4-FFF2-40B4-BE49-F238E27FC236}">
                  <a16:creationId xmlns:a16="http://schemas.microsoft.com/office/drawing/2014/main" id="{A959F91C-6F1C-95AA-32A6-8BC2A38548F2}"/>
                </a:ext>
              </a:extLst>
            </p:cNvPr>
            <p:cNvGrpSpPr/>
            <p:nvPr/>
          </p:nvGrpSpPr>
          <p:grpSpPr>
            <a:xfrm>
              <a:off x="3514725" y="2890837"/>
              <a:ext cx="571500" cy="308781"/>
              <a:chOff x="3514725" y="2890837"/>
              <a:chExt cx="571500" cy="308781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8BD9F453-AD56-352E-60DF-C3629B040947}"/>
                  </a:ext>
                </a:extLst>
              </p:cNvPr>
              <p:cNvSpPr/>
              <p:nvPr/>
            </p:nvSpPr>
            <p:spPr>
              <a:xfrm>
                <a:off x="3514725" y="2890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58EDC41-72F1-75AF-1027-2EA2F1120675}"/>
                  </a:ext>
                </a:extLst>
              </p:cNvPr>
              <p:cNvSpPr txBox="1"/>
              <p:nvPr/>
            </p:nvSpPr>
            <p:spPr>
              <a:xfrm>
                <a:off x="3569285" y="2922619"/>
                <a:ext cx="5095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crc32</a:t>
                </a:r>
              </a:p>
            </p:txBody>
          </p:sp>
        </p:grpSp>
        <p:grpSp>
          <p:nvGrpSpPr>
            <p:cNvPr id="72" name="图形 9">
              <a:extLst>
                <a:ext uri="{FF2B5EF4-FFF2-40B4-BE49-F238E27FC236}">
                  <a16:creationId xmlns:a16="http://schemas.microsoft.com/office/drawing/2014/main" id="{DA37CE8B-9EE9-A190-8DBB-88C3B1A43D67}"/>
                </a:ext>
              </a:extLst>
            </p:cNvPr>
            <p:cNvGrpSpPr/>
            <p:nvPr/>
          </p:nvGrpSpPr>
          <p:grpSpPr>
            <a:xfrm>
              <a:off x="3458054" y="3271837"/>
              <a:ext cx="780922" cy="308781"/>
              <a:chOff x="3458054" y="3271837"/>
              <a:chExt cx="780922" cy="308781"/>
            </a:xfrm>
          </p:grpSpPr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384A098F-77CB-D02A-A839-C0BB26C0C88F}"/>
                  </a:ext>
                </a:extLst>
              </p:cNvPr>
              <p:cNvSpPr/>
              <p:nvPr/>
            </p:nvSpPr>
            <p:spPr>
              <a:xfrm>
                <a:off x="3514725" y="3271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9092C01F-B0E8-5E22-8E24-5CD4F4DC482F}"/>
                  </a:ext>
                </a:extLst>
              </p:cNvPr>
              <p:cNvSpPr txBox="1"/>
              <p:nvPr/>
            </p:nvSpPr>
            <p:spPr>
              <a:xfrm>
                <a:off x="3458054" y="3303619"/>
                <a:ext cx="7809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dhrystone</a:t>
                </a:r>
              </a:p>
            </p:txBody>
          </p:sp>
        </p:grpSp>
        <p:grpSp>
          <p:nvGrpSpPr>
            <p:cNvPr id="75" name="图形 9">
              <a:extLst>
                <a:ext uri="{FF2B5EF4-FFF2-40B4-BE49-F238E27FC236}">
                  <a16:creationId xmlns:a16="http://schemas.microsoft.com/office/drawing/2014/main" id="{C895DDE2-4CF2-C0EE-1C08-D0985F7EC0E1}"/>
                </a:ext>
              </a:extLst>
            </p:cNvPr>
            <p:cNvGrpSpPr/>
            <p:nvPr/>
          </p:nvGrpSpPr>
          <p:grpSpPr>
            <a:xfrm>
              <a:off x="3448567" y="3652837"/>
              <a:ext cx="804268" cy="308781"/>
              <a:chOff x="3448567" y="3652837"/>
              <a:chExt cx="804268" cy="308781"/>
            </a:xfrm>
          </p:grpSpPr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A39D514B-48DD-AA4B-34C8-AF927CC63EDA}"/>
                  </a:ext>
                </a:extLst>
              </p:cNvPr>
              <p:cNvSpPr/>
              <p:nvPr/>
            </p:nvSpPr>
            <p:spPr>
              <a:xfrm>
                <a:off x="3514725" y="3652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4E8EF2F1-939E-5D1D-9AA2-3140DA62225B}"/>
                  </a:ext>
                </a:extLst>
              </p:cNvPr>
              <p:cNvSpPr txBox="1"/>
              <p:nvPr/>
            </p:nvSpPr>
            <p:spPr>
              <a:xfrm>
                <a:off x="3448567" y="3684619"/>
                <a:ext cx="8042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quick_sort</a:t>
                </a:r>
              </a:p>
            </p:txBody>
          </p:sp>
        </p:grpSp>
        <p:grpSp>
          <p:nvGrpSpPr>
            <p:cNvPr id="78" name="图形 9">
              <a:extLst>
                <a:ext uri="{FF2B5EF4-FFF2-40B4-BE49-F238E27FC236}">
                  <a16:creationId xmlns:a16="http://schemas.microsoft.com/office/drawing/2014/main" id="{FA06994E-2188-033A-31F9-94F115CCA4FB}"/>
                </a:ext>
              </a:extLst>
            </p:cNvPr>
            <p:cNvGrpSpPr/>
            <p:nvPr/>
          </p:nvGrpSpPr>
          <p:grpSpPr>
            <a:xfrm>
              <a:off x="3432689" y="4033837"/>
              <a:ext cx="843665" cy="308781"/>
              <a:chOff x="3432689" y="4033837"/>
              <a:chExt cx="843665" cy="308781"/>
            </a:xfrm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B63280DB-BED3-9A57-B0CF-282975DC6343}"/>
                  </a:ext>
                </a:extLst>
              </p:cNvPr>
              <p:cNvSpPr/>
              <p:nvPr/>
            </p:nvSpPr>
            <p:spPr>
              <a:xfrm>
                <a:off x="3514725" y="4033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656B1CFD-B6E8-955A-EF27-18CA0E71EB64}"/>
                  </a:ext>
                </a:extLst>
              </p:cNvPr>
              <p:cNvSpPr txBox="1"/>
              <p:nvPr/>
            </p:nvSpPr>
            <p:spPr>
              <a:xfrm>
                <a:off x="3432689" y="4065619"/>
                <a:ext cx="84366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select_sort</a:t>
                </a:r>
              </a:p>
            </p:txBody>
          </p:sp>
        </p:grpSp>
        <p:grpSp>
          <p:nvGrpSpPr>
            <p:cNvPr id="81" name="图形 9">
              <a:extLst>
                <a:ext uri="{FF2B5EF4-FFF2-40B4-BE49-F238E27FC236}">
                  <a16:creationId xmlns:a16="http://schemas.microsoft.com/office/drawing/2014/main" id="{65EA0F62-7BA1-AD46-6E1A-23D2AED4883E}"/>
                </a:ext>
              </a:extLst>
            </p:cNvPr>
            <p:cNvGrpSpPr/>
            <p:nvPr/>
          </p:nvGrpSpPr>
          <p:grpSpPr>
            <a:xfrm>
              <a:off x="3514725" y="4414837"/>
              <a:ext cx="571500" cy="308781"/>
              <a:chOff x="3514725" y="4414837"/>
              <a:chExt cx="571500" cy="308781"/>
            </a:xfrm>
          </p:grpSpPr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29E0D112-A72F-B3E9-991F-E2196834727A}"/>
                  </a:ext>
                </a:extLst>
              </p:cNvPr>
              <p:cNvSpPr/>
              <p:nvPr/>
            </p:nvSpPr>
            <p:spPr>
              <a:xfrm>
                <a:off x="3514725" y="4414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D93D0F78-23CB-8C78-DA6E-7F4E8E0C195E}"/>
                  </a:ext>
                </a:extLst>
              </p:cNvPr>
              <p:cNvSpPr txBox="1"/>
              <p:nvPr/>
            </p:nvSpPr>
            <p:spPr>
              <a:xfrm>
                <a:off x="3616891" y="4446619"/>
                <a:ext cx="3927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sha</a:t>
                </a:r>
              </a:p>
            </p:txBody>
          </p:sp>
        </p:grp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09C10A77-B17A-5FB8-82DB-31C227506ADF}"/>
                </a:ext>
              </a:extLst>
            </p:cNvPr>
            <p:cNvSpPr/>
            <p:nvPr/>
          </p:nvSpPr>
          <p:spPr>
            <a:xfrm>
              <a:off x="3043237" y="5133974"/>
              <a:ext cx="6096000" cy="381000"/>
            </a:xfrm>
            <a:prstGeom prst="rect">
              <a:avLst/>
            </a:prstGeom>
            <a:solidFill>
              <a:srgbClr val="E2E9EE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06C6FBFA-D636-DC00-A777-3744135B842E}"/>
                </a:ext>
              </a:extLst>
            </p:cNvPr>
            <p:cNvSpPr/>
            <p:nvPr/>
          </p:nvSpPr>
          <p:spPr>
            <a:xfrm>
              <a:off x="4567237" y="5133974"/>
              <a:ext cx="9525" cy="381000"/>
            </a:xfrm>
            <a:custGeom>
              <a:avLst/>
              <a:gdLst>
                <a:gd name="csX0" fmla="*/ 1 w 9525"/>
                <a:gd name="csY0" fmla="*/ 381001 h 381000"/>
                <a:gd name="csX1" fmla="*/ 1 w 9525"/>
                <a:gd name="csY1" fmla="*/ 1 h 381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381000">
                  <a:moveTo>
                    <a:pt x="1" y="381001"/>
                  </a:moveTo>
                  <a:lnTo>
                    <a:pt x="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5D07663C-6D47-767A-529D-DF8BF0E798C8}"/>
                </a:ext>
              </a:extLst>
            </p:cNvPr>
            <p:cNvSpPr/>
            <p:nvPr/>
          </p:nvSpPr>
          <p:spPr>
            <a:xfrm>
              <a:off x="6091237" y="5133974"/>
              <a:ext cx="9525" cy="381000"/>
            </a:xfrm>
            <a:custGeom>
              <a:avLst/>
              <a:gdLst>
                <a:gd name="csX0" fmla="*/ 1 w 9525"/>
                <a:gd name="csY0" fmla="*/ 1 h 381000"/>
                <a:gd name="csX1" fmla="*/ 1 w 9525"/>
                <a:gd name="csY1" fmla="*/ 381001 h 381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381000">
                  <a:moveTo>
                    <a:pt x="1" y="1"/>
                  </a:moveTo>
                  <a:lnTo>
                    <a:pt x="1" y="38100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5E39CE8F-39EA-2584-83E5-DD677A5AEE9B}"/>
                </a:ext>
              </a:extLst>
            </p:cNvPr>
            <p:cNvSpPr/>
            <p:nvPr/>
          </p:nvSpPr>
          <p:spPr>
            <a:xfrm>
              <a:off x="7615237" y="5133974"/>
              <a:ext cx="9525" cy="381000"/>
            </a:xfrm>
            <a:custGeom>
              <a:avLst/>
              <a:gdLst>
                <a:gd name="csX0" fmla="*/ 1 w 9525"/>
                <a:gd name="csY0" fmla="*/ 381001 h 381000"/>
                <a:gd name="csX1" fmla="*/ 1 w 9525"/>
                <a:gd name="csY1" fmla="*/ 1 h 381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381000">
                  <a:moveTo>
                    <a:pt x="1" y="381001"/>
                  </a:moveTo>
                  <a:lnTo>
                    <a:pt x="1" y="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88" name="图形 9">
              <a:extLst>
                <a:ext uri="{FF2B5EF4-FFF2-40B4-BE49-F238E27FC236}">
                  <a16:creationId xmlns:a16="http://schemas.microsoft.com/office/drawing/2014/main" id="{17F68615-342C-5BD1-43DA-4DB147D8BB06}"/>
                </a:ext>
              </a:extLst>
            </p:cNvPr>
            <p:cNvGrpSpPr/>
            <p:nvPr/>
          </p:nvGrpSpPr>
          <p:grpSpPr>
            <a:xfrm>
              <a:off x="3381873" y="4795837"/>
              <a:ext cx="967690" cy="308781"/>
              <a:chOff x="3381873" y="4795837"/>
              <a:chExt cx="967690" cy="308781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1F43411A-BB0D-E389-2F52-5B5E837211DB}"/>
                  </a:ext>
                </a:extLst>
              </p:cNvPr>
              <p:cNvSpPr/>
              <p:nvPr/>
            </p:nvSpPr>
            <p:spPr>
              <a:xfrm>
                <a:off x="3514725" y="4795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78127C1E-0D0F-FD8F-6869-FB6B2CA24A20}"/>
                  </a:ext>
                </a:extLst>
              </p:cNvPr>
              <p:cNvSpPr txBox="1"/>
              <p:nvPr/>
            </p:nvSpPr>
            <p:spPr>
              <a:xfrm>
                <a:off x="3381873" y="4827619"/>
                <a:ext cx="9676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stream_copy</a:t>
                </a:r>
              </a:p>
            </p:txBody>
          </p:sp>
        </p:grpSp>
        <p:grpSp>
          <p:nvGrpSpPr>
            <p:cNvPr id="91" name="图形 9">
              <a:extLst>
                <a:ext uri="{FF2B5EF4-FFF2-40B4-BE49-F238E27FC236}">
                  <a16:creationId xmlns:a16="http://schemas.microsoft.com/office/drawing/2014/main" id="{4178FBF5-E0CC-16CC-5A1C-75B61C64EE73}"/>
                </a:ext>
              </a:extLst>
            </p:cNvPr>
            <p:cNvGrpSpPr/>
            <p:nvPr/>
          </p:nvGrpSpPr>
          <p:grpSpPr>
            <a:xfrm>
              <a:off x="3397751" y="5176837"/>
              <a:ext cx="928294" cy="308781"/>
              <a:chOff x="3397751" y="5176837"/>
              <a:chExt cx="928294" cy="308781"/>
            </a:xfrm>
          </p:grpSpPr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AC4EE594-02C5-B8EA-8D6E-4AB6C400B145}"/>
                  </a:ext>
                </a:extLst>
              </p:cNvPr>
              <p:cNvSpPr/>
              <p:nvPr/>
            </p:nvSpPr>
            <p:spPr>
              <a:xfrm>
                <a:off x="3514725" y="5176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810F2264-CF3C-680F-CD3A-58D48B5EF348}"/>
                  </a:ext>
                </a:extLst>
              </p:cNvPr>
              <p:cNvSpPr txBox="1"/>
              <p:nvPr/>
            </p:nvSpPr>
            <p:spPr>
              <a:xfrm>
                <a:off x="3397751" y="5208619"/>
                <a:ext cx="9282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stringsearch</a:t>
                </a:r>
              </a:p>
            </p:txBody>
          </p:sp>
        </p:grpSp>
        <p:grpSp>
          <p:nvGrpSpPr>
            <p:cNvPr id="95" name="图形 9">
              <a:extLst>
                <a:ext uri="{FF2B5EF4-FFF2-40B4-BE49-F238E27FC236}">
                  <a16:creationId xmlns:a16="http://schemas.microsoft.com/office/drawing/2014/main" id="{2516DF55-F5EB-8B69-BA9C-957EB1D5AE51}"/>
                </a:ext>
              </a:extLst>
            </p:cNvPr>
            <p:cNvGrpSpPr/>
            <p:nvPr/>
          </p:nvGrpSpPr>
          <p:grpSpPr>
            <a:xfrm>
              <a:off x="6515598" y="1747837"/>
              <a:ext cx="757576" cy="308781"/>
              <a:chOff x="6515598" y="1747837"/>
              <a:chExt cx="757576" cy="308781"/>
            </a:xfrm>
          </p:grpSpPr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35D882ED-1668-B35A-37B2-C2C1FAF7E7C0}"/>
                  </a:ext>
                </a:extLst>
              </p:cNvPr>
              <p:cNvSpPr/>
              <p:nvPr/>
            </p:nvSpPr>
            <p:spPr>
              <a:xfrm>
                <a:off x="6562725" y="1747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5984F4FC-162E-413A-3290-4F539FFC3E90}"/>
                  </a:ext>
                </a:extLst>
              </p:cNvPr>
              <p:cNvSpPr txBox="1"/>
              <p:nvPr/>
            </p:nvSpPr>
            <p:spPr>
              <a:xfrm>
                <a:off x="6515598" y="1779619"/>
                <a:ext cx="7575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fireye_A0</a:t>
                </a:r>
              </a:p>
            </p:txBody>
          </p:sp>
        </p:grpSp>
        <p:grpSp>
          <p:nvGrpSpPr>
            <p:cNvPr id="98" name="图形 9">
              <a:extLst>
                <a:ext uri="{FF2B5EF4-FFF2-40B4-BE49-F238E27FC236}">
                  <a16:creationId xmlns:a16="http://schemas.microsoft.com/office/drawing/2014/main" id="{8077114D-C09B-5E09-24C4-D0171B87F860}"/>
                </a:ext>
              </a:extLst>
            </p:cNvPr>
            <p:cNvGrpSpPr/>
            <p:nvPr/>
          </p:nvGrpSpPr>
          <p:grpSpPr>
            <a:xfrm>
              <a:off x="6515598" y="2128837"/>
              <a:ext cx="757576" cy="308781"/>
              <a:chOff x="6515598" y="2128837"/>
              <a:chExt cx="757576" cy="308781"/>
            </a:xfrm>
          </p:grpSpPr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C9EC581A-E356-19F8-263C-80CF564B85FD}"/>
                  </a:ext>
                </a:extLst>
              </p:cNvPr>
              <p:cNvSpPr/>
              <p:nvPr/>
            </p:nvSpPr>
            <p:spPr>
              <a:xfrm>
                <a:off x="6562725" y="2128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E249D577-9D3B-90AF-1557-F2858AEFAC96}"/>
                  </a:ext>
                </a:extLst>
              </p:cNvPr>
              <p:cNvSpPr txBox="1"/>
              <p:nvPr/>
            </p:nvSpPr>
            <p:spPr>
              <a:xfrm>
                <a:off x="6515598" y="2160619"/>
                <a:ext cx="7575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fireye_B2</a:t>
                </a:r>
              </a:p>
            </p:txBody>
          </p:sp>
        </p:grpSp>
        <p:grpSp>
          <p:nvGrpSpPr>
            <p:cNvPr id="104" name="图形 9">
              <a:extLst>
                <a:ext uri="{FF2B5EF4-FFF2-40B4-BE49-F238E27FC236}">
                  <a16:creationId xmlns:a16="http://schemas.microsoft.com/office/drawing/2014/main" id="{E6A4674C-E132-B280-2047-4603907501CA}"/>
                </a:ext>
              </a:extLst>
            </p:cNvPr>
            <p:cNvGrpSpPr/>
            <p:nvPr/>
          </p:nvGrpSpPr>
          <p:grpSpPr>
            <a:xfrm>
              <a:off x="6512445" y="2509837"/>
              <a:ext cx="764873" cy="308781"/>
              <a:chOff x="6512445" y="2509837"/>
              <a:chExt cx="764873" cy="308781"/>
            </a:xfrm>
          </p:grpSpPr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4EE38404-A35C-D087-5702-4E6ABC3A3130}"/>
                  </a:ext>
                </a:extLst>
              </p:cNvPr>
              <p:cNvSpPr/>
              <p:nvPr/>
            </p:nvSpPr>
            <p:spPr>
              <a:xfrm>
                <a:off x="6562725" y="2509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113BE04C-9832-ED5C-9101-005D48999A79}"/>
                  </a:ext>
                </a:extLst>
              </p:cNvPr>
              <p:cNvSpPr txBox="1"/>
              <p:nvPr/>
            </p:nvSpPr>
            <p:spPr>
              <a:xfrm>
                <a:off x="6512445" y="2541619"/>
                <a:ext cx="7648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fireye_C0</a:t>
                </a:r>
              </a:p>
            </p:txBody>
          </p:sp>
        </p:grpSp>
        <p:grpSp>
          <p:nvGrpSpPr>
            <p:cNvPr id="108" name="图形 9">
              <a:extLst>
                <a:ext uri="{FF2B5EF4-FFF2-40B4-BE49-F238E27FC236}">
                  <a16:creationId xmlns:a16="http://schemas.microsoft.com/office/drawing/2014/main" id="{8CBB609D-404A-2436-C386-F77FB8FAB52B}"/>
                </a:ext>
              </a:extLst>
            </p:cNvPr>
            <p:cNvGrpSpPr/>
            <p:nvPr/>
          </p:nvGrpSpPr>
          <p:grpSpPr>
            <a:xfrm>
              <a:off x="6512445" y="2890837"/>
              <a:ext cx="764873" cy="308781"/>
              <a:chOff x="6512445" y="2890837"/>
              <a:chExt cx="764873" cy="308781"/>
            </a:xfrm>
          </p:grpSpPr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03307F1-9517-824E-F3F2-44CCE45BF220}"/>
                  </a:ext>
                </a:extLst>
              </p:cNvPr>
              <p:cNvSpPr/>
              <p:nvPr/>
            </p:nvSpPr>
            <p:spPr>
              <a:xfrm>
                <a:off x="6562725" y="2890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98F6641C-3149-7C02-3F42-4089E0205828}"/>
                  </a:ext>
                </a:extLst>
              </p:cNvPr>
              <p:cNvSpPr txBox="1"/>
              <p:nvPr/>
            </p:nvSpPr>
            <p:spPr>
              <a:xfrm>
                <a:off x="6512445" y="2922619"/>
                <a:ext cx="7648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fireye_D1</a:t>
                </a:r>
              </a:p>
            </p:txBody>
          </p:sp>
        </p:grpSp>
        <p:grpSp>
          <p:nvGrpSpPr>
            <p:cNvPr id="111" name="图形 9">
              <a:extLst>
                <a:ext uri="{FF2B5EF4-FFF2-40B4-BE49-F238E27FC236}">
                  <a16:creationId xmlns:a16="http://schemas.microsoft.com/office/drawing/2014/main" id="{BC645926-BF0D-101F-7742-0E5CB128A1E9}"/>
                </a:ext>
              </a:extLst>
            </p:cNvPr>
            <p:cNvGrpSpPr/>
            <p:nvPr/>
          </p:nvGrpSpPr>
          <p:grpSpPr>
            <a:xfrm>
              <a:off x="6537839" y="3271837"/>
              <a:ext cx="703589" cy="308781"/>
              <a:chOff x="6537839" y="3271837"/>
              <a:chExt cx="703589" cy="308781"/>
            </a:xfrm>
          </p:grpSpPr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87C00055-417A-1989-9F93-59E65DC170AB}"/>
                  </a:ext>
                </a:extLst>
              </p:cNvPr>
              <p:cNvSpPr/>
              <p:nvPr/>
            </p:nvSpPr>
            <p:spPr>
              <a:xfrm>
                <a:off x="6562725" y="3271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0125712A-EE28-3214-D5CB-0F5BF2E9C3D3}"/>
                  </a:ext>
                </a:extLst>
              </p:cNvPr>
              <p:cNvSpPr txBox="1"/>
              <p:nvPr/>
            </p:nvSpPr>
            <p:spPr>
              <a:xfrm>
                <a:off x="6537839" y="3303619"/>
                <a:ext cx="7035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fireye_I2</a:t>
                </a:r>
              </a:p>
            </p:txBody>
          </p:sp>
        </p:grpSp>
        <p:grpSp>
          <p:nvGrpSpPr>
            <p:cNvPr id="114" name="图形 9">
              <a:extLst>
                <a:ext uri="{FF2B5EF4-FFF2-40B4-BE49-F238E27FC236}">
                  <a16:creationId xmlns:a16="http://schemas.microsoft.com/office/drawing/2014/main" id="{5BC89FB9-C2CE-4CCB-3F85-DC450ABE50A5}"/>
                </a:ext>
              </a:extLst>
            </p:cNvPr>
            <p:cNvGrpSpPr/>
            <p:nvPr/>
          </p:nvGrpSpPr>
          <p:grpSpPr>
            <a:xfrm>
              <a:off x="6407549" y="3652837"/>
              <a:ext cx="1020219" cy="308781"/>
              <a:chOff x="6407549" y="3652837"/>
              <a:chExt cx="1020219" cy="308781"/>
            </a:xfrm>
          </p:grpSpPr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1580F7DC-6D17-24A6-3A95-E64BD799ED15}"/>
                  </a:ext>
                </a:extLst>
              </p:cNvPr>
              <p:cNvSpPr/>
              <p:nvPr/>
            </p:nvSpPr>
            <p:spPr>
              <a:xfrm>
                <a:off x="6562725" y="3652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32F78625-CCB8-26D7-7719-E81F68AD7991}"/>
                  </a:ext>
                </a:extLst>
              </p:cNvPr>
              <p:cNvSpPr txBox="1"/>
              <p:nvPr/>
            </p:nvSpPr>
            <p:spPr>
              <a:xfrm>
                <a:off x="6407549" y="3684619"/>
                <a:ext cx="10202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inner_product</a:t>
                </a:r>
              </a:p>
            </p:txBody>
          </p:sp>
        </p:grpSp>
        <p:grpSp>
          <p:nvGrpSpPr>
            <p:cNvPr id="117" name="图形 9">
              <a:extLst>
                <a:ext uri="{FF2B5EF4-FFF2-40B4-BE49-F238E27FC236}">
                  <a16:creationId xmlns:a16="http://schemas.microsoft.com/office/drawing/2014/main" id="{8E6A3537-373A-3CC0-CDDF-800E5EB541DE}"/>
                </a:ext>
              </a:extLst>
            </p:cNvPr>
            <p:cNvGrpSpPr/>
            <p:nvPr/>
          </p:nvGrpSpPr>
          <p:grpSpPr>
            <a:xfrm>
              <a:off x="6432915" y="4033837"/>
              <a:ext cx="957476" cy="308781"/>
              <a:chOff x="6432915" y="4033837"/>
              <a:chExt cx="957476" cy="308781"/>
            </a:xfrm>
          </p:grpSpPr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913F2BA9-4914-A288-534C-4AA400E2DCBA}"/>
                  </a:ext>
                </a:extLst>
              </p:cNvPr>
              <p:cNvSpPr/>
              <p:nvPr/>
            </p:nvSpPr>
            <p:spPr>
              <a:xfrm>
                <a:off x="6562725" y="4033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C5DFBB1D-F5E4-0D2A-DB02-825E499A66E3}"/>
                  </a:ext>
                </a:extLst>
              </p:cNvPr>
              <p:cNvSpPr txBox="1"/>
              <p:nvPr/>
            </p:nvSpPr>
            <p:spPr>
              <a:xfrm>
                <a:off x="6432915" y="4065619"/>
                <a:ext cx="9574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lookup_table</a:t>
                </a:r>
              </a:p>
            </p:txBody>
          </p:sp>
        </p:grpSp>
        <p:grpSp>
          <p:nvGrpSpPr>
            <p:cNvPr id="120" name="图形 9">
              <a:extLst>
                <a:ext uri="{FF2B5EF4-FFF2-40B4-BE49-F238E27FC236}">
                  <a16:creationId xmlns:a16="http://schemas.microsoft.com/office/drawing/2014/main" id="{D14B4EC5-AA00-92FC-5878-720B5BCCC9B5}"/>
                </a:ext>
              </a:extLst>
            </p:cNvPr>
            <p:cNvGrpSpPr/>
            <p:nvPr/>
          </p:nvGrpSpPr>
          <p:grpSpPr>
            <a:xfrm>
              <a:off x="6321740" y="4414837"/>
              <a:ext cx="1228874" cy="308781"/>
              <a:chOff x="6321740" y="4414837"/>
              <a:chExt cx="1228874" cy="308781"/>
            </a:xfrm>
          </p:grpSpPr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D010E134-CBDD-80D3-9416-E2E3DEF58380}"/>
                  </a:ext>
                </a:extLst>
              </p:cNvPr>
              <p:cNvSpPr/>
              <p:nvPr/>
            </p:nvSpPr>
            <p:spPr>
              <a:xfrm>
                <a:off x="6562725" y="4414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E24ED10D-A4C2-1A3F-8808-41D8FBC31984}"/>
                  </a:ext>
                </a:extLst>
              </p:cNvPr>
              <p:cNvSpPr txBox="1"/>
              <p:nvPr/>
            </p:nvSpPr>
            <p:spPr>
              <a:xfrm>
                <a:off x="6321740" y="4446619"/>
                <a:ext cx="12288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 dirty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loop_introduction</a:t>
                </a:r>
              </a:p>
            </p:txBody>
          </p:sp>
        </p:grpSp>
        <p:grpSp>
          <p:nvGrpSpPr>
            <p:cNvPr id="123" name="图形 9">
              <a:extLst>
                <a:ext uri="{FF2B5EF4-FFF2-40B4-BE49-F238E27FC236}">
                  <a16:creationId xmlns:a16="http://schemas.microsoft.com/office/drawing/2014/main" id="{51249BC8-3AD2-EF73-E9A1-0DE482229916}"/>
                </a:ext>
              </a:extLst>
            </p:cNvPr>
            <p:cNvGrpSpPr/>
            <p:nvPr/>
          </p:nvGrpSpPr>
          <p:grpSpPr>
            <a:xfrm>
              <a:off x="6442682" y="4795837"/>
              <a:ext cx="937049" cy="308781"/>
              <a:chOff x="6442682" y="4795837"/>
              <a:chExt cx="937049" cy="308781"/>
            </a:xfrm>
          </p:grpSpPr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A612650E-A693-69B5-48F4-7EFB04E06ADB}"/>
                  </a:ext>
                </a:extLst>
              </p:cNvPr>
              <p:cNvSpPr/>
              <p:nvPr/>
            </p:nvSpPr>
            <p:spPr>
              <a:xfrm>
                <a:off x="6562725" y="4795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83225519-BAAC-AFBE-F704-91AFF9407535}"/>
                  </a:ext>
                </a:extLst>
              </p:cNvPr>
              <p:cNvSpPr txBox="1"/>
              <p:nvPr/>
            </p:nvSpPr>
            <p:spPr>
              <a:xfrm>
                <a:off x="6442682" y="4827619"/>
                <a:ext cx="9370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my_memcrp</a:t>
                </a:r>
              </a:p>
            </p:txBody>
          </p:sp>
        </p:grpSp>
        <p:grpSp>
          <p:nvGrpSpPr>
            <p:cNvPr id="126" name="图形 9">
              <a:extLst>
                <a:ext uri="{FF2B5EF4-FFF2-40B4-BE49-F238E27FC236}">
                  <a16:creationId xmlns:a16="http://schemas.microsoft.com/office/drawing/2014/main" id="{45D9CF24-2C59-54FA-EADA-FBB51FBD4F19}"/>
                </a:ext>
              </a:extLst>
            </p:cNvPr>
            <p:cNvGrpSpPr/>
            <p:nvPr/>
          </p:nvGrpSpPr>
          <p:grpSpPr>
            <a:xfrm>
              <a:off x="6277343" y="5176837"/>
              <a:ext cx="1338307" cy="308781"/>
              <a:chOff x="6277343" y="5176837"/>
              <a:chExt cx="1338307" cy="308781"/>
            </a:xfrm>
          </p:grpSpPr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1C719D29-2ABB-3909-08C5-3FDF0FCC2FF3}"/>
                  </a:ext>
                </a:extLst>
              </p:cNvPr>
              <p:cNvSpPr/>
              <p:nvPr/>
            </p:nvSpPr>
            <p:spPr>
              <a:xfrm>
                <a:off x="6562725" y="5176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3AA3D05C-45EC-7D0E-1D52-31DE6FF1A960}"/>
                  </a:ext>
                </a:extLst>
              </p:cNvPr>
              <p:cNvSpPr txBox="1"/>
              <p:nvPr/>
            </p:nvSpPr>
            <p:spPr>
              <a:xfrm>
                <a:off x="6277343" y="5208619"/>
                <a:ext cx="13383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minmax_sequence</a:t>
                </a:r>
              </a:p>
            </p:txBody>
          </p:sp>
        </p:grpSp>
        <p:grpSp>
          <p:nvGrpSpPr>
            <p:cNvPr id="129" name="图形 9">
              <a:extLst>
                <a:ext uri="{FF2B5EF4-FFF2-40B4-BE49-F238E27FC236}">
                  <a16:creationId xmlns:a16="http://schemas.microsoft.com/office/drawing/2014/main" id="{45F8C03F-A934-9D4C-C99F-5F83555328E9}"/>
                </a:ext>
              </a:extLst>
            </p:cNvPr>
            <p:cNvGrpSpPr/>
            <p:nvPr/>
          </p:nvGrpSpPr>
          <p:grpSpPr>
            <a:xfrm>
              <a:off x="5038725" y="1747837"/>
              <a:ext cx="571500" cy="308781"/>
              <a:chOff x="5038725" y="1747837"/>
              <a:chExt cx="571500" cy="308781"/>
            </a:xfrm>
          </p:grpSpPr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29295C12-204E-8782-06BB-C8BA01FC43EF}"/>
                  </a:ext>
                </a:extLst>
              </p:cNvPr>
              <p:cNvSpPr/>
              <p:nvPr/>
            </p:nvSpPr>
            <p:spPr>
              <a:xfrm>
                <a:off x="5038725" y="1747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28FA949A-31E5-57CE-AD93-A734D5C4423E}"/>
                  </a:ext>
                </a:extLst>
              </p:cNvPr>
              <p:cNvSpPr txBox="1"/>
              <p:nvPr/>
            </p:nvSpPr>
            <p:spPr>
              <a:xfrm>
                <a:off x="5121804" y="1779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0.98</a:t>
                </a:r>
              </a:p>
            </p:txBody>
          </p:sp>
        </p:grpSp>
        <p:grpSp>
          <p:nvGrpSpPr>
            <p:cNvPr id="132" name="图形 9">
              <a:extLst>
                <a:ext uri="{FF2B5EF4-FFF2-40B4-BE49-F238E27FC236}">
                  <a16:creationId xmlns:a16="http://schemas.microsoft.com/office/drawing/2014/main" id="{CD352C1E-305F-49BE-E6A9-758CCC29E8A1}"/>
                </a:ext>
              </a:extLst>
            </p:cNvPr>
            <p:cNvGrpSpPr/>
            <p:nvPr/>
          </p:nvGrpSpPr>
          <p:grpSpPr>
            <a:xfrm>
              <a:off x="5038725" y="2128837"/>
              <a:ext cx="571500" cy="308781"/>
              <a:chOff x="5038725" y="2128837"/>
              <a:chExt cx="571500" cy="308781"/>
            </a:xfrm>
          </p:grpSpPr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B6659EFB-7B97-20D1-850D-6311FC63A851}"/>
                  </a:ext>
                </a:extLst>
              </p:cNvPr>
              <p:cNvSpPr/>
              <p:nvPr/>
            </p:nvSpPr>
            <p:spPr>
              <a:xfrm>
                <a:off x="5038725" y="2128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7AC71B7-94EA-BEC4-FD63-851E6713176B}"/>
                  </a:ext>
                </a:extLst>
              </p:cNvPr>
              <p:cNvSpPr txBox="1"/>
              <p:nvPr/>
            </p:nvSpPr>
            <p:spPr>
              <a:xfrm>
                <a:off x="5121804" y="2160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0.76</a:t>
                </a:r>
              </a:p>
            </p:txBody>
          </p:sp>
        </p:grpSp>
        <p:grpSp>
          <p:nvGrpSpPr>
            <p:cNvPr id="135" name="图形 9">
              <a:extLst>
                <a:ext uri="{FF2B5EF4-FFF2-40B4-BE49-F238E27FC236}">
                  <a16:creationId xmlns:a16="http://schemas.microsoft.com/office/drawing/2014/main" id="{1907E3A9-6602-3593-73BC-0DC97A72EC53}"/>
                </a:ext>
              </a:extLst>
            </p:cNvPr>
            <p:cNvGrpSpPr/>
            <p:nvPr/>
          </p:nvGrpSpPr>
          <p:grpSpPr>
            <a:xfrm>
              <a:off x="5038725" y="2509837"/>
              <a:ext cx="571500" cy="308781"/>
              <a:chOff x="5038725" y="2509837"/>
              <a:chExt cx="571500" cy="308781"/>
            </a:xfrm>
          </p:grpSpPr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20ED561C-C94D-008D-7FF5-7BA2A7889D36}"/>
                  </a:ext>
                </a:extLst>
              </p:cNvPr>
              <p:cNvSpPr/>
              <p:nvPr/>
            </p:nvSpPr>
            <p:spPr>
              <a:xfrm>
                <a:off x="5038725" y="2509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BF28C65F-303C-CD8D-E696-492FC9F74761}"/>
                  </a:ext>
                </a:extLst>
              </p:cNvPr>
              <p:cNvSpPr txBox="1"/>
              <p:nvPr/>
            </p:nvSpPr>
            <p:spPr>
              <a:xfrm>
                <a:off x="5121804" y="2541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0.98</a:t>
                </a:r>
              </a:p>
            </p:txBody>
          </p:sp>
        </p:grpSp>
        <p:grpSp>
          <p:nvGrpSpPr>
            <p:cNvPr id="138" name="图形 9">
              <a:extLst>
                <a:ext uri="{FF2B5EF4-FFF2-40B4-BE49-F238E27FC236}">
                  <a16:creationId xmlns:a16="http://schemas.microsoft.com/office/drawing/2014/main" id="{33BF73FD-B28F-68B4-DC0C-99F88A585223}"/>
                </a:ext>
              </a:extLst>
            </p:cNvPr>
            <p:cNvGrpSpPr/>
            <p:nvPr/>
          </p:nvGrpSpPr>
          <p:grpSpPr>
            <a:xfrm>
              <a:off x="5038725" y="2890837"/>
              <a:ext cx="571500" cy="308781"/>
              <a:chOff x="5038725" y="2890837"/>
              <a:chExt cx="571500" cy="308781"/>
            </a:xfrm>
          </p:grpSpPr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D3A060F3-625B-23AB-E53A-F27BF3B3DDAC}"/>
                  </a:ext>
                </a:extLst>
              </p:cNvPr>
              <p:cNvSpPr/>
              <p:nvPr/>
            </p:nvSpPr>
            <p:spPr>
              <a:xfrm>
                <a:off x="5038725" y="2890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3A7648C6-44D6-DE82-9B83-E7ED91EEDB0F}"/>
                  </a:ext>
                </a:extLst>
              </p:cNvPr>
              <p:cNvSpPr txBox="1"/>
              <p:nvPr/>
            </p:nvSpPr>
            <p:spPr>
              <a:xfrm>
                <a:off x="5121804" y="2922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0.97</a:t>
                </a:r>
              </a:p>
            </p:txBody>
          </p:sp>
        </p:grpSp>
        <p:grpSp>
          <p:nvGrpSpPr>
            <p:cNvPr id="141" name="图形 9">
              <a:extLst>
                <a:ext uri="{FF2B5EF4-FFF2-40B4-BE49-F238E27FC236}">
                  <a16:creationId xmlns:a16="http://schemas.microsoft.com/office/drawing/2014/main" id="{79F241DB-DC0C-E7FC-4D39-E43396774FC5}"/>
                </a:ext>
              </a:extLst>
            </p:cNvPr>
            <p:cNvGrpSpPr/>
            <p:nvPr/>
          </p:nvGrpSpPr>
          <p:grpSpPr>
            <a:xfrm>
              <a:off x="5038725" y="3271837"/>
              <a:ext cx="571500" cy="308781"/>
              <a:chOff x="5038725" y="3271837"/>
              <a:chExt cx="571500" cy="308781"/>
            </a:xfrm>
          </p:grpSpPr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62B80010-33DE-03AA-188B-F9AFDE0CE981}"/>
                  </a:ext>
                </a:extLst>
              </p:cNvPr>
              <p:cNvSpPr/>
              <p:nvPr/>
            </p:nvSpPr>
            <p:spPr>
              <a:xfrm>
                <a:off x="5038725" y="3271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D463F6E6-30C0-17F5-FCA8-7388383FABF9}"/>
                  </a:ext>
                </a:extLst>
              </p:cNvPr>
              <p:cNvSpPr txBox="1"/>
              <p:nvPr/>
            </p:nvSpPr>
            <p:spPr>
              <a:xfrm>
                <a:off x="5121804" y="3303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0.69</a:t>
                </a:r>
              </a:p>
            </p:txBody>
          </p:sp>
        </p:grpSp>
        <p:grpSp>
          <p:nvGrpSpPr>
            <p:cNvPr id="144" name="图形 9">
              <a:extLst>
                <a:ext uri="{FF2B5EF4-FFF2-40B4-BE49-F238E27FC236}">
                  <a16:creationId xmlns:a16="http://schemas.microsoft.com/office/drawing/2014/main" id="{B8640DC6-43F7-0C63-3705-40ECD83EE367}"/>
                </a:ext>
              </a:extLst>
            </p:cNvPr>
            <p:cNvGrpSpPr/>
            <p:nvPr/>
          </p:nvGrpSpPr>
          <p:grpSpPr>
            <a:xfrm>
              <a:off x="5038725" y="3652837"/>
              <a:ext cx="571500" cy="308781"/>
              <a:chOff x="5038725" y="3652837"/>
              <a:chExt cx="571500" cy="308781"/>
            </a:xfrm>
          </p:grpSpPr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475334D9-8BF5-7DF0-2FFA-06B6D76F8E22}"/>
                  </a:ext>
                </a:extLst>
              </p:cNvPr>
              <p:cNvSpPr/>
              <p:nvPr/>
            </p:nvSpPr>
            <p:spPr>
              <a:xfrm>
                <a:off x="5038725" y="3652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AEE0DB02-F895-4465-7E56-15901640D9FB}"/>
                  </a:ext>
                </a:extLst>
              </p:cNvPr>
              <p:cNvSpPr txBox="1"/>
              <p:nvPr/>
            </p:nvSpPr>
            <p:spPr>
              <a:xfrm>
                <a:off x="5121804" y="3684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0.92</a:t>
                </a:r>
              </a:p>
            </p:txBody>
          </p:sp>
        </p:grpSp>
        <p:grpSp>
          <p:nvGrpSpPr>
            <p:cNvPr id="147" name="图形 9">
              <a:extLst>
                <a:ext uri="{FF2B5EF4-FFF2-40B4-BE49-F238E27FC236}">
                  <a16:creationId xmlns:a16="http://schemas.microsoft.com/office/drawing/2014/main" id="{8D4391A9-5976-4A22-0DD1-135D72EC1A39}"/>
                </a:ext>
              </a:extLst>
            </p:cNvPr>
            <p:cNvGrpSpPr/>
            <p:nvPr/>
          </p:nvGrpSpPr>
          <p:grpSpPr>
            <a:xfrm>
              <a:off x="5038725" y="4014787"/>
              <a:ext cx="571500" cy="308781"/>
              <a:chOff x="5038725" y="4014787"/>
              <a:chExt cx="571500" cy="308781"/>
            </a:xfrm>
          </p:grpSpPr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445DCE76-E694-D29C-FA84-A5A3B46F4A09}"/>
                  </a:ext>
                </a:extLst>
              </p:cNvPr>
              <p:cNvSpPr/>
              <p:nvPr/>
            </p:nvSpPr>
            <p:spPr>
              <a:xfrm>
                <a:off x="5038725" y="401478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B5B09D54-98F4-0CBB-40C9-3891027B9200}"/>
                  </a:ext>
                </a:extLst>
              </p:cNvPr>
              <p:cNvSpPr txBox="1"/>
              <p:nvPr/>
            </p:nvSpPr>
            <p:spPr>
              <a:xfrm>
                <a:off x="5121804" y="404656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0.90</a:t>
                </a:r>
              </a:p>
            </p:txBody>
          </p:sp>
        </p:grpSp>
        <p:grpSp>
          <p:nvGrpSpPr>
            <p:cNvPr id="150" name="图形 9">
              <a:extLst>
                <a:ext uri="{FF2B5EF4-FFF2-40B4-BE49-F238E27FC236}">
                  <a16:creationId xmlns:a16="http://schemas.microsoft.com/office/drawing/2014/main" id="{FE2D35BE-663F-3952-A0BF-32B0C3CD0911}"/>
                </a:ext>
              </a:extLst>
            </p:cNvPr>
            <p:cNvGrpSpPr/>
            <p:nvPr/>
          </p:nvGrpSpPr>
          <p:grpSpPr>
            <a:xfrm>
              <a:off x="5038725" y="4414837"/>
              <a:ext cx="571500" cy="308781"/>
              <a:chOff x="5038725" y="4414837"/>
              <a:chExt cx="571500" cy="308781"/>
            </a:xfrm>
          </p:grpSpPr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8DD48C74-5BCB-BDD7-74B5-52737D7E5E07}"/>
                  </a:ext>
                </a:extLst>
              </p:cNvPr>
              <p:cNvSpPr/>
              <p:nvPr/>
            </p:nvSpPr>
            <p:spPr>
              <a:xfrm>
                <a:off x="5038725" y="4414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37E15B18-AA48-ACDB-E0AD-E38314631C20}"/>
                  </a:ext>
                </a:extLst>
              </p:cNvPr>
              <p:cNvSpPr txBox="1"/>
              <p:nvPr/>
            </p:nvSpPr>
            <p:spPr>
              <a:xfrm>
                <a:off x="5121804" y="4446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0.87</a:t>
                </a:r>
              </a:p>
            </p:txBody>
          </p:sp>
        </p:grpSp>
        <p:grpSp>
          <p:nvGrpSpPr>
            <p:cNvPr id="153" name="图形 9">
              <a:extLst>
                <a:ext uri="{FF2B5EF4-FFF2-40B4-BE49-F238E27FC236}">
                  <a16:creationId xmlns:a16="http://schemas.microsoft.com/office/drawing/2014/main" id="{9D6C6711-550E-C0D9-FC6C-18C5E06C9E26}"/>
                </a:ext>
              </a:extLst>
            </p:cNvPr>
            <p:cNvGrpSpPr/>
            <p:nvPr/>
          </p:nvGrpSpPr>
          <p:grpSpPr>
            <a:xfrm>
              <a:off x="5038725" y="4795837"/>
              <a:ext cx="571500" cy="308781"/>
              <a:chOff x="5038725" y="4795837"/>
              <a:chExt cx="571500" cy="308781"/>
            </a:xfrm>
          </p:grpSpPr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37F1EDF7-9976-1771-9B84-7CE85CFA530A}"/>
                  </a:ext>
                </a:extLst>
              </p:cNvPr>
              <p:cNvSpPr/>
              <p:nvPr/>
            </p:nvSpPr>
            <p:spPr>
              <a:xfrm>
                <a:off x="5038725" y="4795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4B2F77CC-1FA1-557A-BFAD-2A7D158AE925}"/>
                  </a:ext>
                </a:extLst>
              </p:cNvPr>
              <p:cNvSpPr txBox="1"/>
              <p:nvPr/>
            </p:nvSpPr>
            <p:spPr>
              <a:xfrm>
                <a:off x="5121804" y="4827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0.64</a:t>
                </a:r>
              </a:p>
            </p:txBody>
          </p:sp>
        </p:grpSp>
        <p:grpSp>
          <p:nvGrpSpPr>
            <p:cNvPr id="156" name="图形 9">
              <a:extLst>
                <a:ext uri="{FF2B5EF4-FFF2-40B4-BE49-F238E27FC236}">
                  <a16:creationId xmlns:a16="http://schemas.microsoft.com/office/drawing/2014/main" id="{C1ACD435-9CB6-43CC-4C6C-CF248CFFEAD2}"/>
                </a:ext>
              </a:extLst>
            </p:cNvPr>
            <p:cNvGrpSpPr/>
            <p:nvPr/>
          </p:nvGrpSpPr>
          <p:grpSpPr>
            <a:xfrm>
              <a:off x="5038725" y="5176837"/>
              <a:ext cx="571500" cy="308781"/>
              <a:chOff x="5038725" y="5176837"/>
              <a:chExt cx="571500" cy="308781"/>
            </a:xfrm>
          </p:grpSpPr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9001C050-93C5-CB00-9189-A98E467E5B8E}"/>
                  </a:ext>
                </a:extLst>
              </p:cNvPr>
              <p:cNvSpPr/>
              <p:nvPr/>
            </p:nvSpPr>
            <p:spPr>
              <a:xfrm>
                <a:off x="5038725" y="5176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4B81DDA6-FCC4-1566-F6E3-7BCCF0FD40E4}"/>
                  </a:ext>
                </a:extLst>
              </p:cNvPr>
              <p:cNvSpPr txBox="1"/>
              <p:nvPr/>
            </p:nvSpPr>
            <p:spPr>
              <a:xfrm>
                <a:off x="5121804" y="5208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0.77</a:t>
                </a:r>
              </a:p>
            </p:txBody>
          </p:sp>
        </p:grpSp>
        <p:grpSp>
          <p:nvGrpSpPr>
            <p:cNvPr id="159" name="图形 9">
              <a:extLst>
                <a:ext uri="{FF2B5EF4-FFF2-40B4-BE49-F238E27FC236}">
                  <a16:creationId xmlns:a16="http://schemas.microsoft.com/office/drawing/2014/main" id="{C3B68B49-1803-4731-E40F-084939BA9915}"/>
                </a:ext>
              </a:extLst>
            </p:cNvPr>
            <p:cNvGrpSpPr/>
            <p:nvPr/>
          </p:nvGrpSpPr>
          <p:grpSpPr>
            <a:xfrm>
              <a:off x="8086725" y="1747837"/>
              <a:ext cx="571500" cy="308781"/>
              <a:chOff x="8086725" y="1747837"/>
              <a:chExt cx="571500" cy="308781"/>
            </a:xfrm>
          </p:grpSpPr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8068F0E7-1914-946A-CEEA-EA0D53A741A2}"/>
                  </a:ext>
                </a:extLst>
              </p:cNvPr>
              <p:cNvSpPr/>
              <p:nvPr/>
            </p:nvSpPr>
            <p:spPr>
              <a:xfrm>
                <a:off x="8086725" y="1747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8DF30895-FC34-1901-17FD-03283FF2FB14}"/>
                  </a:ext>
                </a:extLst>
              </p:cNvPr>
              <p:cNvSpPr txBox="1"/>
              <p:nvPr/>
            </p:nvSpPr>
            <p:spPr>
              <a:xfrm>
                <a:off x="8169804" y="1779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4.42</a:t>
                </a:r>
              </a:p>
            </p:txBody>
          </p:sp>
        </p:grpSp>
        <p:grpSp>
          <p:nvGrpSpPr>
            <p:cNvPr id="162" name="图形 9">
              <a:extLst>
                <a:ext uri="{FF2B5EF4-FFF2-40B4-BE49-F238E27FC236}">
                  <a16:creationId xmlns:a16="http://schemas.microsoft.com/office/drawing/2014/main" id="{B5A2A38B-EB43-5AA5-4C01-892C7A94D8BB}"/>
                </a:ext>
              </a:extLst>
            </p:cNvPr>
            <p:cNvGrpSpPr/>
            <p:nvPr/>
          </p:nvGrpSpPr>
          <p:grpSpPr>
            <a:xfrm>
              <a:off x="8086725" y="2128837"/>
              <a:ext cx="571500" cy="308781"/>
              <a:chOff x="8086725" y="2128837"/>
              <a:chExt cx="571500" cy="308781"/>
            </a:xfrm>
          </p:grpSpPr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7AF13096-7372-CF9F-CFF9-F47BB14AD98B}"/>
                  </a:ext>
                </a:extLst>
              </p:cNvPr>
              <p:cNvSpPr/>
              <p:nvPr/>
            </p:nvSpPr>
            <p:spPr>
              <a:xfrm>
                <a:off x="8086725" y="2128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45C13B36-5831-ED83-9A73-35C1B2482C7A}"/>
                  </a:ext>
                </a:extLst>
              </p:cNvPr>
              <p:cNvSpPr txBox="1"/>
              <p:nvPr/>
            </p:nvSpPr>
            <p:spPr>
              <a:xfrm>
                <a:off x="8169804" y="2160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0.91</a:t>
                </a:r>
              </a:p>
            </p:txBody>
          </p:sp>
        </p:grpSp>
        <p:grpSp>
          <p:nvGrpSpPr>
            <p:cNvPr id="165" name="图形 9">
              <a:extLst>
                <a:ext uri="{FF2B5EF4-FFF2-40B4-BE49-F238E27FC236}">
                  <a16:creationId xmlns:a16="http://schemas.microsoft.com/office/drawing/2014/main" id="{6669F456-66A1-B52D-31C6-FECF01BC7217}"/>
                </a:ext>
              </a:extLst>
            </p:cNvPr>
            <p:cNvGrpSpPr/>
            <p:nvPr/>
          </p:nvGrpSpPr>
          <p:grpSpPr>
            <a:xfrm>
              <a:off x="8086725" y="2509837"/>
              <a:ext cx="571500" cy="308781"/>
              <a:chOff x="8086725" y="2509837"/>
              <a:chExt cx="571500" cy="308781"/>
            </a:xfrm>
          </p:grpSpPr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A7B9566A-75B8-749C-02BE-FC998BD838DA}"/>
                  </a:ext>
                </a:extLst>
              </p:cNvPr>
              <p:cNvSpPr/>
              <p:nvPr/>
            </p:nvSpPr>
            <p:spPr>
              <a:xfrm>
                <a:off x="8086725" y="2509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39249482-146A-6EA2-6ABA-3A59D54F92AF}"/>
                  </a:ext>
                </a:extLst>
              </p:cNvPr>
              <p:cNvSpPr txBox="1"/>
              <p:nvPr/>
            </p:nvSpPr>
            <p:spPr>
              <a:xfrm>
                <a:off x="8169804" y="2541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0.77</a:t>
                </a:r>
              </a:p>
            </p:txBody>
          </p:sp>
        </p:grpSp>
        <p:grpSp>
          <p:nvGrpSpPr>
            <p:cNvPr id="168" name="图形 9">
              <a:extLst>
                <a:ext uri="{FF2B5EF4-FFF2-40B4-BE49-F238E27FC236}">
                  <a16:creationId xmlns:a16="http://schemas.microsoft.com/office/drawing/2014/main" id="{D707FD21-84BB-DC85-3596-50FC2BAE4DDC}"/>
                </a:ext>
              </a:extLst>
            </p:cNvPr>
            <p:cNvGrpSpPr/>
            <p:nvPr/>
          </p:nvGrpSpPr>
          <p:grpSpPr>
            <a:xfrm>
              <a:off x="8086725" y="2871787"/>
              <a:ext cx="571500" cy="308781"/>
              <a:chOff x="8086725" y="2871787"/>
              <a:chExt cx="571500" cy="308781"/>
            </a:xfrm>
          </p:grpSpPr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8A5431AC-DEC1-1B96-0196-1E1BF426DD3F}"/>
                  </a:ext>
                </a:extLst>
              </p:cNvPr>
              <p:cNvSpPr/>
              <p:nvPr/>
            </p:nvSpPr>
            <p:spPr>
              <a:xfrm>
                <a:off x="8086725" y="287178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2AA08847-6C5D-6337-9B28-D9858CBE35D1}"/>
                  </a:ext>
                </a:extLst>
              </p:cNvPr>
              <p:cNvSpPr txBox="1"/>
              <p:nvPr/>
            </p:nvSpPr>
            <p:spPr>
              <a:xfrm>
                <a:off x="8169804" y="290356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2.21</a:t>
                </a:r>
              </a:p>
            </p:txBody>
          </p:sp>
        </p:grpSp>
        <p:grpSp>
          <p:nvGrpSpPr>
            <p:cNvPr id="171" name="图形 9">
              <a:extLst>
                <a:ext uri="{FF2B5EF4-FFF2-40B4-BE49-F238E27FC236}">
                  <a16:creationId xmlns:a16="http://schemas.microsoft.com/office/drawing/2014/main" id="{022CEABD-0224-BF01-461B-C6308E25934D}"/>
                </a:ext>
              </a:extLst>
            </p:cNvPr>
            <p:cNvGrpSpPr/>
            <p:nvPr/>
          </p:nvGrpSpPr>
          <p:grpSpPr>
            <a:xfrm>
              <a:off x="8086725" y="3271837"/>
              <a:ext cx="571500" cy="308781"/>
              <a:chOff x="8086725" y="3271837"/>
              <a:chExt cx="571500" cy="308781"/>
            </a:xfrm>
          </p:grpSpPr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FCCDF01C-A148-738B-E1DF-28515DD59B20}"/>
                  </a:ext>
                </a:extLst>
              </p:cNvPr>
              <p:cNvSpPr/>
              <p:nvPr/>
            </p:nvSpPr>
            <p:spPr>
              <a:xfrm>
                <a:off x="8086725" y="3271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B659CE41-134A-5336-C58F-1EFA33A2AF3C}"/>
                  </a:ext>
                </a:extLst>
              </p:cNvPr>
              <p:cNvSpPr txBox="1"/>
              <p:nvPr/>
            </p:nvSpPr>
            <p:spPr>
              <a:xfrm>
                <a:off x="8169804" y="3303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0.87</a:t>
                </a:r>
              </a:p>
            </p:txBody>
          </p:sp>
        </p:grpSp>
        <p:grpSp>
          <p:nvGrpSpPr>
            <p:cNvPr id="174" name="图形 9">
              <a:extLst>
                <a:ext uri="{FF2B5EF4-FFF2-40B4-BE49-F238E27FC236}">
                  <a16:creationId xmlns:a16="http://schemas.microsoft.com/office/drawing/2014/main" id="{03301DD0-4040-47B3-E2A5-DAD86CAF29AA}"/>
                </a:ext>
              </a:extLst>
            </p:cNvPr>
            <p:cNvGrpSpPr/>
            <p:nvPr/>
          </p:nvGrpSpPr>
          <p:grpSpPr>
            <a:xfrm>
              <a:off x="8086725" y="3652837"/>
              <a:ext cx="571500" cy="308781"/>
              <a:chOff x="8086725" y="3652837"/>
              <a:chExt cx="571500" cy="308781"/>
            </a:xfrm>
          </p:grpSpPr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A9152E2E-D6FC-FC82-428E-3B0772899F7D}"/>
                  </a:ext>
                </a:extLst>
              </p:cNvPr>
              <p:cNvSpPr/>
              <p:nvPr/>
            </p:nvSpPr>
            <p:spPr>
              <a:xfrm>
                <a:off x="8086725" y="3652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F43E0D3B-A514-B737-D714-F8A53A171EEA}"/>
                  </a:ext>
                </a:extLst>
              </p:cNvPr>
              <p:cNvSpPr txBox="1"/>
              <p:nvPr/>
            </p:nvSpPr>
            <p:spPr>
              <a:xfrm>
                <a:off x="8169804" y="3684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2.44</a:t>
                </a:r>
              </a:p>
            </p:txBody>
          </p:sp>
        </p:grpSp>
        <p:grpSp>
          <p:nvGrpSpPr>
            <p:cNvPr id="177" name="图形 9">
              <a:extLst>
                <a:ext uri="{FF2B5EF4-FFF2-40B4-BE49-F238E27FC236}">
                  <a16:creationId xmlns:a16="http://schemas.microsoft.com/office/drawing/2014/main" id="{8D10912F-AF31-FC39-F989-ADE6BF215CCD}"/>
                </a:ext>
              </a:extLst>
            </p:cNvPr>
            <p:cNvGrpSpPr/>
            <p:nvPr/>
          </p:nvGrpSpPr>
          <p:grpSpPr>
            <a:xfrm>
              <a:off x="8086725" y="4033837"/>
              <a:ext cx="571500" cy="308781"/>
              <a:chOff x="8086725" y="4033837"/>
              <a:chExt cx="571500" cy="308781"/>
            </a:xfrm>
          </p:grpSpPr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30EF1243-99E0-98A6-8383-B3EDC413F66D}"/>
                  </a:ext>
                </a:extLst>
              </p:cNvPr>
              <p:cNvSpPr/>
              <p:nvPr/>
            </p:nvSpPr>
            <p:spPr>
              <a:xfrm>
                <a:off x="8086725" y="4033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9249424B-70D8-D0AC-0EB6-8F5F4FBBBF3D}"/>
                  </a:ext>
                </a:extLst>
              </p:cNvPr>
              <p:cNvSpPr txBox="1"/>
              <p:nvPr/>
            </p:nvSpPr>
            <p:spPr>
              <a:xfrm>
                <a:off x="8169804" y="4065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1.24</a:t>
                </a:r>
              </a:p>
            </p:txBody>
          </p:sp>
        </p:grpSp>
        <p:grpSp>
          <p:nvGrpSpPr>
            <p:cNvPr id="180" name="图形 9">
              <a:extLst>
                <a:ext uri="{FF2B5EF4-FFF2-40B4-BE49-F238E27FC236}">
                  <a16:creationId xmlns:a16="http://schemas.microsoft.com/office/drawing/2014/main" id="{91115E8D-962C-1576-3510-DA238DB22873}"/>
                </a:ext>
              </a:extLst>
            </p:cNvPr>
            <p:cNvGrpSpPr/>
            <p:nvPr/>
          </p:nvGrpSpPr>
          <p:grpSpPr>
            <a:xfrm>
              <a:off x="8086725" y="4414837"/>
              <a:ext cx="571500" cy="308781"/>
              <a:chOff x="8086725" y="4414837"/>
              <a:chExt cx="571500" cy="308781"/>
            </a:xfrm>
          </p:grpSpPr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C19F378A-1CB4-D8E7-0E04-B9B88AC0B121}"/>
                  </a:ext>
                </a:extLst>
              </p:cNvPr>
              <p:cNvSpPr/>
              <p:nvPr/>
            </p:nvSpPr>
            <p:spPr>
              <a:xfrm>
                <a:off x="8086725" y="4414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40F6C5A0-E7B5-9D2D-59DE-628806F4E0D8}"/>
                  </a:ext>
                </a:extLst>
              </p:cNvPr>
              <p:cNvSpPr txBox="1"/>
              <p:nvPr/>
            </p:nvSpPr>
            <p:spPr>
              <a:xfrm>
                <a:off x="8169804" y="4446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1.49</a:t>
                </a:r>
              </a:p>
            </p:txBody>
          </p:sp>
        </p:grpSp>
        <p:grpSp>
          <p:nvGrpSpPr>
            <p:cNvPr id="183" name="图形 9">
              <a:extLst>
                <a:ext uri="{FF2B5EF4-FFF2-40B4-BE49-F238E27FC236}">
                  <a16:creationId xmlns:a16="http://schemas.microsoft.com/office/drawing/2014/main" id="{492AAC0F-15BF-CEC3-88DA-BBAE4506A673}"/>
                </a:ext>
              </a:extLst>
            </p:cNvPr>
            <p:cNvGrpSpPr/>
            <p:nvPr/>
          </p:nvGrpSpPr>
          <p:grpSpPr>
            <a:xfrm>
              <a:off x="8086725" y="4795837"/>
              <a:ext cx="571500" cy="308781"/>
              <a:chOff x="8086725" y="4795837"/>
              <a:chExt cx="571500" cy="308781"/>
            </a:xfrm>
          </p:grpSpPr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28444A81-CD38-9277-F4EA-6B2CA9D26EEE}"/>
                  </a:ext>
                </a:extLst>
              </p:cNvPr>
              <p:cNvSpPr/>
              <p:nvPr/>
            </p:nvSpPr>
            <p:spPr>
              <a:xfrm>
                <a:off x="8086725" y="4795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94174EE8-8FA9-9DF3-4F4C-E44362375661}"/>
                  </a:ext>
                </a:extLst>
              </p:cNvPr>
              <p:cNvSpPr txBox="1"/>
              <p:nvPr/>
            </p:nvSpPr>
            <p:spPr>
              <a:xfrm>
                <a:off x="8169804" y="4827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1.94</a:t>
                </a:r>
              </a:p>
            </p:txBody>
          </p:sp>
        </p:grpSp>
        <p:grpSp>
          <p:nvGrpSpPr>
            <p:cNvPr id="186" name="图形 9">
              <a:extLst>
                <a:ext uri="{FF2B5EF4-FFF2-40B4-BE49-F238E27FC236}">
                  <a16:creationId xmlns:a16="http://schemas.microsoft.com/office/drawing/2014/main" id="{DCE252F8-FB8C-919A-2E76-43D45BB276E4}"/>
                </a:ext>
              </a:extLst>
            </p:cNvPr>
            <p:cNvGrpSpPr/>
            <p:nvPr/>
          </p:nvGrpSpPr>
          <p:grpSpPr>
            <a:xfrm>
              <a:off x="8086725" y="5176837"/>
              <a:ext cx="571500" cy="308781"/>
              <a:chOff x="8086725" y="5176837"/>
              <a:chExt cx="571500" cy="308781"/>
            </a:xfrm>
          </p:grpSpPr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CB9A1D6D-26D0-68FF-3622-511F6659148C}"/>
                  </a:ext>
                </a:extLst>
              </p:cNvPr>
              <p:cNvSpPr/>
              <p:nvPr/>
            </p:nvSpPr>
            <p:spPr>
              <a:xfrm>
                <a:off x="8086725" y="5176837"/>
                <a:ext cx="571500" cy="2857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</p:sp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4947A2E1-A352-61CD-BCB1-C37B966F7EE4}"/>
                  </a:ext>
                </a:extLst>
              </p:cNvPr>
              <p:cNvSpPr txBox="1"/>
              <p:nvPr/>
            </p:nvSpPr>
            <p:spPr>
              <a:xfrm>
                <a:off x="8169804" y="5208619"/>
                <a:ext cx="439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ln/>
                    <a:solidFill>
                      <a:srgbClr val="000000"/>
                    </a:solidFill>
                    <a:latin typeface="Helvetica"/>
                    <a:cs typeface="Helvetica"/>
                    <a:sym typeface="Helvetica"/>
                    <a:rtl val="0"/>
                  </a:rPr>
                  <a:t>1.01</a:t>
                </a:r>
              </a:p>
            </p:txBody>
          </p:sp>
        </p:grpSp>
      </p:grpSp>
      <p:sp>
        <p:nvSpPr>
          <p:cNvPr id="190" name="文本框 189">
            <a:extLst>
              <a:ext uri="{FF2B5EF4-FFF2-40B4-BE49-F238E27FC236}">
                <a16:creationId xmlns:a16="http://schemas.microsoft.com/office/drawing/2014/main" id="{FE31A13B-4411-B813-DE2C-DF3CE2366DFA}"/>
              </a:ext>
            </a:extLst>
          </p:cNvPr>
          <p:cNvSpPr txBox="1"/>
          <p:nvPr/>
        </p:nvSpPr>
        <p:spPr>
          <a:xfrm>
            <a:off x="556592" y="2838837"/>
            <a:ext cx="2568332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主频：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89MHz</a:t>
            </a:r>
          </a:p>
          <a:p>
            <a:pPr marL="285750" indent="-285750">
              <a:lnSpc>
                <a:spcPts val="216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加速比：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1.123</a:t>
            </a:r>
          </a:p>
          <a:p>
            <a:pPr marL="285750" indent="-285750">
              <a:lnSpc>
                <a:spcPts val="216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性能分：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3.052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4731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6" cstate="hqprint"/>
          <a:srcRect/>
          <a:stretch>
            <a:fillRect/>
          </a:stretch>
        </p:blipFill>
        <p:spPr>
          <a:xfrm>
            <a:off x="5597104" y="6047735"/>
            <a:ext cx="997792" cy="73599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pic>
        <p:nvPicPr>
          <p:cNvPr id="3" name="f3aa8b6e7d2799f47b3f81b13036da30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90292" y="1083476"/>
            <a:ext cx="7871460" cy="5183505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47E4F85A-E902-AAB7-06AF-08DEC3420C6E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44F90327-1D60-EDAE-A070-6FF4532C4B3D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639D3537-1148-6C7F-2E40-61CE58D3BEC1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7" name="TextBox 19">
            <a:extLst>
              <a:ext uri="{FF2B5EF4-FFF2-40B4-BE49-F238E27FC236}">
                <a16:creationId xmlns:a16="http://schemas.microsoft.com/office/drawing/2014/main" id="{443F9ADF-B6B4-EDC3-3A93-46065FCD2BDF}"/>
              </a:ext>
            </a:extLst>
          </p:cNvPr>
          <p:cNvSpPr txBox="1"/>
          <p:nvPr/>
        </p:nvSpPr>
        <p:spPr>
          <a:xfrm>
            <a:off x="1184702" y="226295"/>
            <a:ext cx="3483849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en-US" altLang="zh-CN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系统启动演示</a:t>
            </a:r>
            <a:endParaRPr lang="en-US" sz="24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梯形 7">
            <a:extLst>
              <a:ext uri="{FF2B5EF4-FFF2-40B4-BE49-F238E27FC236}">
                <a16:creationId xmlns:a16="http://schemas.microsoft.com/office/drawing/2014/main" id="{CA491A83-F30E-1C44-8AC4-05DCEE322E70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9" name="梯形 8">
            <a:extLst>
              <a:ext uri="{FF2B5EF4-FFF2-40B4-BE49-F238E27FC236}">
                <a16:creationId xmlns:a16="http://schemas.microsoft.com/office/drawing/2014/main" id="{70771E47-B14A-F9E1-F860-1D9FD94BF275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59055"/>
            <a:ext cx="12192000" cy="6858000"/>
          </a:xfrm>
          <a:prstGeom prst="rect">
            <a:avLst/>
          </a:prstGeom>
          <a:blipFill dpi="0" rotWithShape="1">
            <a:blip r:embed="rId3">
              <a:alphaModFix amt="36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3962230"/>
            <a:ext cx="12192000" cy="2895770"/>
          </a:xfrm>
          <a:custGeom>
            <a:avLst/>
            <a:gdLst>
              <a:gd name="connsiteX0" fmla="*/ 0 w 12192000"/>
              <a:gd name="connsiteY0" fmla="*/ 0 h 2895770"/>
              <a:gd name="connsiteX1" fmla="*/ 92106 w 12192000"/>
              <a:gd name="connsiteY1" fmla="*/ 0 h 2895770"/>
              <a:gd name="connsiteX2" fmla="*/ 6121359 w 12192000"/>
              <a:gd name="connsiteY2" fmla="*/ 1268066 h 2895770"/>
              <a:gd name="connsiteX3" fmla="*/ 12100658 w 12192000"/>
              <a:gd name="connsiteY3" fmla="*/ 0 h 2895770"/>
              <a:gd name="connsiteX4" fmla="*/ 12192000 w 12192000"/>
              <a:gd name="connsiteY4" fmla="*/ 0 h 2895770"/>
              <a:gd name="connsiteX5" fmla="*/ 12192000 w 12192000"/>
              <a:gd name="connsiteY5" fmla="*/ 2895770 h 2895770"/>
              <a:gd name="connsiteX6" fmla="*/ 0 w 12192000"/>
              <a:gd name="connsiteY6" fmla="*/ 2895770 h 289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895770">
                <a:moveTo>
                  <a:pt x="0" y="0"/>
                </a:moveTo>
                <a:lnTo>
                  <a:pt x="92106" y="0"/>
                </a:lnTo>
                <a:lnTo>
                  <a:pt x="6121359" y="1268066"/>
                </a:lnTo>
                <a:lnTo>
                  <a:pt x="12100658" y="0"/>
                </a:lnTo>
                <a:lnTo>
                  <a:pt x="12192000" y="0"/>
                </a:lnTo>
                <a:lnTo>
                  <a:pt x="12192000" y="2895770"/>
                </a:lnTo>
                <a:lnTo>
                  <a:pt x="0" y="2895770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Freeform: Shape 12"/>
          <p:cNvSpPr/>
          <p:nvPr/>
        </p:nvSpPr>
        <p:spPr>
          <a:xfrm>
            <a:off x="1272540" y="3641238"/>
            <a:ext cx="9659620" cy="1471166"/>
          </a:xfrm>
          <a:custGeom>
            <a:avLst/>
            <a:gdLst>
              <a:gd name="connsiteX0" fmla="*/ 0 w 11010900"/>
              <a:gd name="connsiteY0" fmla="*/ 25400 h 1435100"/>
              <a:gd name="connsiteX1" fmla="*/ 0 w 11010900"/>
              <a:gd name="connsiteY1" fmla="*/ 533400 h 1435100"/>
              <a:gd name="connsiteX2" fmla="*/ 5511800 w 11010900"/>
              <a:gd name="connsiteY2" fmla="*/ 1435100 h 1435100"/>
              <a:gd name="connsiteX3" fmla="*/ 11010900 w 11010900"/>
              <a:gd name="connsiteY3" fmla="*/ 533400 h 1435100"/>
              <a:gd name="connsiteX4" fmla="*/ 11010900 w 11010900"/>
              <a:gd name="connsiteY4" fmla="*/ 0 h 1435100"/>
              <a:gd name="connsiteX5" fmla="*/ 5499100 w 11010900"/>
              <a:gd name="connsiteY5" fmla="*/ 1282700 h 1435100"/>
              <a:gd name="connsiteX6" fmla="*/ 0 w 11010900"/>
              <a:gd name="connsiteY6" fmla="*/ 25400 h 1435100"/>
              <a:gd name="connsiteX0-1" fmla="*/ 0 w 11010900"/>
              <a:gd name="connsiteY0-2" fmla="*/ 25400 h 2373693"/>
              <a:gd name="connsiteX1-3" fmla="*/ 0 w 11010900"/>
              <a:gd name="connsiteY1-4" fmla="*/ 533400 h 2373693"/>
              <a:gd name="connsiteX2-5" fmla="*/ 5492549 w 11010900"/>
              <a:gd name="connsiteY2-6" fmla="*/ 2373693 h 2373693"/>
              <a:gd name="connsiteX3-7" fmla="*/ 11010900 w 11010900"/>
              <a:gd name="connsiteY3-8" fmla="*/ 533400 h 2373693"/>
              <a:gd name="connsiteX4-9" fmla="*/ 11010900 w 11010900"/>
              <a:gd name="connsiteY4-10" fmla="*/ 0 h 2373693"/>
              <a:gd name="connsiteX5-11" fmla="*/ 5499100 w 11010900"/>
              <a:gd name="connsiteY5-12" fmla="*/ 1282700 h 2373693"/>
              <a:gd name="connsiteX6-13" fmla="*/ 0 w 11010900"/>
              <a:gd name="connsiteY6-14" fmla="*/ 25400 h 2373693"/>
              <a:gd name="connsiteX0-15" fmla="*/ 0 w 11010900"/>
              <a:gd name="connsiteY0-16" fmla="*/ 25400 h 2373693"/>
              <a:gd name="connsiteX1-17" fmla="*/ 0 w 11010900"/>
              <a:gd name="connsiteY1-18" fmla="*/ 533400 h 2373693"/>
              <a:gd name="connsiteX2-19" fmla="*/ 5492549 w 11010900"/>
              <a:gd name="connsiteY2-20" fmla="*/ 2373693 h 2373693"/>
              <a:gd name="connsiteX3-21" fmla="*/ 11010900 w 11010900"/>
              <a:gd name="connsiteY3-22" fmla="*/ 533400 h 2373693"/>
              <a:gd name="connsiteX4-23" fmla="*/ 11010900 w 11010900"/>
              <a:gd name="connsiteY4-24" fmla="*/ 0 h 2373693"/>
              <a:gd name="connsiteX5-25" fmla="*/ 5518351 w 11010900"/>
              <a:gd name="connsiteY5-26" fmla="*/ 2234701 h 2373693"/>
              <a:gd name="connsiteX6-27" fmla="*/ 0 w 11010900"/>
              <a:gd name="connsiteY6-28" fmla="*/ 25400 h 2373693"/>
              <a:gd name="connsiteX0-29" fmla="*/ 0 w 11010900"/>
              <a:gd name="connsiteY0-30" fmla="*/ 25400 h 2373693"/>
              <a:gd name="connsiteX1-31" fmla="*/ 0 w 11010900"/>
              <a:gd name="connsiteY1-32" fmla="*/ 533400 h 2373693"/>
              <a:gd name="connsiteX2-33" fmla="*/ 5492549 w 11010900"/>
              <a:gd name="connsiteY2-34" fmla="*/ 2373693 h 2373693"/>
              <a:gd name="connsiteX3-35" fmla="*/ 11010900 w 11010900"/>
              <a:gd name="connsiteY3-36" fmla="*/ 533400 h 2373693"/>
              <a:gd name="connsiteX4-37" fmla="*/ 11010900 w 11010900"/>
              <a:gd name="connsiteY4-38" fmla="*/ 0 h 2373693"/>
              <a:gd name="connsiteX5-39" fmla="*/ 5500889 w 11010900"/>
              <a:gd name="connsiteY5-40" fmla="*/ 2230278 h 2373693"/>
              <a:gd name="connsiteX6-41" fmla="*/ 0 w 11010900"/>
              <a:gd name="connsiteY6-42" fmla="*/ 25400 h 2373693"/>
              <a:gd name="connsiteX0-43" fmla="*/ 0 w 11010900"/>
              <a:gd name="connsiteY0-44" fmla="*/ 25400 h 2336099"/>
              <a:gd name="connsiteX1-45" fmla="*/ 0 w 11010900"/>
              <a:gd name="connsiteY1-46" fmla="*/ 533400 h 2336099"/>
              <a:gd name="connsiteX2-47" fmla="*/ 5500486 w 11010900"/>
              <a:gd name="connsiteY2-48" fmla="*/ 2336099 h 2336099"/>
              <a:gd name="connsiteX3-49" fmla="*/ 11010900 w 11010900"/>
              <a:gd name="connsiteY3-50" fmla="*/ 533400 h 2336099"/>
              <a:gd name="connsiteX4-51" fmla="*/ 11010900 w 11010900"/>
              <a:gd name="connsiteY4-52" fmla="*/ 0 h 2336099"/>
              <a:gd name="connsiteX5-53" fmla="*/ 5500889 w 11010900"/>
              <a:gd name="connsiteY5-54" fmla="*/ 2230278 h 2336099"/>
              <a:gd name="connsiteX6-55" fmla="*/ 0 w 11010900"/>
              <a:gd name="connsiteY6-56" fmla="*/ 25400 h 23360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010900" h="2336099">
                <a:moveTo>
                  <a:pt x="0" y="25400"/>
                </a:moveTo>
                <a:lnTo>
                  <a:pt x="0" y="533400"/>
                </a:lnTo>
                <a:lnTo>
                  <a:pt x="5500486" y="2336099"/>
                </a:lnTo>
                <a:lnTo>
                  <a:pt x="11010900" y="533400"/>
                </a:lnTo>
                <a:lnTo>
                  <a:pt x="11010900" y="0"/>
                </a:lnTo>
                <a:lnTo>
                  <a:pt x="5500889" y="2230278"/>
                </a:lnTo>
                <a:lnTo>
                  <a:pt x="0" y="254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 Placeholder 27"/>
          <p:cNvSpPr txBox="1"/>
          <p:nvPr/>
        </p:nvSpPr>
        <p:spPr>
          <a:xfrm>
            <a:off x="3469317" y="6011198"/>
            <a:ext cx="5253367" cy="5690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hqprint"/>
          <a:stretch>
            <a:fillRect/>
          </a:stretch>
        </p:blipFill>
        <p:spPr>
          <a:xfrm>
            <a:off x="5316220" y="413754"/>
            <a:ext cx="1572260" cy="1607180"/>
          </a:xfrm>
          <a:prstGeom prst="rect">
            <a:avLst/>
          </a:prstGeom>
        </p:spPr>
      </p:pic>
      <p:sp>
        <p:nvSpPr>
          <p:cNvPr id="11" name="Title 25"/>
          <p:cNvSpPr txBox="1"/>
          <p:nvPr/>
        </p:nvSpPr>
        <p:spPr>
          <a:xfrm>
            <a:off x="838200" y="2525889"/>
            <a:ext cx="10515600" cy="180584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</a:defRPr>
            </a:lvl1pPr>
          </a:lstStyle>
          <a:p>
            <a:r>
              <a:rPr lang="zh-CN" altLang="en-US" sz="8800" b="1" dirty="0">
                <a:solidFill>
                  <a:schemeClr val="bg1"/>
                </a:solidFill>
              </a:rPr>
              <a:t>谢谢大家</a:t>
            </a:r>
          </a:p>
        </p:txBody>
      </p:sp>
      <p:sp>
        <p:nvSpPr>
          <p:cNvPr id="12" name="Text Placeholder 27"/>
          <p:cNvSpPr txBox="1"/>
          <p:nvPr/>
        </p:nvSpPr>
        <p:spPr>
          <a:xfrm>
            <a:off x="3469317" y="5641105"/>
            <a:ext cx="5253367" cy="5690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汇报人：王浩企，李捷，陆彤，王振名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D89A6-2D03-B2F7-122B-59268BFF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32300FC6-C3A9-C897-3E59-CA1E522FA2A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hqprint"/>
          <a:stretch>
            <a:fillRect/>
          </a:stretch>
        </p:blipFill>
        <p:spPr>
          <a:xfrm>
            <a:off x="9387205" y="271780"/>
            <a:ext cx="2622550" cy="485775"/>
          </a:xfrm>
          <a:prstGeom prst="rect">
            <a:avLst/>
          </a:prstGeom>
        </p:spPr>
      </p:pic>
      <p:grpSp>
        <p:nvGrpSpPr>
          <p:cNvPr id="15" name="Group 2">
            <a:extLst>
              <a:ext uri="{FF2B5EF4-FFF2-40B4-BE49-F238E27FC236}">
                <a16:creationId xmlns:a16="http://schemas.microsoft.com/office/drawing/2014/main" id="{99458CC9-04DE-6EC3-1F98-ECE1BC43DB89}"/>
              </a:ext>
            </a:extLst>
          </p:cNvPr>
          <p:cNvGrpSpPr/>
          <p:nvPr/>
        </p:nvGrpSpPr>
        <p:grpSpPr>
          <a:xfrm>
            <a:off x="375803" y="697375"/>
            <a:ext cx="8802274" cy="45719"/>
            <a:chOff x="0" y="-28575"/>
            <a:chExt cx="4256881" cy="41118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A8870C72-D8AB-7A34-8ED4-C6B056E35BDB}"/>
                </a:ext>
              </a:extLst>
            </p:cNvPr>
            <p:cNvSpPr/>
            <p:nvPr/>
          </p:nvSpPr>
          <p:spPr>
            <a:xfrm>
              <a:off x="0" y="0"/>
              <a:ext cx="4256881" cy="12543"/>
            </a:xfrm>
            <a:custGeom>
              <a:avLst/>
              <a:gdLst/>
              <a:ahLst/>
              <a:cxnLst/>
              <a:rect l="l" t="t" r="r" b="b"/>
              <a:pathLst>
                <a:path w="4256881" h="12543">
                  <a:moveTo>
                    <a:pt x="0" y="0"/>
                  </a:moveTo>
                  <a:lnTo>
                    <a:pt x="4256881" y="0"/>
                  </a:lnTo>
                  <a:lnTo>
                    <a:pt x="4256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76A9A"/>
            </a:solidFill>
          </p:spPr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0424162C-F2F9-7BC2-7804-01129D04B0E9}"/>
                </a:ext>
              </a:extLst>
            </p:cNvPr>
            <p:cNvSpPr txBox="1"/>
            <p:nvPr/>
          </p:nvSpPr>
          <p:spPr>
            <a:xfrm>
              <a:off x="0" y="-28575"/>
              <a:ext cx="4256881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27" name="TextBox 19">
            <a:extLst>
              <a:ext uri="{FF2B5EF4-FFF2-40B4-BE49-F238E27FC236}">
                <a16:creationId xmlns:a16="http://schemas.microsoft.com/office/drawing/2014/main" id="{88DDD3F9-9F04-2FDC-0B16-3EDC96A4F528}"/>
              </a:ext>
            </a:extLst>
          </p:cNvPr>
          <p:cNvSpPr txBox="1"/>
          <p:nvPr/>
        </p:nvSpPr>
        <p:spPr>
          <a:xfrm>
            <a:off x="1071113" y="219568"/>
            <a:ext cx="2071888" cy="34589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en-US" altLang="zh-CN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</a:t>
            </a:r>
            <a:r>
              <a:rPr lang="zh-CN" altLang="en-US" sz="2400" dirty="0">
                <a:solidFill>
                  <a:srgbClr val="276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队列</a:t>
            </a:r>
            <a:endParaRPr lang="en-US" sz="2400" dirty="0">
              <a:solidFill>
                <a:srgbClr val="276A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梯形 45">
            <a:extLst>
              <a:ext uri="{FF2B5EF4-FFF2-40B4-BE49-F238E27FC236}">
                <a16:creationId xmlns:a16="http://schemas.microsoft.com/office/drawing/2014/main" id="{D15472D7-790D-10C2-24DC-233DD95AC0F3}"/>
              </a:ext>
            </a:extLst>
          </p:cNvPr>
          <p:cNvSpPr/>
          <p:nvPr/>
        </p:nvSpPr>
        <p:spPr>
          <a:xfrm>
            <a:off x="491103" y="299758"/>
            <a:ext cx="1026067" cy="44215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/>
          </a:p>
        </p:txBody>
      </p:sp>
      <p:sp>
        <p:nvSpPr>
          <p:cNvPr id="51" name="梯形 50">
            <a:extLst>
              <a:ext uri="{FF2B5EF4-FFF2-40B4-BE49-F238E27FC236}">
                <a16:creationId xmlns:a16="http://schemas.microsoft.com/office/drawing/2014/main" id="{C4180FE9-C645-85A8-BFB6-045F67087B21}"/>
              </a:ext>
            </a:extLst>
          </p:cNvPr>
          <p:cNvSpPr/>
          <p:nvPr/>
        </p:nvSpPr>
        <p:spPr>
          <a:xfrm flipV="1">
            <a:off x="277743" y="289278"/>
            <a:ext cx="906960" cy="448541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2000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45149472-0938-53B9-0EC6-CDA44F42BDBE}"/>
              </a:ext>
            </a:extLst>
          </p:cNvPr>
          <p:cNvGrpSpPr/>
          <p:nvPr/>
        </p:nvGrpSpPr>
        <p:grpSpPr>
          <a:xfrm>
            <a:off x="911214" y="1773278"/>
            <a:ext cx="2795236" cy="2909610"/>
            <a:chOff x="13975223" y="827071"/>
            <a:chExt cx="3272274" cy="3892431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9CBF01EF-3402-A3D3-E4E8-F72661BD2E3D}"/>
                </a:ext>
              </a:extLst>
            </p:cNvPr>
            <p:cNvSpPr/>
            <p:nvPr/>
          </p:nvSpPr>
          <p:spPr>
            <a:xfrm>
              <a:off x="13975223" y="827071"/>
              <a:ext cx="3272274" cy="3892431"/>
            </a:xfrm>
            <a:prstGeom prst="rect">
              <a:avLst/>
            </a:prstGeom>
            <a:solidFill>
              <a:srgbClr val="5C7885">
                <a:lumMod val="20000"/>
                <a:lumOff val="80000"/>
              </a:srgbClr>
            </a:solidFill>
            <a:ln w="38100">
              <a:noFill/>
              <a:prstDash val="dash"/>
            </a:ln>
          </p:spPr>
          <p:style>
            <a:lnRef idx="2">
              <a:srgbClr val="2B4663">
                <a:shade val="50000"/>
              </a:srgbClr>
            </a:lnRef>
            <a:fillRef idx="1">
              <a:srgbClr val="2B4663"/>
            </a:fillRef>
            <a:effectRef idx="0">
              <a:srgbClr val="2B4663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endParaRPr lang="zh-CN" altLang="en-US" sz="960">
                <a:solidFill>
                  <a:prstClr val="white"/>
                </a:solidFill>
                <a:ea typeface="等线" panose="02010600030101010101" charset="-122"/>
              </a:endParaRPr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C18408E2-0FEB-E96D-3103-AA45F5EC1F3D}"/>
                </a:ext>
              </a:extLst>
            </p:cNvPr>
            <p:cNvGrpSpPr/>
            <p:nvPr/>
          </p:nvGrpSpPr>
          <p:grpSpPr>
            <a:xfrm>
              <a:off x="14249366" y="1204126"/>
              <a:ext cx="2712535" cy="1370638"/>
              <a:chOff x="2774884" y="3668301"/>
              <a:chExt cx="2449442" cy="2312234"/>
            </a:xfrm>
          </p:grpSpPr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EFB30E52-BA73-9909-27BA-D7050F29A08B}"/>
                  </a:ext>
                </a:extLst>
              </p:cNvPr>
              <p:cNvSpPr/>
              <p:nvPr/>
            </p:nvSpPr>
            <p:spPr>
              <a:xfrm>
                <a:off x="2774884" y="3668301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D8F165F7-E2E2-3620-1F9D-D3776AC9A87D}"/>
                  </a:ext>
                </a:extLst>
              </p:cNvPr>
              <p:cNvSpPr/>
              <p:nvPr/>
            </p:nvSpPr>
            <p:spPr>
              <a:xfrm>
                <a:off x="2774884" y="3963764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D0EA26C1-73EF-83F0-A3F1-8724640FE852}"/>
                  </a:ext>
                </a:extLst>
              </p:cNvPr>
              <p:cNvSpPr/>
              <p:nvPr/>
            </p:nvSpPr>
            <p:spPr>
              <a:xfrm>
                <a:off x="2774884" y="4259226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27585224-17D8-84F8-519C-6E3074CF0BE6}"/>
                  </a:ext>
                </a:extLst>
              </p:cNvPr>
              <p:cNvSpPr/>
              <p:nvPr/>
            </p:nvSpPr>
            <p:spPr>
              <a:xfrm>
                <a:off x="2774884" y="4554689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9906F025-297A-0BB6-E466-ED98886A815F}"/>
                  </a:ext>
                </a:extLst>
              </p:cNvPr>
              <p:cNvSpPr/>
              <p:nvPr/>
            </p:nvSpPr>
            <p:spPr>
              <a:xfrm>
                <a:off x="2774884" y="4850152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3C1A92D1-D27E-2567-703C-667286144C27}"/>
                  </a:ext>
                </a:extLst>
              </p:cNvPr>
              <p:cNvSpPr/>
              <p:nvPr/>
            </p:nvSpPr>
            <p:spPr>
              <a:xfrm>
                <a:off x="2774884" y="5145614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4C86565B-E1D4-CAB8-B4F4-5140B6766DCD}"/>
                  </a:ext>
                </a:extLst>
              </p:cNvPr>
              <p:cNvSpPr/>
              <p:nvPr/>
            </p:nvSpPr>
            <p:spPr>
              <a:xfrm>
                <a:off x="2774884" y="5441077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8002B3F5-D944-D2C7-68E8-A6DAE380DBA1}"/>
                  </a:ext>
                </a:extLst>
              </p:cNvPr>
              <p:cNvSpPr/>
              <p:nvPr/>
            </p:nvSpPr>
            <p:spPr>
              <a:xfrm>
                <a:off x="2774884" y="5736540"/>
                <a:ext cx="2449442" cy="243995"/>
              </a:xfrm>
              <a:prstGeom prst="rect">
                <a:avLst/>
              </a:prstGeom>
              <a:solidFill>
                <a:srgbClr val="657E9A"/>
              </a:solidFill>
              <a:ln>
                <a:noFill/>
              </a:ln>
            </p:spPr>
            <p:style>
              <a:lnRef idx="2">
                <a:srgbClr val="2B4663">
                  <a:shade val="50000"/>
                </a:srgbClr>
              </a:lnRef>
              <a:fillRef idx="1">
                <a:srgbClr val="2B4663"/>
              </a:fillRef>
              <a:effectRef idx="0">
                <a:srgbClr val="2B4663"/>
              </a:effectRef>
              <a:fontRef idx="minor">
                <a:srgbClr val="FFFFFF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 defTabSz="487650">
                  <a:defRPr/>
                </a:pPr>
                <a:endParaRPr lang="zh-CN" altLang="en-US" sz="427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EE31A7D0-299E-E068-49F4-C4848EBABB6F}"/>
                </a:ext>
              </a:extLst>
            </p:cNvPr>
            <p:cNvSpPr txBox="1"/>
            <p:nvPr/>
          </p:nvSpPr>
          <p:spPr>
            <a:xfrm>
              <a:off x="14213431" y="1204126"/>
              <a:ext cx="2846150" cy="7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 defTabSz="487650">
                <a:defRPr/>
              </a:pPr>
              <a:r>
                <a:rPr lang="en-US" altLang="zh-CN" sz="1493" b="1" i="1" dirty="0">
                  <a:solidFill>
                    <a:schemeClr val="tx2">
                      <a:lumMod val="50000"/>
                    </a:schemeClr>
                  </a:solidFill>
                  <a:highlight>
                    <a:srgbClr val="EAEEF2"/>
                  </a:highlight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8</a:t>
              </a:r>
              <a:r>
                <a:rPr lang="zh-CN" altLang="en-US" sz="1493" b="1" i="1" dirty="0">
                  <a:solidFill>
                    <a:schemeClr val="tx2">
                      <a:lumMod val="50000"/>
                    </a:schemeClr>
                  </a:solidFill>
                  <a:highlight>
                    <a:srgbClr val="EAEEF2"/>
                  </a:highlight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项</a:t>
              </a:r>
              <a:br>
                <a:rPr lang="en-US" altLang="zh-CN" sz="1493" b="1" i="1" dirty="0">
                  <a:solidFill>
                    <a:schemeClr val="tx2">
                      <a:lumMod val="50000"/>
                    </a:schemeClr>
                  </a:solidFill>
                  <a:highlight>
                    <a:srgbClr val="EAEEF2"/>
                  </a:highlight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</a:br>
              <a:r>
                <a:rPr lang="en-US" altLang="zh-CN" sz="1493" b="1" i="1" dirty="0">
                  <a:solidFill>
                    <a:schemeClr val="tx2">
                      <a:lumMod val="50000"/>
                    </a:schemeClr>
                  </a:solidFill>
                  <a:highlight>
                    <a:srgbClr val="EAEEF2"/>
                  </a:highlight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IF memory FIFO</a:t>
              </a:r>
              <a:endParaRPr lang="zh-CN" altLang="en-US" sz="1493" b="1" i="1" dirty="0">
                <a:solidFill>
                  <a:schemeClr val="tx2">
                    <a:lumMod val="50000"/>
                  </a:schemeClr>
                </a:solidFill>
                <a:highlight>
                  <a:srgbClr val="EAEEF2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B3E40355-9274-6FF4-1E80-B00CEC534AEB}"/>
                </a:ext>
              </a:extLst>
            </p:cNvPr>
            <p:cNvGrpSpPr/>
            <p:nvPr/>
          </p:nvGrpSpPr>
          <p:grpSpPr>
            <a:xfrm>
              <a:off x="14182559" y="3002330"/>
              <a:ext cx="2877023" cy="1564651"/>
              <a:chOff x="15305191" y="5136300"/>
              <a:chExt cx="2810552" cy="1760637"/>
            </a:xfrm>
          </p:grpSpPr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1DD4D560-248D-4046-C9A7-14259DA1792C}"/>
                  </a:ext>
                </a:extLst>
              </p:cNvPr>
              <p:cNvGrpSpPr/>
              <p:nvPr/>
            </p:nvGrpSpPr>
            <p:grpSpPr>
              <a:xfrm>
                <a:off x="15343521" y="5136300"/>
                <a:ext cx="2772222" cy="1760637"/>
                <a:chOff x="2774884" y="3668301"/>
                <a:chExt cx="2449442" cy="2312234"/>
              </a:xfrm>
            </p:grpSpPr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0477A27C-495C-9E66-8EC4-5A1F07C48A18}"/>
                    </a:ext>
                  </a:extLst>
                </p:cNvPr>
                <p:cNvSpPr/>
                <p:nvPr/>
              </p:nvSpPr>
              <p:spPr>
                <a:xfrm>
                  <a:off x="2774884" y="3668301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1F2E7957-ACA6-54A4-D389-252829556C2A}"/>
                    </a:ext>
                  </a:extLst>
                </p:cNvPr>
                <p:cNvSpPr/>
                <p:nvPr/>
              </p:nvSpPr>
              <p:spPr>
                <a:xfrm>
                  <a:off x="2774884" y="3963764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986DE164-534A-284E-F24B-D3FCCDD0AE4D}"/>
                    </a:ext>
                  </a:extLst>
                </p:cNvPr>
                <p:cNvSpPr/>
                <p:nvPr/>
              </p:nvSpPr>
              <p:spPr>
                <a:xfrm>
                  <a:off x="2774884" y="4259226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07B6B0C9-4376-E0DB-5B7E-AC118CC3C4BC}"/>
                    </a:ext>
                  </a:extLst>
                </p:cNvPr>
                <p:cNvSpPr/>
                <p:nvPr/>
              </p:nvSpPr>
              <p:spPr>
                <a:xfrm>
                  <a:off x="2774884" y="4554689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50B466D4-A140-2EAD-9011-9AB40DE29FAE}"/>
                    </a:ext>
                  </a:extLst>
                </p:cNvPr>
                <p:cNvSpPr/>
                <p:nvPr/>
              </p:nvSpPr>
              <p:spPr>
                <a:xfrm>
                  <a:off x="2774884" y="4850152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8F1B9A4B-FA25-1322-C7FB-BD6981C34487}"/>
                    </a:ext>
                  </a:extLst>
                </p:cNvPr>
                <p:cNvSpPr/>
                <p:nvPr/>
              </p:nvSpPr>
              <p:spPr>
                <a:xfrm>
                  <a:off x="2774884" y="5145614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6ED809B2-9B2D-803E-A27C-A3B98301F6E2}"/>
                    </a:ext>
                  </a:extLst>
                </p:cNvPr>
                <p:cNvSpPr/>
                <p:nvPr/>
              </p:nvSpPr>
              <p:spPr>
                <a:xfrm>
                  <a:off x="2774884" y="5441077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FAA105C9-1100-CD3D-C2F1-652FBC2D11D8}"/>
                    </a:ext>
                  </a:extLst>
                </p:cNvPr>
                <p:cNvSpPr/>
                <p:nvPr/>
              </p:nvSpPr>
              <p:spPr>
                <a:xfrm>
                  <a:off x="2774884" y="5736540"/>
                  <a:ext cx="2449442" cy="243995"/>
                </a:xfrm>
                <a:prstGeom prst="rect">
                  <a:avLst/>
                </a:prstGeom>
                <a:solidFill>
                  <a:srgbClr val="657E9A"/>
                </a:solidFill>
                <a:ln>
                  <a:noFill/>
                </a:ln>
              </p:spPr>
              <p:style>
                <a:lnRef idx="2">
                  <a:srgbClr val="2B4663">
                    <a:shade val="50000"/>
                  </a:srgbClr>
                </a:lnRef>
                <a:fillRef idx="1">
                  <a:srgbClr val="2B4663"/>
                </a:fillRef>
                <a:effectRef idx="0">
                  <a:srgbClr val="2B4663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等线" panose="02010600030101010101" charset="-122"/>
                      <a:ea typeface="+mn-ea"/>
                      <a:cs typeface="+mn-ea"/>
                    </a:defRPr>
                  </a:lvl9pPr>
                </a:lstStyle>
                <a:p>
                  <a:pPr algn="ctr" defTabSz="487650">
                    <a:defRPr/>
                  </a:pPr>
                  <a:endParaRPr lang="zh-CN" altLang="en-US" sz="427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85C69DF-18A6-82D2-3F68-A5363445A135}"/>
                  </a:ext>
                </a:extLst>
              </p:cNvPr>
              <p:cNvSpPr txBox="1"/>
              <p:nvPr/>
            </p:nvSpPr>
            <p:spPr>
              <a:xfrm>
                <a:off x="15305191" y="5167980"/>
                <a:ext cx="2780391" cy="830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2400" b="1" i="1" u="none" strike="noStrike" cap="none" spc="0" normalizeH="0" baseline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highlight>
                      <a:srgbClr val="EAEEF2"/>
                    </a:highlight>
                    <a:uLnTx/>
                    <a:uFillTx/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defRPr>
                </a:lvl1pPr>
                <a:lvl2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2pPr>
                <a:lvl3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3pPr>
                <a:lvl4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4pPr>
                <a:lvl5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5pPr>
                <a:lvl6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6pPr>
                <a:lvl7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7pPr>
                <a:lvl8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8pPr>
                <a:lvl9pPr>
                  <a:defRPr>
                    <a:solidFill>
                      <a:srgbClr val="000000"/>
                    </a:solidFill>
                    <a:latin typeface="等线" panose="02010600030101010101" charset="-122"/>
                    <a:cs typeface="+mn-ea"/>
                  </a:defRPr>
                </a:lvl9pPr>
              </a:lstStyle>
              <a:p>
                <a:r>
                  <a:rPr lang="en-US" altLang="zh-CN" sz="1493" dirty="0"/>
                  <a:t>8</a:t>
                </a:r>
                <a:r>
                  <a:rPr lang="zh-CN" altLang="en-US" sz="1493" dirty="0"/>
                  <a:t>项</a:t>
                </a:r>
                <a:br>
                  <a:rPr lang="en-US" altLang="zh-CN" sz="1493" dirty="0"/>
                </a:br>
                <a:r>
                  <a:rPr lang="en-US" altLang="zh-CN" sz="1493" dirty="0"/>
                  <a:t>IFQ</a:t>
                </a:r>
                <a:endParaRPr lang="zh-CN" altLang="en-US" sz="1493" dirty="0"/>
              </a:p>
            </p:txBody>
          </p:sp>
        </p:grpSp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8AF86961-8796-41F2-5FC0-DC785632B204}"/>
              </a:ext>
            </a:extLst>
          </p:cNvPr>
          <p:cNvSpPr txBox="1"/>
          <p:nvPr/>
        </p:nvSpPr>
        <p:spPr>
          <a:xfrm>
            <a:off x="4680249" y="1828613"/>
            <a:ext cx="4634136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IFQ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是八项有序取指完成队列，每项保存：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与预测的下一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predicted taken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和预测历史位；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指令字；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ready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ADEF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TLBR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PIF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坏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8A329569-320B-EA11-1D3B-5F3001CBA0CA}"/>
              </a:ext>
            </a:extLst>
          </p:cNvPr>
          <p:cNvSpPr txBox="1"/>
          <p:nvPr/>
        </p:nvSpPr>
        <p:spPr>
          <a:xfrm>
            <a:off x="1145392" y="5029387"/>
            <a:ext cx="97456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正常请求在地址握手时分配一个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not-ready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项；取指异常分配一个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ready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每个真正发出的取指请求还会在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memory FIFO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中保存：对应的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IFQ slot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以及 发出时的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epoch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data_ok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到来时只弹出最老请求，并把数据写入记录的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IFQ slot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530187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NjMjFlYzQxZDdjNGNhZmI1OTFiZWE2ZTBkY2RmMD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55*171"/>
  <p:tag name="TABLE_ENDDRAG_RECT" val="32*29*655*17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2439</TotalTime>
  <Words>3737</Words>
  <Application>Microsoft Office PowerPoint</Application>
  <PresentationFormat>宽屏</PresentationFormat>
  <Paragraphs>426</Paragraphs>
  <Slides>15</Slides>
  <Notes>13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等线 Light</vt:lpstr>
      <vt:lpstr>微软雅黑</vt:lpstr>
      <vt:lpstr>Arial</vt:lpstr>
      <vt:lpstr>Cambria Math</vt:lpstr>
      <vt:lpstr>Helvetica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jinchi fu</dc:creator>
  <cp:lastModifiedBy>浩企 王</cp:lastModifiedBy>
  <cp:revision>67</cp:revision>
  <dcterms:created xsi:type="dcterms:W3CDTF">2025-04-18T08:08:00Z</dcterms:created>
  <dcterms:modified xsi:type="dcterms:W3CDTF">2026-08-23T05:02:08Z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1542AF551E9D41DFA3545D6F71B8B18F_12</vt:lpwstr>
  </property>
  <property fmtid="{D5CDD505-2E9C-101B-9397-08002B2CF9AE}" pid="3" name="KSOProductBuildVer">
    <vt:lpwstr>2052-12.1.0.24034</vt:lpwstr>
  </property>
</Properties>
</file>